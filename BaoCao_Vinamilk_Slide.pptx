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2" r:id="rId7"/>
    <p:sldId id="273" r:id="rId8"/>
    <p:sldId id="274" r:id="rId9"/>
    <p:sldId id="263" r:id="rId10"/>
    <p:sldId id="276" r:id="rId11"/>
    <p:sldId id="281" r:id="rId12"/>
    <p:sldId id="265" r:id="rId13"/>
    <p:sldId id="277" r:id="rId14"/>
    <p:sldId id="278" r:id="rId15"/>
    <p:sldId id="280" r:id="rId16"/>
    <p:sldId id="279" r:id="rId17"/>
    <p:sldId id="266" r:id="rId18"/>
    <p:sldId id="267" r:id="rId19"/>
    <p:sldId id="268" r:id="rId20"/>
    <p:sldId id="269" r:id="rId21"/>
    <p:sldId id="271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0" d="100"/>
          <a:sy n="60" d="100"/>
        </p:scale>
        <p:origin x="78" y="12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000000"/>
                </a:solidFill>
                <a:latin typeface="Arial"/>
              </a:rPr>
              <a:t>Chi phí trung bình (nghìn VNĐ)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Chi phí trung bình (nghìn VNĐ)</c:v>
                </c:pt>
              </c:strCache>
            </c:strRef>
          </c:tx>
          <c:spPr>
            <a:solidFill>
              <a:srgbClr val="3A8DC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Khám sức khỏe
(VNĐ/người)</c:v>
                </c:pt>
                <c:pt idx="1">
                  <c:v>Sữa Học Đường
(VNĐ/chuyến)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380</c:v>
                </c:pt>
                <c:pt idx="1">
                  <c:v>1310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A88-451A-8255-8D30FE71190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000000"/>
                </a:solidFill>
                <a:latin typeface="Arial"/>
              </a:rPr>
              <a:t>Thời gian chu kỳ trung bình (phút)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Thời gian chu kỳ trung bình</c:v>
                </c:pt>
              </c:strCache>
            </c:strRef>
          </c:tx>
          <c:spPr>
            <a:solidFill>
              <a:srgbClr val="F2A90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Khám sức khỏe
(phút/người)</c:v>
                </c:pt>
                <c:pt idx="1">
                  <c:v>Sữa Học Đường
(phút/chuyến)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54.5</c:v>
                </c:pt>
                <c:pt idx="1">
                  <c:v>282.89999999999998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87E-401D-BC64-915FF40BED3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73790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F7F83-00E2-5A0D-35CC-2AA7F7203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2F1636-E6A5-9514-399F-A205D1D935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D21639-35BC-916E-4311-84CEEA45F0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437CA4-20B8-AD2E-C3E6-343834F13D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2575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9B43C-A307-FF54-1E30-3823F03DF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49626B-7FB0-65A3-90C7-C1C8A50808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117177-1AC5-187A-9356-8993350C95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80C7F6-D46D-2239-A66E-2B05353360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3925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D8669-A052-7457-4B02-07F8645A9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8D1D5A-B688-2AD5-2759-C5660CA4C2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3B7E51-BDBC-4DEB-B7E5-D64CF5F406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A41260-8757-FD08-7486-FFC7A4DBF9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0011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673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27A8A-1496-051F-2FFF-F42B1A73F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2EACFE-2E69-AB0C-56E5-315A630B75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7FE046-27B0-FE6E-39CC-6FE1D67457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6D2D96-8146-2A6C-DC62-BDDC4271DD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357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D17F1-F056-364F-261D-09E069E82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4318C4-75A5-1F04-1BF2-1E6034ED11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FF9EB7-48F1-FE32-42A3-99D2FBD006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091B6F-5DE1-C2F7-F73F-2300B9B8B9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5315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79BA8-51E3-E330-ED99-A71EE53E8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080989-8141-C7E3-194B-6591CDC546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D17EC6-8950-F344-D924-0B8BA4F16C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554F62-916B-05A7-950C-F885ADC3FD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1112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18" Type="http://schemas.openxmlformats.org/officeDocument/2006/relationships/image" Target="../media/image2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17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19" Type="http://schemas.openxmlformats.org/officeDocument/2006/relationships/image" Target="../media/image24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18" Type="http://schemas.openxmlformats.org/officeDocument/2006/relationships/image" Target="../media/image40.png"/><Relationship Id="rId26" Type="http://schemas.openxmlformats.org/officeDocument/2006/relationships/image" Target="../media/image48.png"/><Relationship Id="rId3" Type="http://schemas.openxmlformats.org/officeDocument/2006/relationships/image" Target="../media/image25.png"/><Relationship Id="rId21" Type="http://schemas.openxmlformats.org/officeDocument/2006/relationships/image" Target="../media/image43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17" Type="http://schemas.openxmlformats.org/officeDocument/2006/relationships/image" Target="../media/image39.png"/><Relationship Id="rId25" Type="http://schemas.openxmlformats.org/officeDocument/2006/relationships/image" Target="../media/image47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38.png"/><Relationship Id="rId20" Type="http://schemas.openxmlformats.org/officeDocument/2006/relationships/image" Target="../media/image42.png"/><Relationship Id="rId29" Type="http://schemas.openxmlformats.org/officeDocument/2006/relationships/image" Target="../media/image5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24" Type="http://schemas.openxmlformats.org/officeDocument/2006/relationships/image" Target="../media/image46.png"/><Relationship Id="rId5" Type="http://schemas.openxmlformats.org/officeDocument/2006/relationships/image" Target="../media/image27.png"/><Relationship Id="rId15" Type="http://schemas.openxmlformats.org/officeDocument/2006/relationships/image" Target="../media/image37.png"/><Relationship Id="rId23" Type="http://schemas.openxmlformats.org/officeDocument/2006/relationships/image" Target="../media/image45.png"/><Relationship Id="rId28" Type="http://schemas.openxmlformats.org/officeDocument/2006/relationships/image" Target="../media/image50.png"/><Relationship Id="rId10" Type="http://schemas.openxmlformats.org/officeDocument/2006/relationships/image" Target="../media/image32.png"/><Relationship Id="rId19" Type="http://schemas.openxmlformats.org/officeDocument/2006/relationships/image" Target="../media/image41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14" Type="http://schemas.openxmlformats.org/officeDocument/2006/relationships/image" Target="../media/image36.png"/><Relationship Id="rId22" Type="http://schemas.openxmlformats.org/officeDocument/2006/relationships/image" Target="../media/image44.png"/><Relationship Id="rId27" Type="http://schemas.openxmlformats.org/officeDocument/2006/relationships/image" Target="../media/image49.png"/><Relationship Id="rId30" Type="http://schemas.openxmlformats.org/officeDocument/2006/relationships/image" Target="../media/image5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image" Target="../media/image63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12" Type="http://schemas.openxmlformats.org/officeDocument/2006/relationships/image" Target="../media/image62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6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11" Type="http://schemas.openxmlformats.org/officeDocument/2006/relationships/image" Target="../media/image61.png"/><Relationship Id="rId5" Type="http://schemas.openxmlformats.org/officeDocument/2006/relationships/image" Target="../media/image55.png"/><Relationship Id="rId15" Type="http://schemas.openxmlformats.org/officeDocument/2006/relationships/image" Target="../media/image65.png"/><Relationship Id="rId10" Type="http://schemas.openxmlformats.org/officeDocument/2006/relationships/image" Target="../media/image60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Relationship Id="rId14" Type="http://schemas.openxmlformats.org/officeDocument/2006/relationships/image" Target="../media/image6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3" Type="http://schemas.openxmlformats.org/officeDocument/2006/relationships/image" Target="../media/image78.png"/><Relationship Id="rId18" Type="http://schemas.openxmlformats.org/officeDocument/2006/relationships/image" Target="../media/image83.png"/><Relationship Id="rId3" Type="http://schemas.openxmlformats.org/officeDocument/2006/relationships/image" Target="../media/image68.png"/><Relationship Id="rId21" Type="http://schemas.openxmlformats.org/officeDocument/2006/relationships/image" Target="../media/image86.png"/><Relationship Id="rId7" Type="http://schemas.openxmlformats.org/officeDocument/2006/relationships/image" Target="../media/image72.png"/><Relationship Id="rId12" Type="http://schemas.openxmlformats.org/officeDocument/2006/relationships/image" Target="../media/image77.png"/><Relationship Id="rId17" Type="http://schemas.openxmlformats.org/officeDocument/2006/relationships/image" Target="../media/image82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81.png"/><Relationship Id="rId20" Type="http://schemas.openxmlformats.org/officeDocument/2006/relationships/image" Target="../media/image8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.png"/><Relationship Id="rId11" Type="http://schemas.openxmlformats.org/officeDocument/2006/relationships/image" Target="../media/image76.png"/><Relationship Id="rId5" Type="http://schemas.openxmlformats.org/officeDocument/2006/relationships/image" Target="../media/image70.png"/><Relationship Id="rId15" Type="http://schemas.openxmlformats.org/officeDocument/2006/relationships/image" Target="../media/image80.png"/><Relationship Id="rId10" Type="http://schemas.openxmlformats.org/officeDocument/2006/relationships/image" Target="../media/image75.png"/><Relationship Id="rId19" Type="http://schemas.openxmlformats.org/officeDocument/2006/relationships/image" Target="../media/image84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Relationship Id="rId14" Type="http://schemas.openxmlformats.org/officeDocument/2006/relationships/image" Target="../media/image79.png"/><Relationship Id="rId22" Type="http://schemas.openxmlformats.org/officeDocument/2006/relationships/image" Target="../media/image8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13" Type="http://schemas.openxmlformats.org/officeDocument/2006/relationships/image" Target="../media/image93.png"/><Relationship Id="rId18" Type="http://schemas.openxmlformats.org/officeDocument/2006/relationships/image" Target="../media/image95.png"/><Relationship Id="rId3" Type="http://schemas.openxmlformats.org/officeDocument/2006/relationships/image" Target="../media/image25.png"/><Relationship Id="rId21" Type="http://schemas.openxmlformats.org/officeDocument/2006/relationships/image" Target="../media/image47.png"/><Relationship Id="rId7" Type="http://schemas.openxmlformats.org/officeDocument/2006/relationships/image" Target="../media/image89.png"/><Relationship Id="rId12" Type="http://schemas.openxmlformats.org/officeDocument/2006/relationships/image" Target="../media/image92.png"/><Relationship Id="rId17" Type="http://schemas.openxmlformats.org/officeDocument/2006/relationships/image" Target="../media/image94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42.png"/><Relationship Id="rId20" Type="http://schemas.openxmlformats.org/officeDocument/2006/relationships/image" Target="../media/image9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8.png"/><Relationship Id="rId11" Type="http://schemas.openxmlformats.org/officeDocument/2006/relationships/image" Target="../media/image91.png"/><Relationship Id="rId24" Type="http://schemas.openxmlformats.org/officeDocument/2006/relationships/image" Target="../media/image52.png"/><Relationship Id="rId5" Type="http://schemas.openxmlformats.org/officeDocument/2006/relationships/image" Target="../media/image27.png"/><Relationship Id="rId15" Type="http://schemas.openxmlformats.org/officeDocument/2006/relationships/image" Target="../media/image41.png"/><Relationship Id="rId23" Type="http://schemas.openxmlformats.org/officeDocument/2006/relationships/image" Target="../media/image51.png"/><Relationship Id="rId10" Type="http://schemas.openxmlformats.org/officeDocument/2006/relationships/image" Target="../media/image36.png"/><Relationship Id="rId19" Type="http://schemas.openxmlformats.org/officeDocument/2006/relationships/image" Target="../media/image96.png"/><Relationship Id="rId4" Type="http://schemas.openxmlformats.org/officeDocument/2006/relationships/image" Target="../media/image26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Relationship Id="rId22" Type="http://schemas.openxmlformats.org/officeDocument/2006/relationships/image" Target="../media/image9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image" Target="../media/image63.png"/><Relationship Id="rId3" Type="http://schemas.openxmlformats.org/officeDocument/2006/relationships/image" Target="../media/image53.png"/><Relationship Id="rId7" Type="http://schemas.openxmlformats.org/officeDocument/2006/relationships/image" Target="../media/image102.png"/><Relationship Id="rId12" Type="http://schemas.openxmlformats.org/officeDocument/2006/relationships/image" Target="../media/image62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6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1.png"/><Relationship Id="rId11" Type="http://schemas.openxmlformats.org/officeDocument/2006/relationships/image" Target="../media/image61.png"/><Relationship Id="rId5" Type="http://schemas.openxmlformats.org/officeDocument/2006/relationships/image" Target="../media/image100.png"/><Relationship Id="rId15" Type="http://schemas.openxmlformats.org/officeDocument/2006/relationships/image" Target="../media/image65.png"/><Relationship Id="rId10" Type="http://schemas.openxmlformats.org/officeDocument/2006/relationships/image" Target="../media/image60.png"/><Relationship Id="rId4" Type="http://schemas.openxmlformats.org/officeDocument/2006/relationships/image" Target="../media/image99.png"/><Relationship Id="rId9" Type="http://schemas.openxmlformats.org/officeDocument/2006/relationships/image" Target="../media/image59.png"/><Relationship Id="rId14" Type="http://schemas.openxmlformats.org/officeDocument/2006/relationships/image" Target="../media/image6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11152" y="-2103120"/>
            <a:ext cx="5486400" cy="5486400"/>
          </a:xfrm>
          <a:prstGeom prst="ellipse">
            <a:avLst/>
          </a:prstGeom>
          <a:solidFill>
            <a:srgbClr val="3A8DCE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2377440" y="4206240"/>
            <a:ext cx="4572000" cy="4572000"/>
          </a:xfrm>
          <a:prstGeom prst="ellipse">
            <a:avLst/>
          </a:prstGeom>
          <a:solidFill>
            <a:srgbClr val="F2A900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8745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5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 ÁN MÔN HỆ THỐNG QUẢN TRỊ QUY TRÌNH NGHIỆP VỤ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hóa BPMN và Phân tích Quy trình</a:t>
            </a:r>
            <a:endParaRPr lang="en-US" sz="38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tại Công ty Cổ phần Sữa Việt Nam (Vinamilk)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868680" y="4251960"/>
            <a:ext cx="2011680" cy="0"/>
          </a:xfrm>
          <a:prstGeom prst="line">
            <a:avLst/>
          </a:prstGeom>
          <a:noFill/>
          <a:ln w="3175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59" y="4434839"/>
            <a:ext cx="10796821" cy="1413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rtl="0" fontAlgn="base"/>
            <a:r>
              <a:rPr lang="en-US" dirty="0">
                <a:solidFill>
                  <a:srgbClr val="5C7085"/>
                </a:solidFill>
                <a:latin typeface="Calibri" panose="020F0502020204030204" pitchFamily="34" charset="0"/>
              </a:rPr>
              <a:t>GVHD: 						</a:t>
            </a:r>
            <a:r>
              <a:rPr lang="en-US" dirty="0" err="1">
                <a:solidFill>
                  <a:srgbClr val="5C7085"/>
                </a:solidFill>
                <a:latin typeface="Calibri" panose="020F0502020204030204" pitchFamily="34" charset="0"/>
              </a:rPr>
              <a:t>Thành</a:t>
            </a:r>
            <a:r>
              <a:rPr lang="en-US" dirty="0">
                <a:solidFill>
                  <a:srgbClr val="5C7085"/>
                </a:solidFill>
                <a:latin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5C7085"/>
                </a:solidFill>
                <a:latin typeface="Calibri" panose="020F0502020204030204" pitchFamily="34" charset="0"/>
              </a:rPr>
              <a:t>viên</a:t>
            </a:r>
            <a:r>
              <a:rPr lang="en-US" dirty="0">
                <a:solidFill>
                  <a:srgbClr val="5C7085"/>
                </a:solidFill>
                <a:latin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5C7085"/>
                </a:solidFill>
                <a:latin typeface="Calibri" panose="020F0502020204030204" pitchFamily="34" charset="0"/>
              </a:rPr>
              <a:t>thực</a:t>
            </a:r>
            <a:r>
              <a:rPr lang="en-US" dirty="0">
                <a:solidFill>
                  <a:srgbClr val="5C7085"/>
                </a:solidFill>
                <a:latin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5C7085"/>
                </a:solidFill>
                <a:latin typeface="Calibri" panose="020F0502020204030204" pitchFamily="34" charset="0"/>
              </a:rPr>
              <a:t>hiện</a:t>
            </a:r>
            <a:r>
              <a:rPr lang="en-US" b="0" i="0" u="none" strike="noStrike" dirty="0">
                <a:solidFill>
                  <a:srgbClr val="5C7085"/>
                </a:solidFill>
                <a:effectLst/>
                <a:latin typeface="Calibri" panose="020F0502020204030204" pitchFamily="34" charset="0"/>
              </a:rPr>
              <a:t>: </a:t>
            </a:r>
          </a:p>
          <a:p>
            <a:pPr algn="l" rtl="0" fontAlgn="base"/>
            <a:r>
              <a:rPr lang="en-US" b="1" i="0" u="none" strike="noStrike" dirty="0" err="1">
                <a:solidFill>
                  <a:srgbClr val="F2A900"/>
                </a:solidFill>
                <a:effectLst/>
                <a:latin typeface="Calibri" panose="020F0502020204030204" pitchFamily="34" charset="0"/>
              </a:rPr>
              <a:t>ThS</a:t>
            </a:r>
            <a:r>
              <a:rPr lang="en-US" b="1" i="0" u="none" strike="noStrike" dirty="0">
                <a:solidFill>
                  <a:srgbClr val="F2A900"/>
                </a:solidFill>
                <a:effectLst/>
                <a:latin typeface="Calibri" panose="020F0502020204030204" pitchFamily="34" charset="0"/>
              </a:rPr>
              <a:t>. </a:t>
            </a:r>
            <a:r>
              <a:rPr lang="en-US" b="1" i="0" u="none" strike="noStrike" dirty="0" err="1">
                <a:solidFill>
                  <a:srgbClr val="F2A900"/>
                </a:solidFill>
                <a:effectLst/>
                <a:latin typeface="Calibri" panose="020F0502020204030204" pitchFamily="34" charset="0"/>
              </a:rPr>
              <a:t>Hà</a:t>
            </a:r>
            <a:r>
              <a:rPr lang="en-US" b="1" i="0" u="none" strike="noStrike" dirty="0">
                <a:solidFill>
                  <a:srgbClr val="F2A900"/>
                </a:solidFill>
                <a:effectLst/>
                <a:latin typeface="Calibri" panose="020F0502020204030204" pitchFamily="34" charset="0"/>
              </a:rPr>
              <a:t> Lê </a:t>
            </a:r>
            <a:r>
              <a:rPr lang="en-US" b="1" i="0" u="none" strike="noStrike" dirty="0" err="1">
                <a:solidFill>
                  <a:srgbClr val="F2A900"/>
                </a:solidFill>
                <a:effectLst/>
                <a:latin typeface="Calibri" panose="020F0502020204030204" pitchFamily="34" charset="0"/>
              </a:rPr>
              <a:t>Hoài</a:t>
            </a:r>
            <a:r>
              <a:rPr lang="en-US" b="1" i="0" u="none" strike="noStrike" dirty="0">
                <a:solidFill>
                  <a:srgbClr val="F2A9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b="1" i="0" u="none" strike="noStrike" dirty="0" err="1">
                <a:solidFill>
                  <a:srgbClr val="F2A900"/>
                </a:solidFill>
                <a:effectLst/>
                <a:latin typeface="Calibri" panose="020F0502020204030204" pitchFamily="34" charset="0"/>
              </a:rPr>
              <a:t>Trung</a:t>
            </a:r>
            <a:r>
              <a:rPr lang="en-US" b="1" i="0" u="none" strike="noStrike" dirty="0">
                <a:solidFill>
                  <a:srgbClr val="F2A900"/>
                </a:solidFill>
                <a:effectLst/>
                <a:latin typeface="Calibri" panose="020F0502020204030204" pitchFamily="34" charset="0"/>
              </a:rPr>
              <a:t>				Nguyễn Như Uyên</a:t>
            </a:r>
            <a:r>
              <a:rPr lang="en-US" b="0" i="0" u="none" strike="noStrike" dirty="0">
                <a:solidFill>
                  <a:srgbClr val="5C7085"/>
                </a:solidFill>
                <a:effectLst/>
                <a:latin typeface="Calibri" panose="020F0502020204030204" pitchFamily="34" charset="0"/>
              </a:rPr>
              <a:t> (24210187) </a:t>
            </a:r>
            <a:r>
              <a:rPr lang="en-US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​</a:t>
            </a:r>
            <a:endParaRPr lang="en-US" sz="16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en-US" b="1" i="0" u="none" strike="noStrike" dirty="0">
                <a:solidFill>
                  <a:srgbClr val="F2A900"/>
                </a:solidFill>
                <a:effectLst/>
                <a:latin typeface="Calibri" panose="020F0502020204030204" pitchFamily="34" charset="0"/>
              </a:rPr>
              <a:t>						</a:t>
            </a:r>
            <a:r>
              <a:rPr lang="en-US" b="1" i="0" u="none" strike="noStrike" dirty="0" err="1">
                <a:solidFill>
                  <a:srgbClr val="F2A900"/>
                </a:solidFill>
                <a:effectLst/>
                <a:latin typeface="Calibri" panose="020F0502020204030204" pitchFamily="34" charset="0"/>
              </a:rPr>
              <a:t>Phạm</a:t>
            </a:r>
            <a:r>
              <a:rPr lang="en-US" b="1" i="0" u="none" strike="noStrike" dirty="0">
                <a:solidFill>
                  <a:srgbClr val="F2A9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b="1" i="0" u="none" strike="noStrike" dirty="0" err="1">
                <a:solidFill>
                  <a:srgbClr val="F2A900"/>
                </a:solidFill>
                <a:effectLst/>
                <a:latin typeface="Calibri" panose="020F0502020204030204" pitchFamily="34" charset="0"/>
              </a:rPr>
              <a:t>Duy</a:t>
            </a:r>
            <a:r>
              <a:rPr lang="en-US" b="1" i="0" u="none" strike="noStrike" dirty="0">
                <a:solidFill>
                  <a:srgbClr val="F2A9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b="1" i="0" u="none" strike="noStrike" dirty="0" err="1">
                <a:solidFill>
                  <a:srgbClr val="F2A900"/>
                </a:solidFill>
                <a:effectLst/>
                <a:latin typeface="Calibri" panose="020F0502020204030204" pitchFamily="34" charset="0"/>
              </a:rPr>
              <a:t>Khánh</a:t>
            </a:r>
            <a:r>
              <a:rPr lang="en-US" b="0" i="0" u="none" strike="noStrike" dirty="0">
                <a:solidFill>
                  <a:srgbClr val="5C7085"/>
                </a:solidFill>
                <a:effectLst/>
                <a:latin typeface="Calibri" panose="020F0502020204030204" pitchFamily="34" charset="0"/>
              </a:rPr>
              <a:t> (25210119) </a:t>
            </a:r>
            <a:r>
              <a:rPr lang="en-US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​</a:t>
            </a:r>
            <a:endParaRPr lang="en-US" sz="16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en-US" b="1" i="0" u="none" strike="noStrike" dirty="0">
                <a:solidFill>
                  <a:srgbClr val="F2A900"/>
                </a:solidFill>
                <a:effectLst/>
                <a:latin typeface="Calibri" panose="020F0502020204030204" pitchFamily="34" charset="0"/>
              </a:rPr>
              <a:t>						Nguyễn </a:t>
            </a:r>
            <a:r>
              <a:rPr lang="en-US" b="1" i="0" u="none" strike="noStrike" dirty="0" err="1">
                <a:solidFill>
                  <a:srgbClr val="F2A900"/>
                </a:solidFill>
                <a:effectLst/>
                <a:latin typeface="Calibri" panose="020F0502020204030204" pitchFamily="34" charset="0"/>
              </a:rPr>
              <a:t>Trọng</a:t>
            </a:r>
            <a:r>
              <a:rPr lang="en-US" b="1" i="0" u="none" strike="noStrike" dirty="0">
                <a:solidFill>
                  <a:srgbClr val="F2A9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b="1" i="0" u="none" strike="noStrike" dirty="0" err="1">
                <a:solidFill>
                  <a:srgbClr val="F2A900"/>
                </a:solidFill>
                <a:effectLst/>
                <a:latin typeface="Calibri" panose="020F0502020204030204" pitchFamily="34" charset="0"/>
              </a:rPr>
              <a:t>Nhân</a:t>
            </a:r>
            <a:r>
              <a:rPr lang="en-US" b="0" i="0" u="none" strike="noStrike" dirty="0">
                <a:solidFill>
                  <a:srgbClr val="5C7085"/>
                </a:solidFill>
                <a:effectLst/>
                <a:latin typeface="Calibri" panose="020F0502020204030204" pitchFamily="34" charset="0"/>
              </a:rPr>
              <a:t> (24210236) </a:t>
            </a:r>
            <a:r>
              <a:rPr lang="en-US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​</a:t>
            </a:r>
            <a:endParaRPr lang="en-US" sz="16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C920855-DA16-4A53-8061-53416924B055}"/>
              </a:ext>
            </a:extLst>
          </p:cNvPr>
          <p:cNvSpPr/>
          <p:nvPr/>
        </p:nvSpPr>
        <p:spPr>
          <a:xfrm>
            <a:off x="1775057" y="432803"/>
            <a:ext cx="5276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vi-VN" b="1" cap="all" dirty="0">
                <a:solidFill>
                  <a:schemeClr val="bg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TRƯỜNG ĐẠI HỌC CÔNG NGHỆ THÔNG TIN – UIT</a:t>
            </a:r>
            <a:endParaRPr lang="vi-VN" cap="all" dirty="0">
              <a:solidFill>
                <a:schemeClr val="bg1">
                  <a:lumMod val="95000"/>
                </a:schemeClr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8658A17-0C23-4426-8462-4D64A5C8F2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00519"/>
            <a:ext cx="873131" cy="70578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3A8D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DUNG TRÌNH BÀY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 cục báo cáo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74920" cy="1143000"/>
          </a:xfrm>
          <a:prstGeom prst="roundRect">
            <a:avLst>
              <a:gd name="adj" fmla="val 6400"/>
            </a:avLst>
          </a:prstGeom>
          <a:solidFill>
            <a:srgbClr val="EAF3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92024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A8D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600200" y="19202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quan doanh nghiệp &amp; kiến trúc quy trình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080760" y="1783080"/>
            <a:ext cx="5074920" cy="1143000"/>
          </a:xfrm>
          <a:prstGeom prst="roundRect">
            <a:avLst>
              <a:gd name="adj" fmla="val 6400"/>
            </a:avLst>
          </a:prstGeom>
          <a:solidFill>
            <a:srgbClr val="EAF3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309360" y="192024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A8D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132320" y="19202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Phương pháp thực hiện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5074920" cy="1143000"/>
          </a:xfrm>
          <a:prstGeom prst="roundRect">
            <a:avLst>
              <a:gd name="adj" fmla="val 6400"/>
            </a:avLst>
          </a:prstGeom>
          <a:solidFill>
            <a:srgbClr val="EAF3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333756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A8D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600200" y="33375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hóa quy trình bằng BPMN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080760" y="3200400"/>
            <a:ext cx="5074920" cy="1143000"/>
          </a:xfrm>
          <a:prstGeom prst="roundRect">
            <a:avLst>
              <a:gd name="adj" fmla="val 6400"/>
            </a:avLst>
          </a:prstGeom>
          <a:solidFill>
            <a:srgbClr val="EAF3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09360" y="333756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A8D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132320" y="33375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tích định tính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617720"/>
            <a:ext cx="5074920" cy="1143000"/>
          </a:xfrm>
          <a:prstGeom prst="roundRect">
            <a:avLst>
              <a:gd name="adj" fmla="val 6400"/>
            </a:avLst>
          </a:prstGeom>
          <a:solidFill>
            <a:srgbClr val="EAF3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240" y="475488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A8D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600200" y="475488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tích định lượng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080760" y="4617720"/>
            <a:ext cx="5074920" cy="1143000"/>
          </a:xfrm>
          <a:prstGeom prst="roundRect">
            <a:avLst>
              <a:gd name="adj" fmla="val 6400"/>
            </a:avLst>
          </a:prstGeom>
          <a:solidFill>
            <a:srgbClr val="EAF3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309360" y="475488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A8D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7132320" y="475488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quả, đề xuất cải tiến &amp; kết luận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Vinamilk — Quản trị Quy trình Nghiệp vụ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36599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3A8D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 TỔNG QUAN DOANH NGHIỆP &amp; KIẾN TRÚC QUY TRÌNH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ty Cổ phần Sữa Việt Nam (Vinamilk)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2048256"/>
            <a:ext cx="100584" cy="100584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41248" y="1911096"/>
            <a:ext cx="66568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Doanh nghiệp sản xuất và kinh doanh sữa hàng đầu Việt Nam, </a:t>
            </a:r>
            <a:r>
              <a:rPr lang="en-US" sz="1450" dirty="0" err="1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vận</a:t>
            </a: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450" dirty="0" err="1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hành</a:t>
            </a: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chuỗi giá trị khép kín từ vùng nguyên liệu đến phân phối.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3099816"/>
            <a:ext cx="100584" cy="100584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41248" y="2962656"/>
            <a:ext cx="66568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Mạng lưới trang trại, nhà máy sản xuất, hệ thống logistics và </a:t>
            </a:r>
            <a:r>
              <a:rPr lang="en-US" sz="1450" dirty="0" err="1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</a:t>
            </a: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450" dirty="0" err="1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phối</a:t>
            </a: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trải rộng trên cả nước.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4151376"/>
            <a:ext cx="100584" cy="100584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41248" y="4014216"/>
            <a:ext cx="66568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 chức vận hành theo kiến trúc quy trình 3 tầng: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</a:t>
            </a:r>
            <a:r>
              <a:rPr lang="en-US" sz="1450" dirty="0" err="1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</a:t>
            </a: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Cốt </a:t>
            </a:r>
            <a:r>
              <a:rPr lang="en-US" sz="1450" dirty="0" err="1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lõi</a:t>
            </a: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Hỗ trợ, đảm bảo kiểm soát chất lượng xuyên </a:t>
            </a:r>
            <a:r>
              <a:rPr lang="en-US" sz="1450" dirty="0" err="1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suốt</a:t>
            </a: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450" dirty="0" err="1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chuỗi</a:t>
            </a: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cung ứng.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138160" y="2057400"/>
            <a:ext cx="329184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092440" y="2655418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tầng quy trình vận hành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138160" y="3429000"/>
            <a:ext cx="329184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092440" y="4027018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trình được phân tích chi tiết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138160" y="4800600"/>
            <a:ext cx="329184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092440" y="5398618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hỏi phỏng vấn xây dựng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36599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pic>
        <p:nvPicPr>
          <p:cNvPr id="23" name="Picture 22" descr="Vinamilk một năm sau tái định vị thương hiệu: Vẫn đang ở ...">
            <a:extLst>
              <a:ext uri="{FF2B5EF4-FFF2-40B4-BE49-F238E27FC236}">
                <a16:creationId xmlns:a16="http://schemas.microsoft.com/office/drawing/2014/main" id="{81401960-BF48-4C24-FD95-C9DF43E9E6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635190"/>
            <a:ext cx="6080924" cy="35876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kern="0" spc="100" dirty="0">
                <a:solidFill>
                  <a:srgbClr val="3A8D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 TỔNG QUAN DOANH NGHIỆP &amp; KIẾN TRÚC QUY TRÌNH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quy trình 3 </a:t>
            </a:r>
            <a:r>
              <a:rPr lang="en-US" sz="2900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tầng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2103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3383280"/>
            <a:ext cx="2103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CỐT LÕI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36599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6E5E3B52-4F4E-4DDB-732C-F30881D1CF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0002" y="1442466"/>
            <a:ext cx="7091995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3A8D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 PHƯƠNG PHÁP THỰC HIỆN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 phương pháp thu thập bằng chứng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39" y="1828800"/>
            <a:ext cx="4616919" cy="4114800"/>
          </a:xfrm>
          <a:prstGeom prst="roundRect">
            <a:avLst>
              <a:gd name="adj" fmla="val 2222"/>
            </a:avLst>
          </a:prstGeom>
          <a:solidFill>
            <a:srgbClr val="EAF3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20116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Phương pháp dựa trên bằng chứng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2688336"/>
            <a:ext cx="100584" cy="100584"/>
          </a:xfrm>
          <a:prstGeom prst="ellipse">
            <a:avLst/>
          </a:prstGeom>
          <a:solidFill>
            <a:srgbClr val="3A8D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15568" y="2551176"/>
            <a:ext cx="4462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5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tả quy trình hiện có (quy chế, hợp đồng)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3310128"/>
            <a:ext cx="100584" cy="100584"/>
          </a:xfrm>
          <a:prstGeom prst="ellipse">
            <a:avLst/>
          </a:prstGeom>
          <a:solidFill>
            <a:srgbClr val="3A8D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15568" y="3172968"/>
            <a:ext cx="4462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5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Sơ đồ tổ chức các bộ phận liên quan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931920"/>
            <a:ext cx="100584" cy="100584"/>
          </a:xfrm>
          <a:prstGeom prst="ellipse">
            <a:avLst/>
          </a:prstGeom>
          <a:solidFill>
            <a:srgbClr val="3A8D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15568" y="3794760"/>
            <a:ext cx="4462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5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 hoạch làm việc theo chu kỳ/năm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60" y="4553712"/>
            <a:ext cx="100584" cy="100584"/>
          </a:xfrm>
          <a:prstGeom prst="ellipse">
            <a:avLst/>
          </a:prstGeom>
          <a:solidFill>
            <a:srgbClr val="3A8D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15568" y="4416552"/>
            <a:ext cx="4462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5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Thuật ngữ, sổ tay chuyên ngành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22960" y="5175504"/>
            <a:ext cx="100584" cy="100584"/>
          </a:xfrm>
          <a:prstGeom prst="ellipse">
            <a:avLst/>
          </a:prstGeom>
          <a:solidFill>
            <a:srgbClr val="3A8D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115568" y="5038344"/>
            <a:ext cx="4462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5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Biểu mẫu, biên bản thực tế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1136599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pic>
        <p:nvPicPr>
          <p:cNvPr id="1028" name="Picture 4" descr="293.500+ Báo Cáo Tài Liệu Hình Minh Họa Hình minh họa, Đồ họa Vectơ trả phí  bản quyền một lần &amp; Clip nghệ thuật sẵn có - iStock">
            <a:extLst>
              <a:ext uri="{FF2B5EF4-FFF2-40B4-BE49-F238E27FC236}">
                <a16:creationId xmlns:a16="http://schemas.microsoft.com/office/drawing/2014/main" id="{7B6002C2-EFCE-468D-94F6-149532500E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4162" y="1410663"/>
            <a:ext cx="4761537" cy="4761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kern="0" spc="100" dirty="0">
                <a:solidFill>
                  <a:srgbClr val="3A8D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 MÔ HÌNH HÓA BPMN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Sơ đồ BPMN - Quy </a:t>
            </a:r>
            <a:r>
              <a:rPr lang="en-US" sz="2500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trình</a:t>
            </a:r>
            <a:r>
              <a:rPr lang="en-US" sz="25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500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</a:t>
            </a:r>
            <a:r>
              <a:rPr lang="en-US" sz="25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500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</a:t>
            </a:r>
            <a:r>
              <a:rPr lang="en-US" sz="25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500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và</a:t>
            </a:r>
            <a:r>
              <a:rPr lang="en-US" sz="25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500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giám</a:t>
            </a:r>
            <a:r>
              <a:rPr lang="en-US" sz="25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500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sát</a:t>
            </a:r>
            <a:r>
              <a:rPr lang="en-US" sz="25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 </a:t>
            </a:r>
            <a:r>
              <a:rPr lang="en-US" sz="2500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</a:t>
            </a:r>
            <a:r>
              <a:rPr lang="en-US" sz="25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500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lao</a:t>
            </a:r>
            <a:r>
              <a:rPr lang="en-US" sz="25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500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động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502920" y="605332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pool tham gia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423160" y="605332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gateway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794760" y="605332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cặp Parallel Split/Join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1136599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0C534DC-0ADF-C359-932A-D121F7484C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65" y="1912607"/>
            <a:ext cx="11877869" cy="413790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210719-46D7-30CA-E473-488C39B2C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70FB909-DD4C-37AF-7EDB-5F538C9F57A4}"/>
              </a:ext>
            </a:extLst>
          </p:cNvPr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kern="0" spc="100" dirty="0">
                <a:solidFill>
                  <a:srgbClr val="3A8D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 MÔ HÌNH HÓA BPMN</a:t>
            </a:r>
            <a:endParaRPr lang="en-US" sz="13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DB5BC31-469F-61AD-988C-07568756A166}"/>
              </a:ext>
            </a:extLst>
          </p:cNvPr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Sơ đồ BPMN - Quy </a:t>
            </a:r>
            <a:r>
              <a:rPr lang="en-US" sz="2500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trình</a:t>
            </a:r>
            <a:r>
              <a:rPr lang="en-US" sz="25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500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</a:t>
            </a:r>
            <a:r>
              <a:rPr lang="en-US" sz="25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500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</a:t>
            </a:r>
            <a:r>
              <a:rPr lang="en-US" sz="25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500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sữa</a:t>
            </a:r>
            <a:r>
              <a:rPr lang="en-US" sz="25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500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tươi</a:t>
            </a:r>
            <a:r>
              <a:rPr lang="en-US" sz="25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500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</a:t>
            </a:r>
            <a:r>
              <a:rPr lang="en-US" sz="25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500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hộ</a:t>
            </a:r>
            <a:r>
              <a:rPr lang="en-US" sz="25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500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nông</a:t>
            </a:r>
            <a:r>
              <a:rPr lang="en-US" sz="25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500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dân</a:t>
            </a:r>
            <a:r>
              <a:rPr lang="en-US" sz="25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500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liên</a:t>
            </a:r>
            <a:r>
              <a:rPr lang="en-US" sz="25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500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</a:t>
            </a:r>
            <a:endParaRPr lang="en-US" sz="25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10E8B806-608E-5E76-0E65-5CC6B3FCF933}"/>
              </a:ext>
            </a:extLst>
          </p:cNvPr>
          <p:cNvSpPr/>
          <p:nvPr/>
        </p:nvSpPr>
        <p:spPr>
          <a:xfrm>
            <a:off x="502920" y="605332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pool tham gia</a:t>
            </a:r>
            <a:endParaRPr lang="en-US" sz="105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E49B32F9-382E-A1DA-FDF6-C1F30B98347E}"/>
              </a:ext>
            </a:extLst>
          </p:cNvPr>
          <p:cNvSpPr/>
          <p:nvPr/>
        </p:nvSpPr>
        <p:spPr>
          <a:xfrm>
            <a:off x="3794760" y="605332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cặp Parallel Split/Join</a:t>
            </a:r>
            <a:endParaRPr lang="en-US" sz="105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A3DBCDFC-18CA-14AB-C266-30281111A477}"/>
              </a:ext>
            </a:extLst>
          </p:cNvPr>
          <p:cNvSpPr/>
          <p:nvPr/>
        </p:nvSpPr>
        <p:spPr>
          <a:xfrm>
            <a:off x="1136599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27A36B9-16A4-27D7-0AB4-960A2AA7BF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81" y="1774872"/>
            <a:ext cx="11989837" cy="4397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7142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08C12B-6D5C-5C44-227E-9327CB97B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65DEED1-FA42-D99D-A8DD-F15334BD34E4}"/>
              </a:ext>
            </a:extLst>
          </p:cNvPr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kern="0" spc="100" dirty="0">
                <a:solidFill>
                  <a:srgbClr val="3A8D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 MÔ HÌNH HÓA BPMN</a:t>
            </a:r>
            <a:endParaRPr lang="en-US" sz="13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E3EC92B-08EB-407C-B73D-0A12076887B5}"/>
              </a:ext>
            </a:extLst>
          </p:cNvPr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Sơ đồ BPMN – Quy </a:t>
            </a:r>
            <a:r>
              <a:rPr lang="en-US" sz="2500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trình</a:t>
            </a:r>
            <a:r>
              <a:rPr lang="en-US" sz="25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500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khám</a:t>
            </a:r>
            <a:r>
              <a:rPr lang="en-US" sz="25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sức khỏe định kỳ hàng năm</a:t>
            </a:r>
            <a:endParaRPr lang="en-US" sz="2500" dirty="0"/>
          </a:p>
        </p:txBody>
      </p:sp>
      <p:pic>
        <p:nvPicPr>
          <p:cNvPr id="4" name="Image 0" descr="/home/claude/pptx_build/img/ksk.png">
            <a:extLst>
              <a:ext uri="{FF2B5EF4-FFF2-40B4-BE49-F238E27FC236}">
                <a16:creationId xmlns:a16="http://schemas.microsoft.com/office/drawing/2014/main" id="{FD3079C5-C52E-A78B-3140-04FBCD77A7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693" y="1735835"/>
            <a:ext cx="11526614" cy="4226425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0A28D687-9BE5-56A6-2669-C8395227B648}"/>
              </a:ext>
            </a:extLst>
          </p:cNvPr>
          <p:cNvSpPr/>
          <p:nvPr/>
        </p:nvSpPr>
        <p:spPr>
          <a:xfrm>
            <a:off x="502920" y="605332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pool tham gia</a:t>
            </a:r>
            <a:endParaRPr lang="en-US" sz="105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8856B23A-F757-B0AF-FDA6-D2B2CD5B1D9C}"/>
              </a:ext>
            </a:extLst>
          </p:cNvPr>
          <p:cNvSpPr/>
          <p:nvPr/>
        </p:nvSpPr>
        <p:spPr>
          <a:xfrm>
            <a:off x="2423160" y="605332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gateway</a:t>
            </a:r>
            <a:endParaRPr lang="en-US" sz="105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ABCC028A-80B1-9338-BC38-0597EA0B61C1}"/>
              </a:ext>
            </a:extLst>
          </p:cNvPr>
          <p:cNvSpPr/>
          <p:nvPr/>
        </p:nvSpPr>
        <p:spPr>
          <a:xfrm>
            <a:off x="3794760" y="605332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cặp Parallel Split/Join</a:t>
            </a:r>
            <a:endParaRPr lang="en-US" sz="105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6ACB0785-73ED-9DF0-83DA-09EAB481DDF3}"/>
              </a:ext>
            </a:extLst>
          </p:cNvPr>
          <p:cNvSpPr/>
          <p:nvPr/>
        </p:nvSpPr>
        <p:spPr>
          <a:xfrm>
            <a:off x="1136599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5080287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kern="0" spc="100" dirty="0">
                <a:solidFill>
                  <a:srgbClr val="3A8D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04 - PHÂN TÍCH ĐỊNH TÍNH – QUY TRÌNH KHÁM SỨC KHOẺ ĐỊNH KỲ HÀNG NĂM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95299" y="475021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</a:t>
            </a:r>
            <a:r>
              <a:rPr lang="en-US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</a:t>
            </a:r>
            <a:r>
              <a:rPr lang="en-US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giá trị </a:t>
            </a:r>
            <a:r>
              <a:rPr lang="en-US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</a:t>
            </a:r>
            <a:r>
              <a:rPr lang="en-US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tăng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Value-Added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31546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giá trị trực tiếp cho khách hàng của quy trình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389120" y="196596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BVA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389120" y="26974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Value-Added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63440" y="31546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Cần thiết cho vận hành/kiểm soát nhưng không trực tiếp tạo giá trị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0" y="196596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NVA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229600" y="26974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Non-Value-Added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503920" y="31546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tạo giá trị — chủ yếu là làm lại, chờ đợi, xử lý ngoại lệ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4892040"/>
            <a:ext cx="507760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 (8)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626249" y="4892040"/>
            <a:ext cx="44429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BVA (7)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49667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pic>
        <p:nvPicPr>
          <p:cNvPr id="22" name="Picture 21" descr="image.png">
            <a:extLst>
              <a:ext uri="{FF2B5EF4-FFF2-40B4-BE49-F238E27FC236}">
                <a16:creationId xmlns:a16="http://schemas.microsoft.com/office/drawing/2014/main" id="{67220C1E-D646-4ADD-8F63-F28EDF7AAD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675" y="1778127"/>
            <a:ext cx="11277600" cy="4905375"/>
          </a:xfrm>
          <a:prstGeom prst="rect">
            <a:avLst/>
          </a:prstGeom>
        </p:spPr>
      </p:pic>
      <p:pic>
        <p:nvPicPr>
          <p:cNvPr id="23" name="Picture 22" descr="image.png">
            <a:extLst>
              <a:ext uri="{FF2B5EF4-FFF2-40B4-BE49-F238E27FC236}">
                <a16:creationId xmlns:a16="http://schemas.microsoft.com/office/drawing/2014/main" id="{464A06B1-76F8-4D37-8EEE-7788BD9AEB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675" y="1101852"/>
            <a:ext cx="3657600" cy="523875"/>
          </a:xfrm>
          <a:prstGeom prst="rect">
            <a:avLst/>
          </a:prstGeom>
        </p:spPr>
      </p:pic>
      <p:pic>
        <p:nvPicPr>
          <p:cNvPr id="25" name="Picture 24" descr="image.png">
            <a:extLst>
              <a:ext uri="{FF2B5EF4-FFF2-40B4-BE49-F238E27FC236}">
                <a16:creationId xmlns:a16="http://schemas.microsoft.com/office/drawing/2014/main" id="{1C78D082-AABA-4E11-87A2-C64CF6DA44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7675" y="1101852"/>
            <a:ext cx="3657600" cy="523875"/>
          </a:xfrm>
          <a:prstGeom prst="rect">
            <a:avLst/>
          </a:prstGeom>
        </p:spPr>
      </p:pic>
      <p:pic>
        <p:nvPicPr>
          <p:cNvPr id="27" name="Picture 26" descr="image.png">
            <a:extLst>
              <a:ext uri="{FF2B5EF4-FFF2-40B4-BE49-F238E27FC236}">
                <a16:creationId xmlns:a16="http://schemas.microsoft.com/office/drawing/2014/main" id="{24813607-3EBC-4E53-B671-C876DE0E56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7675" y="1101852"/>
            <a:ext cx="3657600" cy="523875"/>
          </a:xfrm>
          <a:prstGeom prst="rect">
            <a:avLst/>
          </a:prstGeom>
        </p:spPr>
      </p:pic>
      <p:pic>
        <p:nvPicPr>
          <p:cNvPr id="28" name="Picture 27" descr="image.png">
            <a:extLst>
              <a:ext uri="{FF2B5EF4-FFF2-40B4-BE49-F238E27FC236}">
                <a16:creationId xmlns:a16="http://schemas.microsoft.com/office/drawing/2014/main" id="{FE68A690-DB09-4F24-A5D3-43198EC26DB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43275" y="1206627"/>
            <a:ext cx="600075" cy="314325"/>
          </a:xfrm>
          <a:prstGeom prst="rect">
            <a:avLst/>
          </a:prstGeom>
        </p:spPr>
      </p:pic>
      <p:pic>
        <p:nvPicPr>
          <p:cNvPr id="29" name="Picture 28" descr="image.png">
            <a:extLst>
              <a:ext uri="{FF2B5EF4-FFF2-40B4-BE49-F238E27FC236}">
                <a16:creationId xmlns:a16="http://schemas.microsoft.com/office/drawing/2014/main" id="{37BED89C-0873-40DC-8E98-B6F7561606F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43750" y="1206627"/>
            <a:ext cx="609600" cy="314325"/>
          </a:xfrm>
          <a:prstGeom prst="rect">
            <a:avLst/>
          </a:prstGeom>
        </p:spPr>
      </p:pic>
      <p:pic>
        <p:nvPicPr>
          <p:cNvPr id="30" name="Picture 29" descr="image.png">
            <a:extLst>
              <a:ext uri="{FF2B5EF4-FFF2-40B4-BE49-F238E27FC236}">
                <a16:creationId xmlns:a16="http://schemas.microsoft.com/office/drawing/2014/main" id="{C4502B24-3952-443C-8F8E-FCBFCEA305C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63275" y="1206627"/>
            <a:ext cx="600075" cy="314325"/>
          </a:xfrm>
          <a:prstGeom prst="rect">
            <a:avLst/>
          </a:prstGeom>
        </p:spPr>
      </p:pic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566B4182-3CA9-4796-B094-D4B3D0FCCE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2495230"/>
              </p:ext>
            </p:extLst>
          </p:nvPr>
        </p:nvGraphicFramePr>
        <p:xfrm>
          <a:off x="457200" y="1787652"/>
          <a:ext cx="11258550" cy="4686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8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86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893">
                <a:tc>
                  <a:txBody>
                    <a:bodyPr/>
                    <a:lstStyle/>
                    <a:p>
                      <a:pPr algn="ctr"/>
                      <a:r>
                        <a:rPr sz="825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STT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Hoạt động trong quy trình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Tác nhân thực hiện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Phân loại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Giải thích &amp; Đánh giá giá trị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893">
                <a:tc>
                  <a:txBody>
                    <a:bodyPr/>
                    <a:lstStyle/>
                    <a:p>
                      <a:pPr algn="ctr"/>
                      <a:r>
                        <a:rPr sz="825" b="1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334155"/>
                          </a:solidFill>
                          <a:latin typeface="Plus Jakarta Sans Medium"/>
                        </a:rPr>
                        <a:t>Khảo sát nhu cầu, dự toán ngân sách SK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1E293B"/>
                          </a:solidFill>
                          <a:latin typeface="Plus Jakarta Sans SemiBold"/>
                        </a:rPr>
                        <a:t>HR / Ban HSE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0" i="0" u="none" dirty="0">
                          <a:solidFill>
                            <a:srgbClr val="334155"/>
                          </a:solidFill>
                          <a:latin typeface="Plus Jakarta Sans Medium"/>
                        </a:rPr>
                        <a:t>BVA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334155"/>
                          </a:solidFill>
                          <a:latin typeface="Plus Jakarta Sans Medium"/>
                        </a:rPr>
                        <a:t>Cần thiết lập kế hoạch quy mô, không tạo giá trị y tế trực tiếp.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893">
                <a:tc>
                  <a:txBody>
                    <a:bodyPr/>
                    <a:lstStyle/>
                    <a:p>
                      <a:pPr algn="ctr"/>
                      <a:r>
                        <a:rPr sz="825" b="1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334155"/>
                          </a:solidFill>
                          <a:latin typeface="Plus Jakarta Sans Medium"/>
                        </a:rPr>
                        <a:t>Xây dựng danh mục khám định kỳ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1E293B"/>
                          </a:solidFill>
                          <a:latin typeface="Plus Jakarta Sans SemiBold"/>
                        </a:rPr>
                        <a:t>HR / Ban HSE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0" i="0" u="none">
                          <a:solidFill>
                            <a:srgbClr val="334155"/>
                          </a:solidFill>
                          <a:latin typeface="Plus Jakarta Sans Medium"/>
                        </a:rPr>
                        <a:t>BVA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334155"/>
                          </a:solidFill>
                          <a:latin typeface="Plus Jakarta Sans Medium"/>
                        </a:rPr>
                        <a:t>Đảm bảo tuân thủ quy định pháp luật và đặc thù công việc.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893">
                <a:tc>
                  <a:txBody>
                    <a:bodyPr/>
                    <a:lstStyle/>
                    <a:p>
                      <a:pPr algn="ctr"/>
                      <a:r>
                        <a:rPr sz="825" b="1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334155"/>
                          </a:solidFill>
                          <a:latin typeface="Plus Jakarta Sans Medium"/>
                        </a:rPr>
                        <a:t>Mời thầu, đánh giá cơ sở y tế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1E293B"/>
                          </a:solidFill>
                          <a:latin typeface="Plus Jakarta Sans SemiBold"/>
                        </a:rPr>
                        <a:t>HR / Ban HSE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0" i="0" u="none">
                          <a:solidFill>
                            <a:srgbClr val="334155"/>
                          </a:solidFill>
                          <a:latin typeface="Plus Jakarta Sans Medium"/>
                        </a:rPr>
                        <a:t>BVA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334155"/>
                          </a:solidFill>
                          <a:latin typeface="Plus Jakarta Sans Medium"/>
                        </a:rPr>
                        <a:t>Bước kiểm soát lựa chọn đối tác đủ năng lực chuyên môn.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893">
                <a:tc>
                  <a:txBody>
                    <a:bodyPr/>
                    <a:lstStyle/>
                    <a:p>
                      <a:pPr algn="ctr"/>
                      <a:r>
                        <a:rPr sz="825" b="1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334155"/>
                          </a:solidFill>
                          <a:latin typeface="Plus Jakarta Sans Medium"/>
                        </a:rPr>
                        <a:t>Ký kết hợp đồng với cơ sở y tế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1E293B"/>
                          </a:solidFill>
                          <a:latin typeface="Plus Jakarta Sans SemiBold"/>
                        </a:rPr>
                        <a:t>HR / Ban HSE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0" i="0" u="none">
                          <a:solidFill>
                            <a:srgbClr val="334155"/>
                          </a:solidFill>
                          <a:latin typeface="Plus Jakarta Sans Medium"/>
                        </a:rPr>
                        <a:t>BVA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334155"/>
                          </a:solidFill>
                          <a:latin typeface="Plus Jakarta Sans Medium"/>
                        </a:rPr>
                        <a:t>Thủ tục pháp lý bắt buộc để triển khai chương trình.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893">
                <a:tc>
                  <a:txBody>
                    <a:bodyPr/>
                    <a:lstStyle/>
                    <a:p>
                      <a:pPr algn="ctr"/>
                      <a:r>
                        <a:rPr sz="825" b="1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334155"/>
                          </a:solidFill>
                          <a:latin typeface="Plus Jakarta Sans Medium"/>
                        </a:rPr>
                        <a:t>Thống nhất lịch khám chi tiết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1E293B"/>
                          </a:solidFill>
                          <a:latin typeface="Plus Jakarta Sans SemiBold"/>
                        </a:rPr>
                        <a:t>Bệnh viện / Cơ sở y tế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0" i="0" u="none">
                          <a:solidFill>
                            <a:srgbClr val="334155"/>
                          </a:solidFill>
                          <a:latin typeface="Plus Jakarta Sans Medium"/>
                        </a:rPr>
                        <a:t>BVA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334155"/>
                          </a:solidFill>
                          <a:latin typeface="Plus Jakarta Sans Medium"/>
                        </a:rPr>
                        <a:t>Cần thiết cho điều phối nguồn lực y tế và ca làm việc.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893">
                <a:tc>
                  <a:txBody>
                    <a:bodyPr/>
                    <a:lstStyle/>
                    <a:p>
                      <a:pPr algn="ctr"/>
                      <a:r>
                        <a:rPr sz="825" b="1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334155"/>
                          </a:solidFill>
                          <a:latin typeface="Plus Jakarta Sans Medium"/>
                        </a:rPr>
                        <a:t>Thông báo lịch khám đến các đơn vị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1E293B"/>
                          </a:solidFill>
                          <a:latin typeface="Plus Jakarta Sans SemiBold"/>
                        </a:rPr>
                        <a:t>HR / Ban HSE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0" i="0" u="none">
                          <a:solidFill>
                            <a:srgbClr val="334155"/>
                          </a:solidFill>
                          <a:latin typeface="Plus Jakarta Sans Medium"/>
                        </a:rPr>
                        <a:t>BVA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334155"/>
                          </a:solidFill>
                          <a:latin typeface="Plus Jakarta Sans Medium"/>
                        </a:rPr>
                        <a:t>Hoạt động truyền thông giúp CBCNV chủ động sắp xếp công việc.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893">
                <a:tc>
                  <a:txBody>
                    <a:bodyPr/>
                    <a:lstStyle/>
                    <a:p>
                      <a:pPr algn="ctr"/>
                      <a:r>
                        <a:rPr sz="825" b="1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7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334155"/>
                          </a:solidFill>
                          <a:latin typeface="Plus Jakarta Sans Medium"/>
                        </a:rPr>
                        <a:t>Đến cơ sở y tế khám theo lịch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1E293B"/>
                          </a:solidFill>
                          <a:latin typeface="Plus Jakarta Sans SemiBold"/>
                        </a:rPr>
                        <a:t>CBCNV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0" i="0" u="none">
                          <a:solidFill>
                            <a:srgbClr val="334155"/>
                          </a:solidFill>
                          <a:latin typeface="Plus Jakarta Sans Medium"/>
                        </a:rPr>
                        <a:t>VA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334155"/>
                          </a:solidFill>
                          <a:latin typeface="Plus Jakarta Sans Medium"/>
                        </a:rPr>
                        <a:t>Bước khởi đầu trực tiếp nhận dịch vụ chăm sóc sức khỏe.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893">
                <a:tc>
                  <a:txBody>
                    <a:bodyPr/>
                    <a:lstStyle/>
                    <a:p>
                      <a:pPr algn="ctr"/>
                      <a:r>
                        <a:rPr sz="825" b="1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334155"/>
                          </a:solidFill>
                          <a:latin typeface="Plus Jakarta Sans Medium"/>
                        </a:rPr>
                        <a:t>Khám lâm sàng (nội, ngoại, mắt...)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1E293B"/>
                          </a:solidFill>
                          <a:latin typeface="Plus Jakarta Sans SemiBold"/>
                        </a:rPr>
                        <a:t>Bệnh viện / Cơ sở y tế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0" i="0" u="none">
                          <a:solidFill>
                            <a:srgbClr val="334155"/>
                          </a:solidFill>
                          <a:latin typeface="Plus Jakarta Sans Medium"/>
                        </a:rPr>
                        <a:t>VA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334155"/>
                          </a:solidFill>
                          <a:latin typeface="Plus Jakarta Sans Medium"/>
                        </a:rPr>
                        <a:t>Tạo giá trị trực tiếp: phát hiện sớm các vấn đề sức khỏe.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893">
                <a:tc>
                  <a:txBody>
                    <a:bodyPr/>
                    <a:lstStyle/>
                    <a:p>
                      <a:pPr algn="ctr"/>
                      <a:r>
                        <a:rPr sz="825" b="1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334155"/>
                          </a:solidFill>
                          <a:latin typeface="Plus Jakarta Sans Medium"/>
                        </a:rPr>
                        <a:t>Khám cận lâm sàng (xét nghiệm, X-quang)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1E293B"/>
                          </a:solidFill>
                          <a:latin typeface="Plus Jakarta Sans SemiBold"/>
                        </a:rPr>
                        <a:t>Bệnh viện / Cơ sở y tế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0" i="0" u="none">
                          <a:solidFill>
                            <a:srgbClr val="334155"/>
                          </a:solidFill>
                          <a:latin typeface="Plus Jakarta Sans Medium"/>
                        </a:rPr>
                        <a:t>VA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334155"/>
                          </a:solidFill>
                          <a:latin typeface="Plus Jakarta Sans Medium"/>
                        </a:rPr>
                        <a:t>Cung cấp dữ liệu cận lâm sàng hỗ trợ chẩn đoán chính xác.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893">
                <a:tc>
                  <a:txBody>
                    <a:bodyPr/>
                    <a:lstStyle/>
                    <a:p>
                      <a:pPr algn="ctr"/>
                      <a:r>
                        <a:rPr sz="825" b="1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10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334155"/>
                          </a:solidFill>
                          <a:latin typeface="Plus Jakarta Sans Medium"/>
                        </a:rPr>
                        <a:t>Tổng hợp kết quả, lập hồ sơ sức khỏe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1E293B"/>
                          </a:solidFill>
                          <a:latin typeface="Plus Jakarta Sans SemiBold"/>
                        </a:rPr>
                        <a:t>Bệnh viện / Cơ sở y tế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0" i="0" u="none">
                          <a:solidFill>
                            <a:srgbClr val="334155"/>
                          </a:solidFill>
                          <a:latin typeface="Plus Jakarta Sans Medium"/>
                        </a:rPr>
                        <a:t>VA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334155"/>
                          </a:solidFill>
                          <a:latin typeface="Plus Jakarta Sans Medium"/>
                        </a:rPr>
                        <a:t>Kết quả sử dụng trực tiếp cho CBCNV và quản trị doanh nghiệp.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2893">
                <a:tc>
                  <a:txBody>
                    <a:bodyPr/>
                    <a:lstStyle/>
                    <a:p>
                      <a:pPr algn="ctr"/>
                      <a:r>
                        <a:rPr sz="825" b="1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11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334155"/>
                          </a:solidFill>
                          <a:latin typeface="Plus Jakarta Sans Medium"/>
                        </a:rPr>
                        <a:t>Chỉ định khám chuyên sâu bổ sung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1E293B"/>
                          </a:solidFill>
                          <a:latin typeface="Plus Jakarta Sans SemiBold"/>
                        </a:rPr>
                        <a:t>Bệnh viện / Cơ sở y tế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0" i="0" u="none">
                          <a:solidFill>
                            <a:srgbClr val="334155"/>
                          </a:solidFill>
                          <a:latin typeface="Plus Jakarta Sans Medium"/>
                        </a:rPr>
                        <a:t>NVA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334155"/>
                          </a:solidFill>
                          <a:latin typeface="Plus Jakarta Sans Medium"/>
                        </a:rPr>
                        <a:t>Phát sinh ngoài kế hoạch ban đầu, cần quy trình xử lý ngoại lệ riêng.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2893">
                <a:tc>
                  <a:txBody>
                    <a:bodyPr/>
                    <a:lstStyle/>
                    <a:p>
                      <a:pPr algn="ctr"/>
                      <a:r>
                        <a:rPr sz="825" b="1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12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334155"/>
                          </a:solidFill>
                          <a:latin typeface="Plus Jakarta Sans Medium"/>
                        </a:rPr>
                        <a:t>Lập báo cáo tổng hợp sức khỏe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1E293B"/>
                          </a:solidFill>
                          <a:latin typeface="Plus Jakarta Sans SemiBold"/>
                        </a:rPr>
                        <a:t>Bệnh viện / Cơ sở y tế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0" i="0" u="none">
                          <a:solidFill>
                            <a:srgbClr val="334155"/>
                          </a:solidFill>
                          <a:latin typeface="Plus Jakarta Sans Medium"/>
                        </a:rPr>
                        <a:t>BVA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334155"/>
                          </a:solidFill>
                          <a:latin typeface="Plus Jakarta Sans Medium"/>
                        </a:rPr>
                        <a:t>Cần thiết để theo dõi bức tranh sức khỏe tổng thể toàn công ty.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2893">
                <a:tc>
                  <a:txBody>
                    <a:bodyPr/>
                    <a:lstStyle/>
                    <a:p>
                      <a:pPr algn="ctr"/>
                      <a:r>
                        <a:rPr sz="825" b="1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13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334155"/>
                          </a:solidFill>
                          <a:latin typeface="Plus Jakarta Sans Medium"/>
                        </a:rPr>
                        <a:t>Rà soát, nhắc nhở các trường hợp chưa khám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1E293B"/>
                          </a:solidFill>
                          <a:latin typeface="Plus Jakarta Sans SemiBold"/>
                        </a:rPr>
                        <a:t>HR / Ban HSE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0" i="0" u="none">
                          <a:solidFill>
                            <a:srgbClr val="334155"/>
                          </a:solidFill>
                          <a:latin typeface="Plus Jakarta Sans Medium"/>
                        </a:rPr>
                        <a:t>NVA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334155"/>
                          </a:solidFill>
                          <a:latin typeface="Plus Jakarta Sans Medium"/>
                        </a:rPr>
                        <a:t>Lãng phí thời gian do tỷ lệ tham gia đợt 1 thấp; cần tự động hóa.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2893">
                <a:tc>
                  <a:txBody>
                    <a:bodyPr/>
                    <a:lstStyle/>
                    <a:p>
                      <a:pPr algn="ctr"/>
                      <a:r>
                        <a:rPr sz="825" b="1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14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334155"/>
                          </a:solidFill>
                          <a:latin typeface="Plus Jakarta Sans Medium"/>
                        </a:rPr>
                        <a:t>Bàn giao sổ khám cá nhân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1E293B"/>
                          </a:solidFill>
                          <a:latin typeface="Plus Jakarta Sans SemiBold"/>
                        </a:rPr>
                        <a:t>HR / Ban HSE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0" i="0" u="none">
                          <a:solidFill>
                            <a:srgbClr val="334155"/>
                          </a:solidFill>
                          <a:latin typeface="Plus Jakarta Sans Medium"/>
                        </a:rPr>
                        <a:t>BVA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334155"/>
                          </a:solidFill>
                          <a:latin typeface="Plus Jakarta Sans Medium"/>
                        </a:rPr>
                        <a:t>Thủ tục hành chính hoàn tất quy trình giao nhận thông tin.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2905">
                <a:tc>
                  <a:txBody>
                    <a:bodyPr/>
                    <a:lstStyle/>
                    <a:p>
                      <a:pPr algn="ctr"/>
                      <a:r>
                        <a:rPr sz="825" b="1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15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334155"/>
                          </a:solidFill>
                          <a:latin typeface="Plus Jakarta Sans Medium"/>
                        </a:rPr>
                        <a:t>Lập phương án hỗ trợ điều trị / chuyển vị trí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1E293B"/>
                          </a:solidFill>
                          <a:latin typeface="Plus Jakarta Sans SemiBold"/>
                        </a:rPr>
                        <a:t>HR / Ban HSE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0" i="0" u="none">
                          <a:solidFill>
                            <a:srgbClr val="334155"/>
                          </a:solidFill>
                          <a:latin typeface="Plus Jakarta Sans Medium"/>
                        </a:rPr>
                        <a:t>VA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 dirty="0" err="1">
                          <a:solidFill>
                            <a:srgbClr val="334155"/>
                          </a:solidFill>
                          <a:latin typeface="Plus Jakarta Sans Medium"/>
                        </a:rPr>
                        <a:t>Tạo</a:t>
                      </a:r>
                      <a:r>
                        <a:rPr sz="825" b="0" i="0" u="none" dirty="0">
                          <a:solidFill>
                            <a:srgbClr val="334155"/>
                          </a:solidFill>
                          <a:latin typeface="Plus Jakarta Sans Medium"/>
                        </a:rPr>
                        <a:t> </a:t>
                      </a:r>
                      <a:r>
                        <a:rPr sz="825" b="0" i="0" u="none" dirty="0" err="1">
                          <a:solidFill>
                            <a:srgbClr val="334155"/>
                          </a:solidFill>
                          <a:latin typeface="Plus Jakarta Sans Medium"/>
                        </a:rPr>
                        <a:t>giá</a:t>
                      </a:r>
                      <a:r>
                        <a:rPr sz="825" b="0" i="0" u="none" dirty="0">
                          <a:solidFill>
                            <a:srgbClr val="334155"/>
                          </a:solidFill>
                          <a:latin typeface="Plus Jakarta Sans Medium"/>
                        </a:rPr>
                        <a:t> </a:t>
                      </a:r>
                      <a:r>
                        <a:rPr sz="825" b="0" i="0" u="none" dirty="0" err="1">
                          <a:solidFill>
                            <a:srgbClr val="334155"/>
                          </a:solidFill>
                          <a:latin typeface="Plus Jakarta Sans Medium"/>
                        </a:rPr>
                        <a:t>trị</a:t>
                      </a:r>
                      <a:r>
                        <a:rPr sz="825" b="0" i="0" u="none" dirty="0">
                          <a:solidFill>
                            <a:srgbClr val="334155"/>
                          </a:solidFill>
                          <a:latin typeface="Plus Jakarta Sans Medium"/>
                        </a:rPr>
                        <a:t> </a:t>
                      </a:r>
                      <a:r>
                        <a:rPr sz="825" b="0" i="0" u="none" dirty="0" err="1">
                          <a:solidFill>
                            <a:srgbClr val="334155"/>
                          </a:solidFill>
                          <a:latin typeface="Plus Jakarta Sans Medium"/>
                        </a:rPr>
                        <a:t>thực</a:t>
                      </a:r>
                      <a:r>
                        <a:rPr sz="825" b="0" i="0" u="none" dirty="0">
                          <a:solidFill>
                            <a:srgbClr val="334155"/>
                          </a:solidFill>
                          <a:latin typeface="Plus Jakarta Sans Medium"/>
                        </a:rPr>
                        <a:t> </a:t>
                      </a:r>
                      <a:r>
                        <a:rPr sz="825" b="0" i="0" u="none" dirty="0" err="1">
                          <a:solidFill>
                            <a:srgbClr val="334155"/>
                          </a:solidFill>
                          <a:latin typeface="Plus Jakarta Sans Medium"/>
                        </a:rPr>
                        <a:t>tế</a:t>
                      </a:r>
                      <a:r>
                        <a:rPr sz="825" b="0" i="0" u="none" dirty="0">
                          <a:solidFill>
                            <a:srgbClr val="334155"/>
                          </a:solidFill>
                          <a:latin typeface="Plus Jakarta Sans Medium"/>
                        </a:rPr>
                        <a:t>: </a:t>
                      </a:r>
                      <a:r>
                        <a:rPr sz="825" b="0" i="0" u="none" dirty="0" err="1">
                          <a:solidFill>
                            <a:srgbClr val="334155"/>
                          </a:solidFill>
                          <a:latin typeface="Plus Jakarta Sans Medium"/>
                        </a:rPr>
                        <a:t>đảm</a:t>
                      </a:r>
                      <a:r>
                        <a:rPr sz="825" b="0" i="0" u="none" dirty="0">
                          <a:solidFill>
                            <a:srgbClr val="334155"/>
                          </a:solidFill>
                          <a:latin typeface="Plus Jakarta Sans Medium"/>
                        </a:rPr>
                        <a:t> </a:t>
                      </a:r>
                      <a:r>
                        <a:rPr sz="825" b="0" i="0" u="none" dirty="0" err="1">
                          <a:solidFill>
                            <a:srgbClr val="334155"/>
                          </a:solidFill>
                          <a:latin typeface="Plus Jakarta Sans Medium"/>
                        </a:rPr>
                        <a:t>bảo</a:t>
                      </a:r>
                      <a:r>
                        <a:rPr sz="825" b="0" i="0" u="none" dirty="0">
                          <a:solidFill>
                            <a:srgbClr val="334155"/>
                          </a:solidFill>
                          <a:latin typeface="Plus Jakarta Sans Medium"/>
                        </a:rPr>
                        <a:t> an </a:t>
                      </a:r>
                      <a:r>
                        <a:rPr sz="825" b="0" i="0" u="none" dirty="0" err="1">
                          <a:solidFill>
                            <a:srgbClr val="334155"/>
                          </a:solidFill>
                          <a:latin typeface="Plus Jakarta Sans Medium"/>
                        </a:rPr>
                        <a:t>toàn</a:t>
                      </a:r>
                      <a:r>
                        <a:rPr sz="825" b="0" i="0" u="none" dirty="0">
                          <a:solidFill>
                            <a:srgbClr val="334155"/>
                          </a:solidFill>
                          <a:latin typeface="Plus Jakarta Sans Medium"/>
                        </a:rPr>
                        <a:t> &amp; </a:t>
                      </a:r>
                      <a:r>
                        <a:rPr sz="825" b="0" i="0" u="none" dirty="0" err="1">
                          <a:solidFill>
                            <a:srgbClr val="334155"/>
                          </a:solidFill>
                          <a:latin typeface="Plus Jakarta Sans Medium"/>
                        </a:rPr>
                        <a:t>sức</a:t>
                      </a:r>
                      <a:r>
                        <a:rPr sz="825" b="0" i="0" u="none" dirty="0">
                          <a:solidFill>
                            <a:srgbClr val="334155"/>
                          </a:solidFill>
                          <a:latin typeface="Plus Jakarta Sans Medium"/>
                        </a:rPr>
                        <a:t> </a:t>
                      </a:r>
                      <a:r>
                        <a:rPr sz="825" b="0" i="0" u="none" dirty="0" err="1">
                          <a:solidFill>
                            <a:srgbClr val="334155"/>
                          </a:solidFill>
                          <a:latin typeface="Plus Jakarta Sans Medium"/>
                        </a:rPr>
                        <a:t>khỏe</a:t>
                      </a:r>
                      <a:r>
                        <a:rPr sz="825" b="0" i="0" u="none" dirty="0">
                          <a:solidFill>
                            <a:srgbClr val="334155"/>
                          </a:solidFill>
                          <a:latin typeface="Plus Jakarta Sans Medium"/>
                        </a:rPr>
                        <a:t> </a:t>
                      </a:r>
                      <a:r>
                        <a:rPr sz="825" b="0" i="0" u="none" dirty="0" err="1">
                          <a:solidFill>
                            <a:srgbClr val="334155"/>
                          </a:solidFill>
                          <a:latin typeface="Plus Jakarta Sans Medium"/>
                        </a:rPr>
                        <a:t>lâu</a:t>
                      </a:r>
                      <a:r>
                        <a:rPr sz="825" b="0" i="0" u="none" dirty="0">
                          <a:solidFill>
                            <a:srgbClr val="334155"/>
                          </a:solidFill>
                          <a:latin typeface="Plus Jakarta Sans Medium"/>
                        </a:rPr>
                        <a:t> </a:t>
                      </a:r>
                      <a:r>
                        <a:rPr sz="825" b="0" i="0" u="none" dirty="0" err="1">
                          <a:solidFill>
                            <a:srgbClr val="334155"/>
                          </a:solidFill>
                          <a:latin typeface="Plus Jakarta Sans Medium"/>
                        </a:rPr>
                        <a:t>dài</a:t>
                      </a:r>
                      <a:r>
                        <a:rPr sz="825" b="0" i="0" u="none" dirty="0">
                          <a:solidFill>
                            <a:srgbClr val="334155"/>
                          </a:solidFill>
                          <a:latin typeface="Plus Jakarta Sans Medium"/>
                        </a:rPr>
                        <a:t> </a:t>
                      </a:r>
                      <a:r>
                        <a:rPr sz="825" b="0" i="0" u="none" dirty="0" err="1">
                          <a:solidFill>
                            <a:srgbClr val="334155"/>
                          </a:solidFill>
                          <a:latin typeface="Plus Jakarta Sans Medium"/>
                        </a:rPr>
                        <a:t>cho</a:t>
                      </a:r>
                      <a:r>
                        <a:rPr sz="825" b="0" i="0" u="none" dirty="0">
                          <a:solidFill>
                            <a:srgbClr val="334155"/>
                          </a:solidFill>
                          <a:latin typeface="Plus Jakarta Sans Medium"/>
                        </a:rPr>
                        <a:t> CBCNV.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32" name="Rectangle 31">
            <a:extLst>
              <a:ext uri="{FF2B5EF4-FFF2-40B4-BE49-F238E27FC236}">
                <a16:creationId xmlns:a16="http://schemas.microsoft.com/office/drawing/2014/main" id="{EA78D29D-90E0-4980-BF58-D481B5F885AE}"/>
              </a:ext>
            </a:extLst>
          </p:cNvPr>
          <p:cNvSpPr/>
          <p:nvPr/>
        </p:nvSpPr>
        <p:spPr>
          <a:xfrm>
            <a:off x="876300" y="1787652"/>
            <a:ext cx="9525" cy="4000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1906F35-3F92-423E-B6B8-D177CC37CE5A}"/>
              </a:ext>
            </a:extLst>
          </p:cNvPr>
          <p:cNvSpPr/>
          <p:nvPr/>
        </p:nvSpPr>
        <p:spPr>
          <a:xfrm>
            <a:off x="3543300" y="1787652"/>
            <a:ext cx="9525" cy="4000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1B037F3-C53A-41B9-81E8-04EA0D519C1E}"/>
              </a:ext>
            </a:extLst>
          </p:cNvPr>
          <p:cNvSpPr/>
          <p:nvPr/>
        </p:nvSpPr>
        <p:spPr>
          <a:xfrm>
            <a:off x="5257800" y="1787652"/>
            <a:ext cx="9525" cy="4000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F415230-2BA5-4F87-ABA3-66A03F7109A2}"/>
              </a:ext>
            </a:extLst>
          </p:cNvPr>
          <p:cNvSpPr/>
          <p:nvPr/>
        </p:nvSpPr>
        <p:spPr>
          <a:xfrm>
            <a:off x="6019800" y="1787652"/>
            <a:ext cx="9525" cy="4000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56CFD23-96AD-4B0F-9759-8DFB6FD91770}"/>
              </a:ext>
            </a:extLst>
          </p:cNvPr>
          <p:cNvSpPr txBox="1"/>
          <p:nvPr/>
        </p:nvSpPr>
        <p:spPr>
          <a:xfrm>
            <a:off x="609600" y="1216152"/>
            <a:ext cx="2080260" cy="152400"/>
          </a:xfrm>
          <a:prstGeom prst="rect">
            <a:avLst/>
          </a:prstGeom>
          <a:noFill/>
        </p:spPr>
        <p:txBody>
          <a:bodyPr wrap="square" lIns="128587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65F46"/>
                </a:solidFill>
                <a:latin typeface="Plus Jakarta Sans ExtraBold"/>
              </a:rPr>
              <a:t>VA - GIÁ TRỊ GIA TĂNG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E15947C-682B-4F10-BB0E-B5245592AA82}"/>
              </a:ext>
            </a:extLst>
          </p:cNvPr>
          <p:cNvSpPr txBox="1"/>
          <p:nvPr/>
        </p:nvSpPr>
        <p:spPr>
          <a:xfrm>
            <a:off x="609600" y="1387602"/>
            <a:ext cx="198120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065F46"/>
                </a:solidFill>
                <a:latin typeface="Plus Jakarta Sans Medium"/>
              </a:rPr>
              <a:t>Khám lâm sàng, cận lâm sàng &amp; tư vấn SK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9F1186D-27D8-4F34-B3FF-9B872C3B78EC}"/>
              </a:ext>
            </a:extLst>
          </p:cNvPr>
          <p:cNvSpPr txBox="1"/>
          <p:nvPr/>
        </p:nvSpPr>
        <p:spPr>
          <a:xfrm>
            <a:off x="4419600" y="1216152"/>
            <a:ext cx="1880235" cy="152400"/>
          </a:xfrm>
          <a:prstGeom prst="rect">
            <a:avLst/>
          </a:prstGeom>
          <a:noFill/>
        </p:spPr>
        <p:txBody>
          <a:bodyPr wrap="square" lIns="157162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E40AF"/>
                </a:solidFill>
                <a:latin typeface="Plus Jakarta Sans ExtraBold"/>
              </a:rPr>
              <a:t>BVA - GIÁ TRỊ VẬN HÀNH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0428AAA-26D9-4C9F-AE14-F49ECBDAD0D5}"/>
              </a:ext>
            </a:extLst>
          </p:cNvPr>
          <p:cNvSpPr txBox="1"/>
          <p:nvPr/>
        </p:nvSpPr>
        <p:spPr>
          <a:xfrm>
            <a:off x="4419600" y="1387602"/>
            <a:ext cx="179070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1E40AF"/>
                </a:solidFill>
                <a:latin typeface="Plus Jakarta Sans Medium"/>
              </a:rPr>
              <a:t>Khảo sát, lập kế hoạch &amp; hợp đồng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88A29B7-1712-4162-81B8-398FCC8B6418}"/>
              </a:ext>
            </a:extLst>
          </p:cNvPr>
          <p:cNvSpPr txBox="1"/>
          <p:nvPr/>
        </p:nvSpPr>
        <p:spPr>
          <a:xfrm>
            <a:off x="8229600" y="1216152"/>
            <a:ext cx="2025253" cy="152400"/>
          </a:xfrm>
          <a:prstGeom prst="rect">
            <a:avLst/>
          </a:prstGeom>
          <a:noFill/>
        </p:spPr>
        <p:txBody>
          <a:bodyPr wrap="square" lIns="128587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91B1B"/>
                </a:solidFill>
                <a:latin typeface="Plus Jakarta Sans ExtraBold"/>
              </a:rPr>
              <a:t>NVA - LÃNG PHÍ / NGOẠI LỆ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E9B5A93-22DF-489E-AD89-CDF87CB669F3}"/>
              </a:ext>
            </a:extLst>
          </p:cNvPr>
          <p:cNvSpPr txBox="1"/>
          <p:nvPr/>
        </p:nvSpPr>
        <p:spPr>
          <a:xfrm>
            <a:off x="8229600" y="1387602"/>
            <a:ext cx="1928812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991B1B"/>
                </a:solidFill>
                <a:latin typeface="Plus Jakarta Sans Medium"/>
              </a:rPr>
              <a:t>Nhắc nhở do trễ lịch &amp; khám phát sinh</a:t>
            </a:r>
          </a:p>
        </p:txBody>
      </p:sp>
      <p:pic>
        <p:nvPicPr>
          <p:cNvPr id="42" name="Picture 41" descr="image.png">
            <a:extLst>
              <a:ext uri="{FF2B5EF4-FFF2-40B4-BE49-F238E27FC236}">
                <a16:creationId xmlns:a16="http://schemas.microsoft.com/office/drawing/2014/main" id="{55F382CF-765B-4C90-B810-ADFA5DB6924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1235202"/>
            <a:ext cx="128587" cy="123825"/>
          </a:xfrm>
          <a:prstGeom prst="rect">
            <a:avLst/>
          </a:prstGeom>
        </p:spPr>
      </p:pic>
      <p:pic>
        <p:nvPicPr>
          <p:cNvPr id="43" name="Picture 42" descr="image.png">
            <a:extLst>
              <a:ext uri="{FF2B5EF4-FFF2-40B4-BE49-F238E27FC236}">
                <a16:creationId xmlns:a16="http://schemas.microsoft.com/office/drawing/2014/main" id="{79DB5CC0-C1D3-4FA2-B947-B5D0E3395D0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19600" y="1235202"/>
            <a:ext cx="157162" cy="123825"/>
          </a:xfrm>
          <a:prstGeom prst="rect">
            <a:avLst/>
          </a:prstGeom>
        </p:spPr>
      </p:pic>
      <p:pic>
        <p:nvPicPr>
          <p:cNvPr id="44" name="Picture 43" descr="image.png">
            <a:extLst>
              <a:ext uri="{FF2B5EF4-FFF2-40B4-BE49-F238E27FC236}">
                <a16:creationId xmlns:a16="http://schemas.microsoft.com/office/drawing/2014/main" id="{B7DA963E-E384-4E2D-A048-8842AD9D4B6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29600" y="1235202"/>
            <a:ext cx="128587" cy="123825"/>
          </a:xfrm>
          <a:prstGeom prst="rect">
            <a:avLst/>
          </a:prstGeom>
        </p:spPr>
      </p:pic>
      <p:pic>
        <p:nvPicPr>
          <p:cNvPr id="45" name="Picture 44" descr="image.png">
            <a:extLst>
              <a:ext uri="{FF2B5EF4-FFF2-40B4-BE49-F238E27FC236}">
                <a16:creationId xmlns:a16="http://schemas.microsoft.com/office/drawing/2014/main" id="{E8A246C0-6ADF-4FE1-A1F8-C39E3E6A4BE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86400" y="2173414"/>
            <a:ext cx="352425" cy="161925"/>
          </a:xfrm>
          <a:prstGeom prst="rect">
            <a:avLst/>
          </a:prstGeom>
        </p:spPr>
      </p:pic>
      <p:pic>
        <p:nvPicPr>
          <p:cNvPr id="46" name="Picture 45" descr="image.png">
            <a:extLst>
              <a:ext uri="{FF2B5EF4-FFF2-40B4-BE49-F238E27FC236}">
                <a16:creationId xmlns:a16="http://schemas.microsoft.com/office/drawing/2014/main" id="{E0CAC37A-D1EB-4F38-BE38-3B63114E3BC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78462" y="2485358"/>
            <a:ext cx="352425" cy="161925"/>
          </a:xfrm>
          <a:prstGeom prst="rect">
            <a:avLst/>
          </a:prstGeom>
        </p:spPr>
      </p:pic>
      <p:pic>
        <p:nvPicPr>
          <p:cNvPr id="47" name="Picture 46" descr="image.png">
            <a:extLst>
              <a:ext uri="{FF2B5EF4-FFF2-40B4-BE49-F238E27FC236}">
                <a16:creationId xmlns:a16="http://schemas.microsoft.com/office/drawing/2014/main" id="{95677F5F-C48E-4821-98FA-D21B728F9B7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478461" y="2767536"/>
            <a:ext cx="352425" cy="161925"/>
          </a:xfrm>
          <a:prstGeom prst="rect">
            <a:avLst/>
          </a:prstGeom>
        </p:spPr>
      </p:pic>
      <p:pic>
        <p:nvPicPr>
          <p:cNvPr id="48" name="Picture 47" descr="image.png">
            <a:extLst>
              <a:ext uri="{FF2B5EF4-FFF2-40B4-BE49-F238E27FC236}">
                <a16:creationId xmlns:a16="http://schemas.microsoft.com/office/drawing/2014/main" id="{3CDFA866-C18B-42A8-B53E-07506C409A0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478461" y="3049714"/>
            <a:ext cx="352425" cy="161925"/>
          </a:xfrm>
          <a:prstGeom prst="rect">
            <a:avLst/>
          </a:prstGeom>
        </p:spPr>
      </p:pic>
      <p:pic>
        <p:nvPicPr>
          <p:cNvPr id="49" name="Picture 48" descr="image.png">
            <a:extLst>
              <a:ext uri="{FF2B5EF4-FFF2-40B4-BE49-F238E27FC236}">
                <a16:creationId xmlns:a16="http://schemas.microsoft.com/office/drawing/2014/main" id="{E019E4A1-7B7E-4A8C-99BD-8E6ECCEAA43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478462" y="3339433"/>
            <a:ext cx="352425" cy="161925"/>
          </a:xfrm>
          <a:prstGeom prst="rect">
            <a:avLst/>
          </a:prstGeom>
        </p:spPr>
      </p:pic>
      <p:pic>
        <p:nvPicPr>
          <p:cNvPr id="50" name="Picture 49" descr="image.png">
            <a:extLst>
              <a:ext uri="{FF2B5EF4-FFF2-40B4-BE49-F238E27FC236}">
                <a16:creationId xmlns:a16="http://schemas.microsoft.com/office/drawing/2014/main" id="{B03497F1-E7E1-4B2E-A028-4197981854E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472112" y="3640265"/>
            <a:ext cx="352425" cy="161925"/>
          </a:xfrm>
          <a:prstGeom prst="rect">
            <a:avLst/>
          </a:prstGeom>
        </p:spPr>
      </p:pic>
      <p:pic>
        <p:nvPicPr>
          <p:cNvPr id="51" name="Picture 50" descr="image.png">
            <a:extLst>
              <a:ext uri="{FF2B5EF4-FFF2-40B4-BE49-F238E27FC236}">
                <a16:creationId xmlns:a16="http://schemas.microsoft.com/office/drawing/2014/main" id="{203D2117-51D0-499D-95E7-330327F73E6C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511799" y="3921648"/>
            <a:ext cx="285750" cy="161925"/>
          </a:xfrm>
          <a:prstGeom prst="rect">
            <a:avLst/>
          </a:prstGeom>
        </p:spPr>
      </p:pic>
      <p:pic>
        <p:nvPicPr>
          <p:cNvPr id="52" name="Picture 51" descr="image.png">
            <a:extLst>
              <a:ext uri="{FF2B5EF4-FFF2-40B4-BE49-F238E27FC236}">
                <a16:creationId xmlns:a16="http://schemas.microsoft.com/office/drawing/2014/main" id="{CDAD028B-06FC-4ED1-BC33-617CD3BCCB7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505450" y="4245102"/>
            <a:ext cx="285750" cy="161925"/>
          </a:xfrm>
          <a:prstGeom prst="rect">
            <a:avLst/>
          </a:prstGeom>
        </p:spPr>
      </p:pic>
      <p:pic>
        <p:nvPicPr>
          <p:cNvPr id="53" name="Picture 52" descr="image.png">
            <a:extLst>
              <a:ext uri="{FF2B5EF4-FFF2-40B4-BE49-F238E27FC236}">
                <a16:creationId xmlns:a16="http://schemas.microsoft.com/office/drawing/2014/main" id="{EA3E9BBC-891C-4DB1-BE06-E295DB779FA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505450" y="4530852"/>
            <a:ext cx="285750" cy="161925"/>
          </a:xfrm>
          <a:prstGeom prst="rect">
            <a:avLst/>
          </a:prstGeom>
        </p:spPr>
      </p:pic>
      <p:pic>
        <p:nvPicPr>
          <p:cNvPr id="54" name="Picture 53" descr="image.png">
            <a:extLst>
              <a:ext uri="{FF2B5EF4-FFF2-40B4-BE49-F238E27FC236}">
                <a16:creationId xmlns:a16="http://schemas.microsoft.com/office/drawing/2014/main" id="{D8DD99A9-84B2-464D-ACD9-38E0DC931281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505450" y="4816602"/>
            <a:ext cx="285750" cy="161925"/>
          </a:xfrm>
          <a:prstGeom prst="rect">
            <a:avLst/>
          </a:prstGeom>
        </p:spPr>
      </p:pic>
      <p:pic>
        <p:nvPicPr>
          <p:cNvPr id="55" name="Picture 54" descr="image.png">
            <a:extLst>
              <a:ext uri="{FF2B5EF4-FFF2-40B4-BE49-F238E27FC236}">
                <a16:creationId xmlns:a16="http://schemas.microsoft.com/office/drawing/2014/main" id="{7F545B6F-1F03-4F17-95FE-8778421EFA35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472112" y="5102352"/>
            <a:ext cx="352425" cy="161925"/>
          </a:xfrm>
          <a:prstGeom prst="rect">
            <a:avLst/>
          </a:prstGeom>
        </p:spPr>
      </p:pic>
      <p:pic>
        <p:nvPicPr>
          <p:cNvPr id="56" name="Picture 55" descr="image.png">
            <a:extLst>
              <a:ext uri="{FF2B5EF4-FFF2-40B4-BE49-F238E27FC236}">
                <a16:creationId xmlns:a16="http://schemas.microsoft.com/office/drawing/2014/main" id="{E3571527-0197-40FD-8814-1E38D93C7BE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472112" y="5388102"/>
            <a:ext cx="352425" cy="161925"/>
          </a:xfrm>
          <a:prstGeom prst="rect">
            <a:avLst/>
          </a:prstGeom>
        </p:spPr>
      </p:pic>
      <p:pic>
        <p:nvPicPr>
          <p:cNvPr id="57" name="Picture 56" descr="image.png">
            <a:extLst>
              <a:ext uri="{FF2B5EF4-FFF2-40B4-BE49-F238E27FC236}">
                <a16:creationId xmlns:a16="http://schemas.microsoft.com/office/drawing/2014/main" id="{3596E437-85D7-4D31-A708-61F620BFC7FB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472112" y="5673852"/>
            <a:ext cx="352425" cy="161925"/>
          </a:xfrm>
          <a:prstGeom prst="rect">
            <a:avLst/>
          </a:prstGeom>
        </p:spPr>
      </p:pic>
      <p:pic>
        <p:nvPicPr>
          <p:cNvPr id="58" name="Picture 57" descr="image.png">
            <a:extLst>
              <a:ext uri="{FF2B5EF4-FFF2-40B4-BE49-F238E27FC236}">
                <a16:creationId xmlns:a16="http://schemas.microsoft.com/office/drawing/2014/main" id="{CD18E068-9D90-4859-B9AE-B954BA34E873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472112" y="5959602"/>
            <a:ext cx="352425" cy="161925"/>
          </a:xfrm>
          <a:prstGeom prst="rect">
            <a:avLst/>
          </a:prstGeom>
        </p:spPr>
      </p:pic>
      <p:pic>
        <p:nvPicPr>
          <p:cNvPr id="59" name="Picture 58" descr="image.png">
            <a:extLst>
              <a:ext uri="{FF2B5EF4-FFF2-40B4-BE49-F238E27FC236}">
                <a16:creationId xmlns:a16="http://schemas.microsoft.com/office/drawing/2014/main" id="{82E2593C-068D-42EA-8502-41E78D37704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505450" y="6245352"/>
            <a:ext cx="285750" cy="1619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E22F93-6721-2037-DA17-7D87E3A41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1D83F77-301E-8084-2C96-865415241431}"/>
              </a:ext>
            </a:extLst>
          </p:cNvPr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kern="0" spc="100" dirty="0">
                <a:solidFill>
                  <a:srgbClr val="3A8D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04 - PHÂN TÍCH ĐỊNH TÍNH – QUY TRÌNH KHÁM SỨC KHOẺ ĐỊNH KỲ HÀNG NĂM</a:t>
            </a:r>
            <a:endParaRPr lang="en-US" sz="13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09B53F5-08BA-F359-BFCE-CA044A5AFBF8}"/>
              </a:ext>
            </a:extLst>
          </p:cNvPr>
          <p:cNvSpPr/>
          <p:nvPr/>
        </p:nvSpPr>
        <p:spPr>
          <a:xfrm>
            <a:off x="495299" y="475021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</a:t>
            </a:r>
            <a:r>
              <a:rPr lang="en-US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</a:t>
            </a:r>
            <a:r>
              <a:rPr lang="en-US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lãng</a:t>
            </a:r>
            <a:r>
              <a:rPr lang="en-US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phí</a:t>
            </a:r>
            <a:endParaRPr lang="en-US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D698B1A2-34DA-4B6A-BD03-23D62EFE9A21}"/>
              </a:ext>
            </a:extLst>
          </p:cNvPr>
          <p:cNvSpPr/>
          <p:nvPr/>
        </p:nvSpPr>
        <p:spPr>
          <a:xfrm>
            <a:off x="8229600" y="196596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NVA</a:t>
            </a:r>
            <a:endParaRPr lang="en-US" sz="34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8D52C19-5A2C-877C-4A60-7501178D8252}"/>
              </a:ext>
            </a:extLst>
          </p:cNvPr>
          <p:cNvSpPr/>
          <p:nvPr/>
        </p:nvSpPr>
        <p:spPr>
          <a:xfrm>
            <a:off x="8229600" y="26974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Non-Value-Added</a:t>
            </a:r>
            <a:endParaRPr lang="en-US" sz="13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542F88D5-17B7-6ED5-C194-B19A42AB1770}"/>
              </a:ext>
            </a:extLst>
          </p:cNvPr>
          <p:cNvSpPr/>
          <p:nvPr/>
        </p:nvSpPr>
        <p:spPr>
          <a:xfrm>
            <a:off x="1136599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pic>
        <p:nvPicPr>
          <p:cNvPr id="21" name="Picture 20" descr="image.png">
            <a:extLst>
              <a:ext uri="{FF2B5EF4-FFF2-40B4-BE49-F238E27FC236}">
                <a16:creationId xmlns:a16="http://schemas.microsoft.com/office/drawing/2014/main" id="{08EACC71-E26F-4489-AF0D-F1CB5AC263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609725"/>
            <a:ext cx="3708350" cy="552450"/>
          </a:xfrm>
          <a:prstGeom prst="rect">
            <a:avLst/>
          </a:prstGeom>
        </p:spPr>
      </p:pic>
      <p:pic>
        <p:nvPicPr>
          <p:cNvPr id="22" name="Picture 21" descr="image.png">
            <a:extLst>
              <a:ext uri="{FF2B5EF4-FFF2-40B4-BE49-F238E27FC236}">
                <a16:creationId xmlns:a16="http://schemas.microsoft.com/office/drawing/2014/main" id="{36C5AAFF-E3F7-451D-A524-D0B03E6373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2230" y="1609725"/>
            <a:ext cx="3708350" cy="552450"/>
          </a:xfrm>
          <a:prstGeom prst="rect">
            <a:avLst/>
          </a:prstGeom>
        </p:spPr>
      </p:pic>
      <p:pic>
        <p:nvPicPr>
          <p:cNvPr id="23" name="Picture 22" descr="image.png">
            <a:extLst>
              <a:ext uri="{FF2B5EF4-FFF2-40B4-BE49-F238E27FC236}">
                <a16:creationId xmlns:a16="http://schemas.microsoft.com/office/drawing/2014/main" id="{6C37FD66-1FA3-4996-85E6-CF6D85A9A3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2980" y="1609725"/>
            <a:ext cx="3708499" cy="552450"/>
          </a:xfrm>
          <a:prstGeom prst="rect">
            <a:avLst/>
          </a:prstGeom>
        </p:spPr>
      </p:pic>
      <p:pic>
        <p:nvPicPr>
          <p:cNvPr id="25" name="Picture 24" descr="image.png">
            <a:extLst>
              <a:ext uri="{FF2B5EF4-FFF2-40B4-BE49-F238E27FC236}">
                <a16:creationId xmlns:a16="http://schemas.microsoft.com/office/drawing/2014/main" id="{AC315C4E-1BF8-492D-8362-8224D5FBC3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2352675"/>
            <a:ext cx="11430000" cy="990600"/>
          </a:xfrm>
          <a:prstGeom prst="rect">
            <a:avLst/>
          </a:prstGeom>
        </p:spPr>
      </p:pic>
      <p:pic>
        <p:nvPicPr>
          <p:cNvPr id="26" name="Picture 25" descr="image.png">
            <a:extLst>
              <a:ext uri="{FF2B5EF4-FFF2-40B4-BE49-F238E27FC236}">
                <a16:creationId xmlns:a16="http://schemas.microsoft.com/office/drawing/2014/main" id="{1620887B-3447-48AC-91DD-0E176418A94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3476625"/>
            <a:ext cx="11430000" cy="1032271"/>
          </a:xfrm>
          <a:prstGeom prst="rect">
            <a:avLst/>
          </a:prstGeom>
        </p:spPr>
      </p:pic>
      <p:pic>
        <p:nvPicPr>
          <p:cNvPr id="27" name="Picture 26" descr="image.png">
            <a:extLst>
              <a:ext uri="{FF2B5EF4-FFF2-40B4-BE49-F238E27FC236}">
                <a16:creationId xmlns:a16="http://schemas.microsoft.com/office/drawing/2014/main" id="{CEA48144-FC8D-47B4-AED4-DDBAEA301EC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480" y="4642246"/>
            <a:ext cx="11430000" cy="1032271"/>
          </a:xfrm>
          <a:prstGeom prst="rect">
            <a:avLst/>
          </a:prstGeom>
        </p:spPr>
      </p:pic>
      <p:pic>
        <p:nvPicPr>
          <p:cNvPr id="28" name="Picture 27" descr="image.png">
            <a:extLst>
              <a:ext uri="{FF2B5EF4-FFF2-40B4-BE49-F238E27FC236}">
                <a16:creationId xmlns:a16="http://schemas.microsoft.com/office/drawing/2014/main" id="{3543F30E-C0C3-4AB6-A66C-07486813F61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1005" y="2362200"/>
            <a:ext cx="1714500" cy="971550"/>
          </a:xfrm>
          <a:prstGeom prst="rect">
            <a:avLst/>
          </a:prstGeom>
        </p:spPr>
      </p:pic>
      <p:pic>
        <p:nvPicPr>
          <p:cNvPr id="29" name="Picture 28" descr="image.png">
            <a:extLst>
              <a:ext uri="{FF2B5EF4-FFF2-40B4-BE49-F238E27FC236}">
                <a16:creationId xmlns:a16="http://schemas.microsoft.com/office/drawing/2014/main" id="{85E4DFEC-03E7-4A6A-AB19-64867DCBD82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35505" y="2362200"/>
            <a:ext cx="4848225" cy="971550"/>
          </a:xfrm>
          <a:prstGeom prst="rect">
            <a:avLst/>
          </a:prstGeom>
        </p:spPr>
      </p:pic>
      <p:pic>
        <p:nvPicPr>
          <p:cNvPr id="30" name="Picture 29" descr="image.png">
            <a:extLst>
              <a:ext uri="{FF2B5EF4-FFF2-40B4-BE49-F238E27FC236}">
                <a16:creationId xmlns:a16="http://schemas.microsoft.com/office/drawing/2014/main" id="{DA71E0DD-EE08-4FDF-9334-E463386664D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83730" y="2362200"/>
            <a:ext cx="4848225" cy="971550"/>
          </a:xfrm>
          <a:prstGeom prst="rect">
            <a:avLst/>
          </a:prstGeom>
        </p:spPr>
      </p:pic>
      <p:pic>
        <p:nvPicPr>
          <p:cNvPr id="31" name="Picture 30" descr="image.png">
            <a:extLst>
              <a:ext uri="{FF2B5EF4-FFF2-40B4-BE49-F238E27FC236}">
                <a16:creationId xmlns:a16="http://schemas.microsoft.com/office/drawing/2014/main" id="{0062224F-3426-4E15-BA47-4616619F97C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1005" y="3486150"/>
            <a:ext cx="1714500" cy="1013221"/>
          </a:xfrm>
          <a:prstGeom prst="rect">
            <a:avLst/>
          </a:prstGeom>
        </p:spPr>
      </p:pic>
      <p:pic>
        <p:nvPicPr>
          <p:cNvPr id="32" name="Picture 31" descr="image.png">
            <a:extLst>
              <a:ext uri="{FF2B5EF4-FFF2-40B4-BE49-F238E27FC236}">
                <a16:creationId xmlns:a16="http://schemas.microsoft.com/office/drawing/2014/main" id="{F28E129D-9DAC-40A2-961C-D1963F7C06B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35505" y="3486150"/>
            <a:ext cx="4848225" cy="1013221"/>
          </a:xfrm>
          <a:prstGeom prst="rect">
            <a:avLst/>
          </a:prstGeom>
        </p:spPr>
      </p:pic>
      <p:pic>
        <p:nvPicPr>
          <p:cNvPr id="33" name="Picture 32" descr="image.png">
            <a:extLst>
              <a:ext uri="{FF2B5EF4-FFF2-40B4-BE49-F238E27FC236}">
                <a16:creationId xmlns:a16="http://schemas.microsoft.com/office/drawing/2014/main" id="{EC1F5507-5C33-405E-85BE-2819DB2CC9A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83730" y="3486150"/>
            <a:ext cx="4848225" cy="1013221"/>
          </a:xfrm>
          <a:prstGeom prst="rect">
            <a:avLst/>
          </a:prstGeom>
        </p:spPr>
      </p:pic>
      <p:pic>
        <p:nvPicPr>
          <p:cNvPr id="34" name="Picture 33" descr="image.png">
            <a:extLst>
              <a:ext uri="{FF2B5EF4-FFF2-40B4-BE49-F238E27FC236}">
                <a16:creationId xmlns:a16="http://schemas.microsoft.com/office/drawing/2014/main" id="{81710F61-8A78-41E3-AB0E-B9434101CE5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21005" y="4651771"/>
            <a:ext cx="1714500" cy="1013221"/>
          </a:xfrm>
          <a:prstGeom prst="rect">
            <a:avLst/>
          </a:prstGeom>
        </p:spPr>
      </p:pic>
      <p:pic>
        <p:nvPicPr>
          <p:cNvPr id="35" name="Picture 34" descr="image.png">
            <a:extLst>
              <a:ext uri="{FF2B5EF4-FFF2-40B4-BE49-F238E27FC236}">
                <a16:creationId xmlns:a16="http://schemas.microsoft.com/office/drawing/2014/main" id="{C67187C6-6D1C-4A30-BAFD-CDFC8142252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135505" y="4651771"/>
            <a:ext cx="4848225" cy="1013221"/>
          </a:xfrm>
          <a:prstGeom prst="rect">
            <a:avLst/>
          </a:prstGeom>
        </p:spPr>
      </p:pic>
      <p:pic>
        <p:nvPicPr>
          <p:cNvPr id="36" name="Picture 35" descr="image.png">
            <a:extLst>
              <a:ext uri="{FF2B5EF4-FFF2-40B4-BE49-F238E27FC236}">
                <a16:creationId xmlns:a16="http://schemas.microsoft.com/office/drawing/2014/main" id="{8C234CAD-4FEC-42D4-84A3-0F80B1EDBE86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983730" y="4651771"/>
            <a:ext cx="4848225" cy="1013221"/>
          </a:xfrm>
          <a:prstGeom prst="rect">
            <a:avLst/>
          </a:prstGeom>
        </p:spPr>
      </p:pic>
      <p:pic>
        <p:nvPicPr>
          <p:cNvPr id="37" name="Picture 36" descr="image.png">
            <a:extLst>
              <a:ext uri="{FF2B5EF4-FFF2-40B4-BE49-F238E27FC236}">
                <a16:creationId xmlns:a16="http://schemas.microsoft.com/office/drawing/2014/main" id="{D470E59E-85E0-4764-A9F0-F3ADFAC8713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73405" y="1714500"/>
            <a:ext cx="342900" cy="342900"/>
          </a:xfrm>
          <a:prstGeom prst="rect">
            <a:avLst/>
          </a:prstGeom>
        </p:spPr>
      </p:pic>
      <p:pic>
        <p:nvPicPr>
          <p:cNvPr id="38" name="Picture 37" descr="image.png">
            <a:extLst>
              <a:ext uri="{FF2B5EF4-FFF2-40B4-BE49-F238E27FC236}">
                <a16:creationId xmlns:a16="http://schemas.microsoft.com/office/drawing/2014/main" id="{B6746F67-0118-4D4C-87EB-128DB7FDB40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434155" y="1714500"/>
            <a:ext cx="342900" cy="342900"/>
          </a:xfrm>
          <a:prstGeom prst="rect">
            <a:avLst/>
          </a:prstGeom>
        </p:spPr>
      </p:pic>
      <p:pic>
        <p:nvPicPr>
          <p:cNvPr id="39" name="Picture 38" descr="image.png">
            <a:extLst>
              <a:ext uri="{FF2B5EF4-FFF2-40B4-BE49-F238E27FC236}">
                <a16:creationId xmlns:a16="http://schemas.microsoft.com/office/drawing/2014/main" id="{796C848D-F217-4503-9856-542662E63094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294905" y="1714500"/>
            <a:ext cx="342900" cy="342900"/>
          </a:xfrm>
          <a:prstGeom prst="rect">
            <a:avLst/>
          </a:prstGeom>
        </p:spPr>
      </p:pic>
      <p:pic>
        <p:nvPicPr>
          <p:cNvPr id="40" name="Picture 39" descr="image.png">
            <a:extLst>
              <a:ext uri="{FF2B5EF4-FFF2-40B4-BE49-F238E27FC236}">
                <a16:creationId xmlns:a16="http://schemas.microsoft.com/office/drawing/2014/main" id="{AB01C074-4219-407F-BCE6-7745632BBC45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9605" y="1809750"/>
            <a:ext cx="190500" cy="152400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9A868833-D0E7-43EC-AF2A-219337F39465}"/>
              </a:ext>
            </a:extLst>
          </p:cNvPr>
          <p:cNvSpPr txBox="1"/>
          <p:nvPr/>
        </p:nvSpPr>
        <p:spPr>
          <a:xfrm>
            <a:off x="1030605" y="1743075"/>
            <a:ext cx="246030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E293B"/>
                </a:solidFill>
                <a:latin typeface="Inter"/>
              </a:rPr>
              <a:t>MOVE (Di chuyển)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61136E6-648C-4F70-9090-FC1B204DC37E}"/>
              </a:ext>
            </a:extLst>
          </p:cNvPr>
          <p:cNvSpPr txBox="1"/>
          <p:nvPr/>
        </p:nvSpPr>
        <p:spPr>
          <a:xfrm>
            <a:off x="1030605" y="1895475"/>
            <a:ext cx="23431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Inter"/>
              </a:rPr>
              <a:t>Tốn thời gian &amp; công sức di chuyển ngoại viện</a:t>
            </a:r>
          </a:p>
        </p:txBody>
      </p:sp>
      <p:pic>
        <p:nvPicPr>
          <p:cNvPr id="43" name="Picture 42" descr="image.png">
            <a:extLst>
              <a:ext uri="{FF2B5EF4-FFF2-40B4-BE49-F238E27FC236}">
                <a16:creationId xmlns:a16="http://schemas.microsoft.com/office/drawing/2014/main" id="{6AF76769-ED1D-4253-8D23-93FB5FFA23E6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529405" y="1809750"/>
            <a:ext cx="152400" cy="152400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1F828157-E2F9-459B-B4E6-041CF16AA74C}"/>
              </a:ext>
            </a:extLst>
          </p:cNvPr>
          <p:cNvSpPr txBox="1"/>
          <p:nvPr/>
        </p:nvSpPr>
        <p:spPr>
          <a:xfrm>
            <a:off x="4891355" y="1743075"/>
            <a:ext cx="249031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E293B"/>
                </a:solidFill>
                <a:latin typeface="Inter"/>
              </a:rPr>
              <a:t>HOLD (Chờ đợi)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D997310-0754-4150-A1D6-FAB8318E150D}"/>
              </a:ext>
            </a:extLst>
          </p:cNvPr>
          <p:cNvSpPr txBox="1"/>
          <p:nvPr/>
        </p:nvSpPr>
        <p:spPr>
          <a:xfrm>
            <a:off x="4891355" y="1895475"/>
            <a:ext cx="237172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Inter"/>
              </a:rPr>
              <a:t>Nghẽn tiến độ chờ phê duyệt &amp; tổng hợp hồ sơ</a:t>
            </a:r>
          </a:p>
        </p:txBody>
      </p:sp>
      <p:pic>
        <p:nvPicPr>
          <p:cNvPr id="46" name="Picture 45" descr="image.png">
            <a:extLst>
              <a:ext uri="{FF2B5EF4-FFF2-40B4-BE49-F238E27FC236}">
                <a16:creationId xmlns:a16="http://schemas.microsoft.com/office/drawing/2014/main" id="{B471E982-F7CD-4BF8-A15F-AD810D063B89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399680" y="1809750"/>
            <a:ext cx="133350" cy="152400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C72A2543-ED9D-4693-B8A1-6A82D3838606}"/>
              </a:ext>
            </a:extLst>
          </p:cNvPr>
          <p:cNvSpPr txBox="1"/>
          <p:nvPr/>
        </p:nvSpPr>
        <p:spPr>
          <a:xfrm>
            <a:off x="8752105" y="1743075"/>
            <a:ext cx="2340292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E293B"/>
                </a:solidFill>
                <a:latin typeface="Inter"/>
              </a:rPr>
              <a:t>OVERDO (Thực hiện thừa)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12A5447-9E12-442A-9602-1EA5495EA773}"/>
              </a:ext>
            </a:extLst>
          </p:cNvPr>
          <p:cNvSpPr txBox="1"/>
          <p:nvPr/>
        </p:nvSpPr>
        <p:spPr>
          <a:xfrm>
            <a:off x="8752105" y="1895475"/>
            <a:ext cx="22288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Inter"/>
              </a:rPr>
              <a:t>Trùng lặp kênh thông báo &amp; chỉ tiêu kiểm tra</a:t>
            </a:r>
          </a:p>
        </p:txBody>
      </p:sp>
      <p:pic>
        <p:nvPicPr>
          <p:cNvPr id="49" name="Picture 48" descr="image.png">
            <a:extLst>
              <a:ext uri="{FF2B5EF4-FFF2-40B4-BE49-F238E27FC236}">
                <a16:creationId xmlns:a16="http://schemas.microsoft.com/office/drawing/2014/main" id="{8CC274B0-FB72-4C12-BEC1-FBEAA6AC3883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73405" y="2533650"/>
            <a:ext cx="795337" cy="152400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37E005F5-C35B-4434-8025-2D744C63F347}"/>
              </a:ext>
            </a:extLst>
          </p:cNvPr>
          <p:cNvSpPr txBox="1"/>
          <p:nvPr/>
        </p:nvSpPr>
        <p:spPr>
          <a:xfrm>
            <a:off x="573405" y="2743200"/>
            <a:ext cx="571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Inter ExtraBold"/>
              </a:rPr>
              <a:t>MOVE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E195CA7-2F93-4C7E-97A5-0E8C3BE22544}"/>
              </a:ext>
            </a:extLst>
          </p:cNvPr>
          <p:cNvSpPr txBox="1"/>
          <p:nvPr/>
        </p:nvSpPr>
        <p:spPr>
          <a:xfrm>
            <a:off x="573405" y="3028950"/>
            <a:ext cx="92392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Inter Medium"/>
              </a:rPr>
              <a:t>Di chuyển dư thừa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BDBCFDD-C428-4527-8AAA-79722C35ECF5}"/>
              </a:ext>
            </a:extLst>
          </p:cNvPr>
          <p:cNvSpPr txBox="1"/>
          <p:nvPr/>
        </p:nvSpPr>
        <p:spPr>
          <a:xfrm>
            <a:off x="2491799" y="2580084"/>
            <a:ext cx="4291905" cy="133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25" b="1" i="0" u="none">
                <a:solidFill>
                  <a:srgbClr val="DC2626"/>
                </a:solidFill>
                <a:latin typeface="Inter"/>
              </a:rPr>
              <a:t>VÍ DỤ TRONG QUY TRÌNH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9F9C364-B934-4413-A9CD-7CF774C26376}"/>
              </a:ext>
            </a:extLst>
          </p:cNvPr>
          <p:cNvSpPr txBox="1"/>
          <p:nvPr/>
        </p:nvSpPr>
        <p:spPr>
          <a:xfrm>
            <a:off x="2326005" y="2770584"/>
            <a:ext cx="4457700" cy="3452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sz="937" b="0" i="0" u="none">
                <a:solidFill>
                  <a:srgbClr val="334155"/>
                </a:solidFill>
                <a:latin typeface="Inter"/>
              </a:rPr>
              <a:t>CBCNV tại nhà máy/trang trại xa cơ sở y tế phải </a:t>
            </a:r>
            <a:r>
              <a:rPr sz="937" b="1" i="0" u="none">
                <a:solidFill>
                  <a:srgbClr val="0F172A"/>
                </a:solidFill>
                <a:latin typeface="Inter"/>
              </a:rPr>
              <a:t>di chuyển nhiều giờ</a:t>
            </a:r>
            <a:r>
              <a:rPr sz="937" b="0" i="0" u="none">
                <a:solidFill>
                  <a:srgbClr val="334155"/>
                </a:solidFill>
                <a:latin typeface="Inter"/>
              </a:rPr>
              <a:t> để khám; phải di chuyển thêm lần nữa nếu được chỉ định khám chuyên sâu bổ sung.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8B119AA-7E4D-40C9-A210-126CE39DC855}"/>
              </a:ext>
            </a:extLst>
          </p:cNvPr>
          <p:cNvSpPr txBox="1"/>
          <p:nvPr/>
        </p:nvSpPr>
        <p:spPr>
          <a:xfrm>
            <a:off x="7340024" y="2580084"/>
            <a:ext cx="4301430" cy="133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25" b="1" i="0" u="none">
                <a:solidFill>
                  <a:srgbClr val="16A34A"/>
                </a:solidFill>
                <a:latin typeface="Inter"/>
              </a:rPr>
              <a:t>HƯỚNG KHẮC PHỤC TỐI ƯU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0DDFDAC-A4B1-45C4-B5CE-B305AFF93247}"/>
              </a:ext>
            </a:extLst>
          </p:cNvPr>
          <p:cNvSpPr txBox="1"/>
          <p:nvPr/>
        </p:nvSpPr>
        <p:spPr>
          <a:xfrm>
            <a:off x="7174230" y="2770584"/>
            <a:ext cx="4467225" cy="3452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sz="937" b="1" i="0" u="none">
                <a:solidFill>
                  <a:srgbClr val="0F172A"/>
                </a:solidFill>
                <a:latin typeface="Inter"/>
              </a:rPr>
              <a:t>Hợp tác đa cơ sở y tế</a:t>
            </a:r>
            <a:r>
              <a:rPr sz="937" b="0" i="0" u="none">
                <a:solidFill>
                  <a:srgbClr val="334155"/>
                </a:solidFill>
                <a:latin typeface="Inter"/>
              </a:rPr>
              <a:t> theo cụm khu vực; bố trí </a:t>
            </a:r>
            <a:r>
              <a:rPr sz="937" b="1" i="0" u="none">
                <a:solidFill>
                  <a:srgbClr val="0F172A"/>
                </a:solidFill>
                <a:latin typeface="Inter"/>
              </a:rPr>
              <a:t>xe đưa đón tập trung</a:t>
            </a:r>
            <a:r>
              <a:rPr sz="937" b="0" i="0" u="none">
                <a:solidFill>
                  <a:srgbClr val="334155"/>
                </a:solidFill>
                <a:latin typeface="Inter"/>
              </a:rPr>
              <a:t> theo ca để giảm tối đa số lượt di chuyển cá nhân.</a:t>
            </a:r>
          </a:p>
        </p:txBody>
      </p:sp>
      <p:pic>
        <p:nvPicPr>
          <p:cNvPr id="56" name="Picture 55" descr="image.png">
            <a:extLst>
              <a:ext uri="{FF2B5EF4-FFF2-40B4-BE49-F238E27FC236}">
                <a16:creationId xmlns:a16="http://schemas.microsoft.com/office/drawing/2014/main" id="{998E90BB-4C75-497C-843C-7CC2AB3A7FF2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73405" y="3678435"/>
            <a:ext cx="814387" cy="152400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E8669CF4-F04C-4B41-B330-DD94589EC13A}"/>
              </a:ext>
            </a:extLst>
          </p:cNvPr>
          <p:cNvSpPr txBox="1"/>
          <p:nvPr/>
        </p:nvSpPr>
        <p:spPr>
          <a:xfrm>
            <a:off x="573405" y="3887985"/>
            <a:ext cx="5238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Inter ExtraBold"/>
              </a:rPr>
              <a:t>HOLD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E650817-57F1-471D-B32A-9C73531BA06F}"/>
              </a:ext>
            </a:extLst>
          </p:cNvPr>
          <p:cNvSpPr txBox="1"/>
          <p:nvPr/>
        </p:nvSpPr>
        <p:spPr>
          <a:xfrm>
            <a:off x="573405" y="4173735"/>
            <a:ext cx="8953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Inter Medium"/>
              </a:rPr>
              <a:t>Chờ đợi thông tin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4483C0C-FEE5-42DE-9AD9-F48C5F8EF16E}"/>
              </a:ext>
            </a:extLst>
          </p:cNvPr>
          <p:cNvSpPr txBox="1"/>
          <p:nvPr/>
        </p:nvSpPr>
        <p:spPr>
          <a:xfrm>
            <a:off x="2491799" y="3638550"/>
            <a:ext cx="4291905" cy="133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25" b="1" i="0" u="none">
                <a:solidFill>
                  <a:srgbClr val="DC2626"/>
                </a:solidFill>
                <a:latin typeface="Inter"/>
              </a:rPr>
              <a:t>VÍ DỤ TRONG QUY TRÌNH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97E8E8C-2578-4D6A-82A7-328071A1F977}"/>
              </a:ext>
            </a:extLst>
          </p:cNvPr>
          <p:cNvSpPr txBox="1"/>
          <p:nvPr/>
        </p:nvSpPr>
        <p:spPr>
          <a:xfrm>
            <a:off x="2326005" y="3829050"/>
            <a:ext cx="4457700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sz="937" b="0" i="0" u="none">
                <a:solidFill>
                  <a:srgbClr val="334155"/>
                </a:solidFill>
                <a:latin typeface="Inter"/>
              </a:rPr>
              <a:t>Chờ bệnh viện tổng hợp kết quả từ hai nhánh song song (lâm sàng &amp; cận lâm sàng) trước khi lập hồ sơ; </a:t>
            </a:r>
            <a:r>
              <a:rPr sz="937" b="1" i="0" u="none">
                <a:solidFill>
                  <a:srgbClr val="0F172A"/>
                </a:solidFill>
                <a:latin typeface="Inter"/>
              </a:rPr>
              <a:t>chờ Ban Điều hành phê duyệt</a:t>
            </a:r>
            <a:r>
              <a:rPr sz="937" b="0" i="0" u="none">
                <a:solidFill>
                  <a:srgbClr val="334155"/>
                </a:solidFill>
                <a:latin typeface="Inter"/>
              </a:rPr>
              <a:t> phương án hỗ trợ điều trị.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54A19D3-435D-4A8D-9AB3-51B723E4CADE}"/>
              </a:ext>
            </a:extLst>
          </p:cNvPr>
          <p:cNvSpPr txBox="1"/>
          <p:nvPr/>
        </p:nvSpPr>
        <p:spPr>
          <a:xfrm>
            <a:off x="7340024" y="3724870"/>
            <a:ext cx="4301430" cy="133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25" b="1" i="0" u="none">
                <a:solidFill>
                  <a:srgbClr val="16A34A"/>
                </a:solidFill>
                <a:latin typeface="Inter"/>
              </a:rPr>
              <a:t>HƯỚNG KHẮC PHỤC TỐI ƯU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7A3B27B-A030-4CA5-9EBC-B7624F10A783}"/>
              </a:ext>
            </a:extLst>
          </p:cNvPr>
          <p:cNvSpPr txBox="1"/>
          <p:nvPr/>
        </p:nvSpPr>
        <p:spPr>
          <a:xfrm>
            <a:off x="7174230" y="3915370"/>
            <a:ext cx="4467225" cy="3452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sz="937" b="0" i="0" u="none">
                <a:solidFill>
                  <a:srgbClr val="334155"/>
                </a:solidFill>
                <a:latin typeface="Inter"/>
              </a:rPr>
              <a:t>Ứng dụng </a:t>
            </a:r>
            <a:r>
              <a:rPr sz="937" b="1" i="0" u="none">
                <a:solidFill>
                  <a:srgbClr val="0F172A"/>
                </a:solidFill>
                <a:latin typeface="Inter"/>
              </a:rPr>
              <a:t>hệ thống quản lý kết quả khám điện tử</a:t>
            </a:r>
            <a:r>
              <a:rPr sz="937" b="0" i="0" u="none">
                <a:solidFill>
                  <a:srgbClr val="334155"/>
                </a:solidFill>
                <a:latin typeface="Inter"/>
              </a:rPr>
              <a:t> cập nhật thời gian thực; </a:t>
            </a:r>
            <a:r>
              <a:rPr sz="937" b="1" i="0" u="none">
                <a:solidFill>
                  <a:srgbClr val="0F172A"/>
                </a:solidFill>
                <a:latin typeface="Inter"/>
              </a:rPr>
              <a:t>phân cấp phê duyệt</a:t>
            </a:r>
            <a:r>
              <a:rPr sz="937" b="0" i="0" u="none">
                <a:solidFill>
                  <a:srgbClr val="334155"/>
                </a:solidFill>
                <a:latin typeface="Inter"/>
              </a:rPr>
              <a:t> cho các trường hợp hỗ trợ y tế mức độ nhẹ.</a:t>
            </a:r>
          </a:p>
        </p:txBody>
      </p:sp>
      <p:pic>
        <p:nvPicPr>
          <p:cNvPr id="63" name="Picture 62" descr="image.png">
            <a:extLst>
              <a:ext uri="{FF2B5EF4-FFF2-40B4-BE49-F238E27FC236}">
                <a16:creationId xmlns:a16="http://schemas.microsoft.com/office/drawing/2014/main" id="{D16DC603-DC93-4BAF-B08E-3E5073FCF15D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73405" y="4844057"/>
            <a:ext cx="823912" cy="152400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E6AF1058-29D0-4321-A34D-E6BAA1DC1F9D}"/>
              </a:ext>
            </a:extLst>
          </p:cNvPr>
          <p:cNvSpPr txBox="1"/>
          <p:nvPr/>
        </p:nvSpPr>
        <p:spPr>
          <a:xfrm>
            <a:off x="573405" y="5053607"/>
            <a:ext cx="7905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Inter ExtraBold"/>
              </a:rPr>
              <a:t>OVERDO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546A81E-E428-4F25-ACC9-6FA6BD1B05E0}"/>
              </a:ext>
            </a:extLst>
          </p:cNvPr>
          <p:cNvSpPr txBox="1"/>
          <p:nvPr/>
        </p:nvSpPr>
        <p:spPr>
          <a:xfrm>
            <a:off x="573405" y="5339357"/>
            <a:ext cx="8572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Inter Medium"/>
              </a:rPr>
              <a:t>Thao tác dư thừa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25DE0F4-45BF-49AA-BC94-76194A18F578}"/>
              </a:ext>
            </a:extLst>
          </p:cNvPr>
          <p:cNvSpPr txBox="1"/>
          <p:nvPr/>
        </p:nvSpPr>
        <p:spPr>
          <a:xfrm>
            <a:off x="2491799" y="4804171"/>
            <a:ext cx="4291905" cy="133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25" b="1" i="0" u="none">
                <a:solidFill>
                  <a:srgbClr val="DC2626"/>
                </a:solidFill>
                <a:latin typeface="Inter"/>
              </a:rPr>
              <a:t>VÍ DỤ TRONG QUY TRÌNH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A09EFE9-0F2B-4F54-A551-80D9AD8F21FF}"/>
              </a:ext>
            </a:extLst>
          </p:cNvPr>
          <p:cNvSpPr txBox="1"/>
          <p:nvPr/>
        </p:nvSpPr>
        <p:spPr>
          <a:xfrm>
            <a:off x="2326005" y="4994671"/>
            <a:ext cx="4457700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sz="937" b="0" i="0" u="none">
                <a:solidFill>
                  <a:srgbClr val="334155"/>
                </a:solidFill>
                <a:latin typeface="Inter"/>
              </a:rPr>
              <a:t>Gửi thông báo lịch khám qua </a:t>
            </a:r>
            <a:r>
              <a:rPr sz="937" b="1" i="0" u="none">
                <a:solidFill>
                  <a:srgbClr val="0F172A"/>
                </a:solidFill>
                <a:latin typeface="Inter"/>
              </a:rPr>
              <a:t>nhiều kênh trùng lặp</a:t>
            </a:r>
            <a:r>
              <a:rPr sz="937" b="0" i="0" u="none">
                <a:solidFill>
                  <a:srgbClr val="334155"/>
                </a:solidFill>
                <a:latin typeface="Inter"/>
              </a:rPr>
              <a:t> (email, bảng tin, tin nhắn); khám lại các chỉ tiêu cơ bản cho nhân viên vừa khám sức khỏe ở nơi khác trong năm.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8D9A8E9-303D-464E-A063-1E2E42A40342}"/>
              </a:ext>
            </a:extLst>
          </p:cNvPr>
          <p:cNvSpPr txBox="1"/>
          <p:nvPr/>
        </p:nvSpPr>
        <p:spPr>
          <a:xfrm>
            <a:off x="7340024" y="4890492"/>
            <a:ext cx="4301430" cy="133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25" b="1" i="0" u="none">
                <a:solidFill>
                  <a:srgbClr val="16A34A"/>
                </a:solidFill>
                <a:latin typeface="Inter"/>
              </a:rPr>
              <a:t>HƯỚNG KHẮC PHỤC TỐI ƯU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5E70471-EA06-47D4-82F6-95F796AB2053}"/>
              </a:ext>
            </a:extLst>
          </p:cNvPr>
          <p:cNvSpPr txBox="1"/>
          <p:nvPr/>
        </p:nvSpPr>
        <p:spPr>
          <a:xfrm>
            <a:off x="7174230" y="5080992"/>
            <a:ext cx="4467225" cy="3452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sz="937" b="1" i="0" u="none">
                <a:solidFill>
                  <a:srgbClr val="0F172A"/>
                </a:solidFill>
                <a:latin typeface="Inter"/>
              </a:rPr>
              <a:t>Chuẩn hóa 01 kênh thông báo chính</a:t>
            </a:r>
            <a:r>
              <a:rPr sz="937" b="0" i="0" u="none">
                <a:solidFill>
                  <a:srgbClr val="334155"/>
                </a:solidFill>
                <a:latin typeface="Inter"/>
              </a:rPr>
              <a:t> có xác nhận đã đọc; cho phép nộp kết quả khám gần nhất (trong 6 tháng) để </a:t>
            </a:r>
            <a:r>
              <a:rPr sz="937" b="1" i="0" u="none">
                <a:solidFill>
                  <a:srgbClr val="0F172A"/>
                </a:solidFill>
                <a:latin typeface="Inter"/>
              </a:rPr>
              <a:t>miễn giảm hạng mục trùng lặp</a:t>
            </a:r>
            <a:r>
              <a:rPr sz="937" b="0" i="0" u="none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pic>
        <p:nvPicPr>
          <p:cNvPr id="70" name="Picture 69" descr="image.png">
            <a:extLst>
              <a:ext uri="{FF2B5EF4-FFF2-40B4-BE49-F238E27FC236}">
                <a16:creationId xmlns:a16="http://schemas.microsoft.com/office/drawing/2014/main" id="{159CAC1A-9FED-46D0-AC05-1B7029C4EE9F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326005" y="2594371"/>
            <a:ext cx="108644" cy="104775"/>
          </a:xfrm>
          <a:prstGeom prst="rect">
            <a:avLst/>
          </a:prstGeom>
        </p:spPr>
      </p:pic>
      <p:pic>
        <p:nvPicPr>
          <p:cNvPr id="71" name="Picture 70" descr="image.png">
            <a:extLst>
              <a:ext uri="{FF2B5EF4-FFF2-40B4-BE49-F238E27FC236}">
                <a16:creationId xmlns:a16="http://schemas.microsoft.com/office/drawing/2014/main" id="{67D9ABCB-2234-4EC8-8CDE-9F81950A9CDC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174230" y="2594371"/>
            <a:ext cx="108644" cy="104775"/>
          </a:xfrm>
          <a:prstGeom prst="rect">
            <a:avLst/>
          </a:prstGeom>
        </p:spPr>
      </p:pic>
      <p:pic>
        <p:nvPicPr>
          <p:cNvPr id="72" name="Picture 71" descr="image.png">
            <a:extLst>
              <a:ext uri="{FF2B5EF4-FFF2-40B4-BE49-F238E27FC236}">
                <a16:creationId xmlns:a16="http://schemas.microsoft.com/office/drawing/2014/main" id="{DC34365C-6BCA-4EE2-8C76-8624E2500E7D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326005" y="3652837"/>
            <a:ext cx="108644" cy="104775"/>
          </a:xfrm>
          <a:prstGeom prst="rect">
            <a:avLst/>
          </a:prstGeom>
        </p:spPr>
      </p:pic>
      <p:pic>
        <p:nvPicPr>
          <p:cNvPr id="73" name="Picture 72" descr="image.png">
            <a:extLst>
              <a:ext uri="{FF2B5EF4-FFF2-40B4-BE49-F238E27FC236}">
                <a16:creationId xmlns:a16="http://schemas.microsoft.com/office/drawing/2014/main" id="{F05476CD-D851-4D7E-8E4F-CEB82D02F949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174230" y="3739157"/>
            <a:ext cx="108644" cy="104775"/>
          </a:xfrm>
          <a:prstGeom prst="rect">
            <a:avLst/>
          </a:prstGeom>
        </p:spPr>
      </p:pic>
      <p:pic>
        <p:nvPicPr>
          <p:cNvPr id="74" name="Picture 73" descr="image.png">
            <a:extLst>
              <a:ext uri="{FF2B5EF4-FFF2-40B4-BE49-F238E27FC236}">
                <a16:creationId xmlns:a16="http://schemas.microsoft.com/office/drawing/2014/main" id="{0585D1CF-9A5E-48F2-A272-A1EFDC16D2F9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326005" y="4818459"/>
            <a:ext cx="108644" cy="104775"/>
          </a:xfrm>
          <a:prstGeom prst="rect">
            <a:avLst/>
          </a:prstGeom>
        </p:spPr>
      </p:pic>
      <p:pic>
        <p:nvPicPr>
          <p:cNvPr id="75" name="Picture 74" descr="image.png">
            <a:extLst>
              <a:ext uri="{FF2B5EF4-FFF2-40B4-BE49-F238E27FC236}">
                <a16:creationId xmlns:a16="http://schemas.microsoft.com/office/drawing/2014/main" id="{34CCD3A3-1DA3-410E-9E37-4474270042D5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174230" y="4904779"/>
            <a:ext cx="108644" cy="10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1809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kern="0" spc="100" dirty="0">
                <a:solidFill>
                  <a:srgbClr val="3A8D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04 - PHÂN TÍCH ĐỊNH TÍNH – QUY TRÌNH KHÁM SỨC KHOẺ ĐỊNH KỲ HÀNG NĂM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</a:t>
            </a:r>
            <a:r>
              <a:rPr lang="en-US" sz="29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900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</a:t>
            </a:r>
            <a:r>
              <a:rPr lang="en-US" sz="29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900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</a:t>
            </a:r>
            <a:r>
              <a:rPr lang="en-US" sz="29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900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bên</a:t>
            </a:r>
            <a:r>
              <a:rPr lang="en-US" sz="29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900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liên</a:t>
            </a:r>
            <a:r>
              <a:rPr lang="en-US" sz="29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900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75488" y="1609531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Phòng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Nhân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sự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(HR) / Ban HSE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3383280"/>
            <a:ext cx="2103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CỐT LÕI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36599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29" name="Text 3">
            <a:extLst>
              <a:ext uri="{FF2B5EF4-FFF2-40B4-BE49-F238E27FC236}">
                <a16:creationId xmlns:a16="http://schemas.microsoft.com/office/drawing/2014/main" id="{05E11CF6-A5C7-4C70-B595-363FA3DE59C0}"/>
              </a:ext>
            </a:extLst>
          </p:cNvPr>
          <p:cNvSpPr/>
          <p:nvPr/>
        </p:nvSpPr>
        <p:spPr>
          <a:xfrm>
            <a:off x="510073" y="5606136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vi-VN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tế cơ quan / Ban Điều hành</a:t>
            </a:r>
            <a:endParaRPr lang="en-US" sz="1600" dirty="0"/>
          </a:p>
        </p:txBody>
      </p:sp>
      <p:sp>
        <p:nvSpPr>
          <p:cNvPr id="33" name="Text 3">
            <a:extLst>
              <a:ext uri="{FF2B5EF4-FFF2-40B4-BE49-F238E27FC236}">
                <a16:creationId xmlns:a16="http://schemas.microsoft.com/office/drawing/2014/main" id="{0F4A45A4-1193-4223-BDB0-41CC89393978}"/>
              </a:ext>
            </a:extLst>
          </p:cNvPr>
          <p:cNvSpPr/>
          <p:nvPr/>
        </p:nvSpPr>
        <p:spPr>
          <a:xfrm>
            <a:off x="518160" y="2899862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vi-VN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Bệnh viện / Cơ sở y tế hợp tác</a:t>
            </a:r>
            <a:endParaRPr lang="en-US" sz="1600" dirty="0"/>
          </a:p>
        </p:txBody>
      </p:sp>
      <p:pic>
        <p:nvPicPr>
          <p:cNvPr id="34" name="Picture 33" descr="image.png">
            <a:extLst>
              <a:ext uri="{FF2B5EF4-FFF2-40B4-BE49-F238E27FC236}">
                <a16:creationId xmlns:a16="http://schemas.microsoft.com/office/drawing/2014/main" id="{67F0FA22-CD48-4CF0-81E8-2A95604889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5638" y="1339528"/>
            <a:ext cx="8572500" cy="5180144"/>
          </a:xfrm>
          <a:prstGeom prst="rect">
            <a:avLst/>
          </a:prstGeom>
        </p:spPr>
      </p:pic>
      <p:pic>
        <p:nvPicPr>
          <p:cNvPr id="35" name="Picture 34" descr="image.png">
            <a:extLst>
              <a:ext uri="{FF2B5EF4-FFF2-40B4-BE49-F238E27FC236}">
                <a16:creationId xmlns:a16="http://schemas.microsoft.com/office/drawing/2014/main" id="{998487CA-4FA3-46CF-9707-A6873FD1EF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1385018"/>
            <a:ext cx="2476500" cy="1009650"/>
          </a:xfrm>
          <a:prstGeom prst="rect">
            <a:avLst/>
          </a:prstGeom>
        </p:spPr>
      </p:pic>
      <p:pic>
        <p:nvPicPr>
          <p:cNvPr id="36" name="Picture 35" descr="image.png">
            <a:extLst>
              <a:ext uri="{FF2B5EF4-FFF2-40B4-BE49-F238E27FC236}">
                <a16:creationId xmlns:a16="http://schemas.microsoft.com/office/drawing/2014/main" id="{6FC7899B-D642-43EE-83D4-2082A09CA2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697" y="2738366"/>
            <a:ext cx="2476500" cy="1009650"/>
          </a:xfrm>
          <a:prstGeom prst="rect">
            <a:avLst/>
          </a:prstGeom>
        </p:spPr>
      </p:pic>
      <p:pic>
        <p:nvPicPr>
          <p:cNvPr id="37" name="Picture 36" descr="image.png">
            <a:extLst>
              <a:ext uri="{FF2B5EF4-FFF2-40B4-BE49-F238E27FC236}">
                <a16:creationId xmlns:a16="http://schemas.microsoft.com/office/drawing/2014/main" id="{DBC94B69-2408-48B5-97E3-43304503B4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3862" y="4112752"/>
            <a:ext cx="2476500" cy="1009650"/>
          </a:xfrm>
          <a:prstGeom prst="rect">
            <a:avLst/>
          </a:prstGeom>
        </p:spPr>
      </p:pic>
      <p:pic>
        <p:nvPicPr>
          <p:cNvPr id="38" name="Picture 37" descr="image.png">
            <a:extLst>
              <a:ext uri="{FF2B5EF4-FFF2-40B4-BE49-F238E27FC236}">
                <a16:creationId xmlns:a16="http://schemas.microsoft.com/office/drawing/2014/main" id="{D308FAC1-8962-4EFE-872E-D0BA8BB071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3862" y="5444203"/>
            <a:ext cx="2476500" cy="1009650"/>
          </a:xfrm>
          <a:prstGeom prst="rect">
            <a:avLst/>
          </a:prstGeom>
        </p:spPr>
      </p:pic>
      <p:pic>
        <p:nvPicPr>
          <p:cNvPr id="39" name="Picture 38" descr="image.png">
            <a:extLst>
              <a:ext uri="{FF2B5EF4-FFF2-40B4-BE49-F238E27FC236}">
                <a16:creationId xmlns:a16="http://schemas.microsoft.com/office/drawing/2014/main" id="{42E99886-21F6-43A2-AD21-B6D3E6ED03C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43275" y="1400363"/>
            <a:ext cx="8172450" cy="1009650"/>
          </a:xfrm>
          <a:prstGeom prst="rect">
            <a:avLst/>
          </a:prstGeom>
        </p:spPr>
      </p:pic>
      <p:pic>
        <p:nvPicPr>
          <p:cNvPr id="40" name="Picture 39" descr="image.png">
            <a:extLst>
              <a:ext uri="{FF2B5EF4-FFF2-40B4-BE49-F238E27FC236}">
                <a16:creationId xmlns:a16="http://schemas.microsoft.com/office/drawing/2014/main" id="{AA6C1EE6-8CCF-4F21-A26E-80F85D758F6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43275" y="2676525"/>
            <a:ext cx="8172450" cy="1009650"/>
          </a:xfrm>
          <a:prstGeom prst="rect">
            <a:avLst/>
          </a:prstGeom>
        </p:spPr>
      </p:pic>
      <p:pic>
        <p:nvPicPr>
          <p:cNvPr id="41" name="Picture 40" descr="image.png">
            <a:extLst>
              <a:ext uri="{FF2B5EF4-FFF2-40B4-BE49-F238E27FC236}">
                <a16:creationId xmlns:a16="http://schemas.microsoft.com/office/drawing/2014/main" id="{3659DC98-A868-486D-8535-4097582E177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43275" y="3990975"/>
            <a:ext cx="8172450" cy="1009650"/>
          </a:xfrm>
          <a:prstGeom prst="rect">
            <a:avLst/>
          </a:prstGeom>
        </p:spPr>
      </p:pic>
      <p:pic>
        <p:nvPicPr>
          <p:cNvPr id="42" name="Picture 41" descr="image.png">
            <a:extLst>
              <a:ext uri="{FF2B5EF4-FFF2-40B4-BE49-F238E27FC236}">
                <a16:creationId xmlns:a16="http://schemas.microsoft.com/office/drawing/2014/main" id="{2CEBF400-985C-4139-A93F-9E1BBDB6AB7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43275" y="5305425"/>
            <a:ext cx="8172450" cy="1009650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B8DA434F-4D0B-4890-916A-539B0B1C2D41}"/>
              </a:ext>
            </a:extLst>
          </p:cNvPr>
          <p:cNvSpPr txBox="1"/>
          <p:nvPr/>
        </p:nvSpPr>
        <p:spPr>
          <a:xfrm>
            <a:off x="3719512" y="1618803"/>
            <a:ext cx="2406848" cy="1238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25" b="1" i="0" u="none">
                <a:solidFill>
                  <a:srgbClr val="1E40AF"/>
                </a:solidFill>
                <a:latin typeface="Plus Jakarta Sans"/>
              </a:rPr>
              <a:t>VAI TRÒ &amp; MỐI QUAN TÂM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90E4E49-446F-436C-9FA3-CF0717D2CC32}"/>
              </a:ext>
            </a:extLst>
          </p:cNvPr>
          <p:cNvSpPr txBox="1"/>
          <p:nvPr/>
        </p:nvSpPr>
        <p:spPr>
          <a:xfrm>
            <a:off x="3552825" y="1780728"/>
            <a:ext cx="2573535" cy="3342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sz="975" b="0" i="0" u="none">
                <a:solidFill>
                  <a:srgbClr val="334155"/>
                </a:solidFill>
                <a:latin typeface="Plus Jakarta Sans Medium"/>
              </a:rPr>
              <a:t>Lập kế hoạch, điều phối &amp; báo cáo; đạt </a:t>
            </a:r>
            <a:r>
              <a:rPr sz="975" b="1" i="0" u="none">
                <a:solidFill>
                  <a:srgbClr val="0F172A"/>
                </a:solidFill>
                <a:latin typeface="Plus Jakarta Sans"/>
              </a:rPr>
              <a:t>100% tỷ lệ tham gia</a:t>
            </a:r>
            <a:r>
              <a:rPr sz="975" b="0" i="0" u="none">
                <a:solidFill>
                  <a:srgbClr val="334155"/>
                </a:solidFill>
                <a:latin typeface="Plus Jakarta Sans Medium"/>
              </a:rPr>
              <a:t> đúng ngân sách.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B5E1216-FBCF-4308-B081-7ED020BBCFA1}"/>
              </a:ext>
            </a:extLst>
          </p:cNvPr>
          <p:cNvSpPr txBox="1"/>
          <p:nvPr/>
        </p:nvSpPr>
        <p:spPr>
          <a:xfrm>
            <a:off x="6445448" y="1618803"/>
            <a:ext cx="2172890" cy="1238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25" b="1" i="0" u="none">
                <a:solidFill>
                  <a:srgbClr val="B91C1C"/>
                </a:solidFill>
                <a:latin typeface="Plus Jakarta Sans"/>
              </a:rPr>
              <a:t>VẤN ĐỀ THƯỜNG GẶP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EFD2EC0-2962-48E5-B3C0-BADC56FC5326}"/>
              </a:ext>
            </a:extLst>
          </p:cNvPr>
          <p:cNvSpPr txBox="1"/>
          <p:nvPr/>
        </p:nvSpPr>
        <p:spPr>
          <a:xfrm>
            <a:off x="6278760" y="1780728"/>
            <a:ext cx="2339578" cy="3342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sz="975" b="0" i="0" u="none">
                <a:solidFill>
                  <a:srgbClr val="334155"/>
                </a:solidFill>
                <a:latin typeface="Plus Jakarta Sans Medium"/>
              </a:rPr>
              <a:t>Thông báo chưa phủ hết đơn vị vận hành xa (nhà máy, trang trại).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407CADF-5672-4762-81C6-39D4DF12053C}"/>
              </a:ext>
            </a:extLst>
          </p:cNvPr>
          <p:cNvSpPr txBox="1"/>
          <p:nvPr/>
        </p:nvSpPr>
        <p:spPr>
          <a:xfrm>
            <a:off x="8908851" y="1618803"/>
            <a:ext cx="2435423" cy="1238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25" b="1" i="0" u="none">
                <a:solidFill>
                  <a:srgbClr val="047857"/>
                </a:solidFill>
                <a:latin typeface="Plus Jakarta Sans"/>
              </a:rPr>
              <a:t>MONG MUỐN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70DF6ED-1139-4452-8D46-75E4ABCD1D2D}"/>
              </a:ext>
            </a:extLst>
          </p:cNvPr>
          <p:cNvSpPr txBox="1"/>
          <p:nvPr/>
        </p:nvSpPr>
        <p:spPr>
          <a:xfrm>
            <a:off x="8770739" y="1780728"/>
            <a:ext cx="2573535" cy="3342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sz="975" b="0" i="0" u="none">
                <a:solidFill>
                  <a:srgbClr val="334155"/>
                </a:solidFill>
                <a:latin typeface="Plus Jakarta Sans Medium"/>
              </a:rPr>
              <a:t>Hệ thống </a:t>
            </a:r>
            <a:r>
              <a:rPr sz="975" b="1" i="0" u="none">
                <a:solidFill>
                  <a:srgbClr val="0F172A"/>
                </a:solidFill>
                <a:latin typeface="Plus Jakarta Sans"/>
              </a:rPr>
              <a:t>đăng ký &amp; nhắc lịch tự động</a:t>
            </a:r>
            <a:r>
              <a:rPr sz="975" b="0" i="0" u="none">
                <a:solidFill>
                  <a:srgbClr val="334155"/>
                </a:solidFill>
                <a:latin typeface="Plus Jakarta Sans Medium"/>
              </a:rPr>
              <a:t> đa kênh.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D406A86-DFB1-44B6-A1B8-648032F822D1}"/>
              </a:ext>
            </a:extLst>
          </p:cNvPr>
          <p:cNvSpPr txBox="1"/>
          <p:nvPr/>
        </p:nvSpPr>
        <p:spPr>
          <a:xfrm>
            <a:off x="3719512" y="2933253"/>
            <a:ext cx="2406848" cy="1238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25" b="1" i="0" u="none">
                <a:solidFill>
                  <a:srgbClr val="1E40AF"/>
                </a:solidFill>
                <a:latin typeface="Plus Jakarta Sans"/>
              </a:rPr>
              <a:t>VAI TRÒ &amp; MỐI QUAN TÂM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BDA4939-5385-4263-A0B3-B3CDB6DDC646}"/>
              </a:ext>
            </a:extLst>
          </p:cNvPr>
          <p:cNvSpPr txBox="1"/>
          <p:nvPr/>
        </p:nvSpPr>
        <p:spPr>
          <a:xfrm>
            <a:off x="3552825" y="3095178"/>
            <a:ext cx="2573535" cy="3342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sz="975" b="0" i="0" u="none">
                <a:solidFill>
                  <a:srgbClr val="334155"/>
                </a:solidFill>
                <a:latin typeface="Plus Jakarta Sans Medium"/>
              </a:rPr>
              <a:t>Khám &amp; trả kết quả; đảm bảo </a:t>
            </a:r>
            <a:r>
              <a:rPr sz="975" b="1" i="0" u="none">
                <a:solidFill>
                  <a:srgbClr val="0F172A"/>
                </a:solidFill>
                <a:latin typeface="Plus Jakarta Sans"/>
              </a:rPr>
              <a:t>đủ nhân lực y tế</a:t>
            </a:r>
            <a:r>
              <a:rPr sz="975" b="0" i="0" u="none">
                <a:solidFill>
                  <a:srgbClr val="334155"/>
                </a:solidFill>
                <a:latin typeface="Plus Jakarta Sans Medium"/>
              </a:rPr>
              <a:t> theo khung giờ.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FE6AE4E-F01A-4EBF-A982-C8AD76A364D9}"/>
              </a:ext>
            </a:extLst>
          </p:cNvPr>
          <p:cNvSpPr txBox="1"/>
          <p:nvPr/>
        </p:nvSpPr>
        <p:spPr>
          <a:xfrm>
            <a:off x="6445448" y="2933253"/>
            <a:ext cx="2172890" cy="1238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25" b="1" i="0" u="none">
                <a:solidFill>
                  <a:srgbClr val="B91C1C"/>
                </a:solidFill>
                <a:latin typeface="Plus Jakarta Sans"/>
              </a:rPr>
              <a:t>VẤN ĐỀ THƯỜNG GẶP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090F946-67AC-49AE-915B-968E21E6AF60}"/>
              </a:ext>
            </a:extLst>
          </p:cNvPr>
          <p:cNvSpPr txBox="1"/>
          <p:nvPr/>
        </p:nvSpPr>
        <p:spPr>
          <a:xfrm>
            <a:off x="6278760" y="3095178"/>
            <a:ext cx="2339578" cy="3342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sz="975" b="0" i="0" u="none">
                <a:solidFill>
                  <a:srgbClr val="334155"/>
                </a:solidFill>
                <a:latin typeface="Plus Jakarta Sans Medium"/>
              </a:rPr>
              <a:t>Quá tải giờ cao điểm do CBCNV dồn lịch khám cùng lúc.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B1F8612-B729-440F-B1A4-BCF5C22BF5D2}"/>
              </a:ext>
            </a:extLst>
          </p:cNvPr>
          <p:cNvSpPr txBox="1"/>
          <p:nvPr/>
        </p:nvSpPr>
        <p:spPr>
          <a:xfrm>
            <a:off x="8908851" y="2933253"/>
            <a:ext cx="2435423" cy="1238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25" b="1" i="0" u="none">
                <a:solidFill>
                  <a:srgbClr val="047857"/>
                </a:solidFill>
                <a:latin typeface="Plus Jakarta Sans"/>
              </a:rPr>
              <a:t>MONG MUỐN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9CEC807-7BB3-416D-8A35-721C0EEA96A0}"/>
              </a:ext>
            </a:extLst>
          </p:cNvPr>
          <p:cNvSpPr txBox="1"/>
          <p:nvPr/>
        </p:nvSpPr>
        <p:spPr>
          <a:xfrm>
            <a:off x="8770739" y="3095178"/>
            <a:ext cx="2573535" cy="3342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sz="975" b="0" i="0" u="none">
                <a:solidFill>
                  <a:srgbClr val="334155"/>
                </a:solidFill>
                <a:latin typeface="Plus Jakarta Sans Medium"/>
              </a:rPr>
              <a:t>Nhận danh sách đăng ký trước để </a:t>
            </a:r>
            <a:r>
              <a:rPr sz="975" b="1" i="0" u="none">
                <a:solidFill>
                  <a:srgbClr val="0F172A"/>
                </a:solidFill>
                <a:latin typeface="Plus Jakarta Sans"/>
              </a:rPr>
              <a:t>chủ động phân ca</a:t>
            </a:r>
            <a:r>
              <a:rPr sz="975" b="0" i="0" u="none">
                <a:solidFill>
                  <a:srgbClr val="334155"/>
                </a:solidFill>
                <a:latin typeface="Plus Jakarta Sans Medium"/>
              </a:rPr>
              <a:t>.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0ED8FE5-9D1B-4F51-9817-6EE4D5C3EAA0}"/>
              </a:ext>
            </a:extLst>
          </p:cNvPr>
          <p:cNvSpPr txBox="1"/>
          <p:nvPr/>
        </p:nvSpPr>
        <p:spPr>
          <a:xfrm>
            <a:off x="3719512" y="4247703"/>
            <a:ext cx="2406848" cy="1238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25" b="1" i="0" u="none">
                <a:solidFill>
                  <a:srgbClr val="1E40AF"/>
                </a:solidFill>
                <a:latin typeface="Plus Jakarta Sans"/>
              </a:rPr>
              <a:t>VAI TRÒ &amp; MỐI QUAN TÂM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C488719-31A0-40AC-A399-F955E9A7A279}"/>
              </a:ext>
            </a:extLst>
          </p:cNvPr>
          <p:cNvSpPr txBox="1"/>
          <p:nvPr/>
        </p:nvSpPr>
        <p:spPr>
          <a:xfrm>
            <a:off x="3552825" y="4409628"/>
            <a:ext cx="2573535" cy="3342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sz="975" b="0" i="0" u="none">
                <a:solidFill>
                  <a:srgbClr val="334155"/>
                </a:solidFill>
                <a:latin typeface="Plus Jakarta Sans Medium"/>
              </a:rPr>
              <a:t>Trực tiếp khám; ít ảnh hưởng công việc &amp; </a:t>
            </a:r>
            <a:r>
              <a:rPr sz="975" b="1" i="0" u="none">
                <a:solidFill>
                  <a:srgbClr val="0F172A"/>
                </a:solidFill>
                <a:latin typeface="Plus Jakarta Sans"/>
              </a:rPr>
              <a:t>bảo mật kết quả</a:t>
            </a:r>
            <a:r>
              <a:rPr sz="975" b="0" i="0" u="none">
                <a:solidFill>
                  <a:srgbClr val="334155"/>
                </a:solidFill>
                <a:latin typeface="Plus Jakarta Sans Medium"/>
              </a:rPr>
              <a:t>.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C9B90C2-6F84-41C7-B5AE-DBBCB3E4207F}"/>
              </a:ext>
            </a:extLst>
          </p:cNvPr>
          <p:cNvSpPr txBox="1"/>
          <p:nvPr/>
        </p:nvSpPr>
        <p:spPr>
          <a:xfrm>
            <a:off x="6445448" y="4247703"/>
            <a:ext cx="2172890" cy="1238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25" b="1" i="0" u="none">
                <a:solidFill>
                  <a:srgbClr val="B91C1C"/>
                </a:solidFill>
                <a:latin typeface="Plus Jakarta Sans"/>
              </a:rPr>
              <a:t>VẤN ĐỀ THƯỜNG GẶP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0E00A41-0A80-4E1A-B12D-93868CB2D637}"/>
              </a:ext>
            </a:extLst>
          </p:cNvPr>
          <p:cNvSpPr txBox="1"/>
          <p:nvPr/>
        </p:nvSpPr>
        <p:spPr>
          <a:xfrm>
            <a:off x="6278760" y="4409628"/>
            <a:ext cx="2339578" cy="3342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sz="975" b="0" i="0" u="none">
                <a:solidFill>
                  <a:srgbClr val="334155"/>
                </a:solidFill>
                <a:latin typeface="Plus Jakarta Sans Medium"/>
              </a:rPr>
              <a:t>Lịch khám cố định dễ trùng với ca sản xuất / lịch trực.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67E27FC-DCBE-4534-B61D-5EF54A9294DD}"/>
              </a:ext>
            </a:extLst>
          </p:cNvPr>
          <p:cNvSpPr txBox="1"/>
          <p:nvPr/>
        </p:nvSpPr>
        <p:spPr>
          <a:xfrm>
            <a:off x="8908851" y="4247703"/>
            <a:ext cx="2435423" cy="1238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25" b="1" i="0" u="none">
                <a:solidFill>
                  <a:srgbClr val="047857"/>
                </a:solidFill>
                <a:latin typeface="Plus Jakarta Sans"/>
              </a:rPr>
              <a:t>MONG MUỐN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2B61766-34CB-42B3-AA26-4873BC6E68E5}"/>
              </a:ext>
            </a:extLst>
          </p:cNvPr>
          <p:cNvSpPr txBox="1"/>
          <p:nvPr/>
        </p:nvSpPr>
        <p:spPr>
          <a:xfrm>
            <a:off x="8770739" y="4409628"/>
            <a:ext cx="2573535" cy="3342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sz="975" b="0" i="0" u="none">
                <a:solidFill>
                  <a:srgbClr val="334155"/>
                </a:solidFill>
                <a:latin typeface="Plus Jakarta Sans Medium"/>
              </a:rPr>
              <a:t>Có phương án </a:t>
            </a:r>
            <a:r>
              <a:rPr sz="975" b="1" i="0" u="none">
                <a:solidFill>
                  <a:srgbClr val="0F172A"/>
                </a:solidFill>
                <a:latin typeface="Plus Jakarta Sans"/>
              </a:rPr>
              <a:t>đổi/chọn lịch khám linh hoạt</a:t>
            </a:r>
            <a:r>
              <a:rPr sz="975" b="0" i="0" u="none">
                <a:solidFill>
                  <a:srgbClr val="334155"/>
                </a:solidFill>
                <a:latin typeface="Plus Jakarta Sans Medium"/>
              </a:rPr>
              <a:t>.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2069D0A-F7FA-4947-8AFC-0A6DA125820E}"/>
              </a:ext>
            </a:extLst>
          </p:cNvPr>
          <p:cNvSpPr txBox="1"/>
          <p:nvPr/>
        </p:nvSpPr>
        <p:spPr>
          <a:xfrm>
            <a:off x="3719512" y="5562153"/>
            <a:ext cx="2406848" cy="1238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25" b="1" i="0" u="none">
                <a:solidFill>
                  <a:srgbClr val="1E40AF"/>
                </a:solidFill>
                <a:latin typeface="Plus Jakarta Sans"/>
              </a:rPr>
              <a:t>VAI TRÒ &amp; MỐI QUAN TÂM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49BD007-5374-4A3B-B43E-B6FD35DB4C6B}"/>
              </a:ext>
            </a:extLst>
          </p:cNvPr>
          <p:cNvSpPr txBox="1"/>
          <p:nvPr/>
        </p:nvSpPr>
        <p:spPr>
          <a:xfrm>
            <a:off x="3552825" y="5724078"/>
            <a:ext cx="2573535" cy="3342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sz="975" b="0" i="0" u="none">
                <a:solidFill>
                  <a:srgbClr val="334155"/>
                </a:solidFill>
                <a:latin typeface="Plus Jakarta Sans Medium"/>
              </a:rPr>
              <a:t>Phê duyệt hỗ trợ/điều chuyển; </a:t>
            </a:r>
            <a:r>
              <a:rPr sz="975" b="1" i="0" u="none">
                <a:solidFill>
                  <a:srgbClr val="0F172A"/>
                </a:solidFill>
                <a:latin typeface="Plus Jakarta Sans"/>
              </a:rPr>
              <a:t>cân bằng sức khỏe &amp; sản xuất</a:t>
            </a:r>
            <a:r>
              <a:rPr sz="975" b="0" i="0" u="none">
                <a:solidFill>
                  <a:srgbClr val="334155"/>
                </a:solidFill>
                <a:latin typeface="Plus Jakarta Sans Medium"/>
              </a:rPr>
              <a:t>.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D5A8061-AC60-4B49-A5C0-FCC0B03872F1}"/>
              </a:ext>
            </a:extLst>
          </p:cNvPr>
          <p:cNvSpPr txBox="1"/>
          <p:nvPr/>
        </p:nvSpPr>
        <p:spPr>
          <a:xfrm>
            <a:off x="6445448" y="5562153"/>
            <a:ext cx="2172890" cy="1238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25" b="1" i="0" u="none">
                <a:solidFill>
                  <a:srgbClr val="B91C1C"/>
                </a:solidFill>
                <a:latin typeface="Plus Jakarta Sans"/>
              </a:rPr>
              <a:t>VẤN ĐỀ THƯỜNG GẶP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D37637D-0E8F-47A0-95EE-F6E2676780EF}"/>
              </a:ext>
            </a:extLst>
          </p:cNvPr>
          <p:cNvSpPr txBox="1"/>
          <p:nvPr/>
        </p:nvSpPr>
        <p:spPr>
          <a:xfrm>
            <a:off x="6278760" y="5724078"/>
            <a:ext cx="2339578" cy="3342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sz="975" b="0" i="0" u="none">
                <a:solidFill>
                  <a:srgbClr val="334155"/>
                </a:solidFill>
                <a:latin typeface="Plus Jakarta Sans Medium"/>
              </a:rPr>
              <a:t>Thiếu thông tin vị trí công việc thay thế phù hợp.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CF0D0B0-181E-4FF3-8F36-722DA1405571}"/>
              </a:ext>
            </a:extLst>
          </p:cNvPr>
          <p:cNvSpPr txBox="1"/>
          <p:nvPr/>
        </p:nvSpPr>
        <p:spPr>
          <a:xfrm>
            <a:off x="8908851" y="5562153"/>
            <a:ext cx="2435423" cy="1238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25" b="1" i="0" u="none">
                <a:solidFill>
                  <a:srgbClr val="047857"/>
                </a:solidFill>
                <a:latin typeface="Plus Jakarta Sans"/>
              </a:rPr>
              <a:t>MONG MUỐN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A0DB592-B97D-404F-81AC-0D06530B1852}"/>
              </a:ext>
            </a:extLst>
          </p:cNvPr>
          <p:cNvSpPr txBox="1"/>
          <p:nvPr/>
        </p:nvSpPr>
        <p:spPr>
          <a:xfrm>
            <a:off x="8770739" y="5724078"/>
            <a:ext cx="2573535" cy="3342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sz="975" b="0" i="0" u="none">
                <a:solidFill>
                  <a:srgbClr val="334155"/>
                </a:solidFill>
                <a:latin typeface="Plus Jakarta Sans Medium"/>
              </a:rPr>
              <a:t>Có sẵn </a:t>
            </a:r>
            <a:r>
              <a:rPr sz="975" b="1" i="0" u="none">
                <a:solidFill>
                  <a:srgbClr val="0F172A"/>
                </a:solidFill>
                <a:latin typeface="Plus Jakarta Sans"/>
              </a:rPr>
              <a:t>danh mục vị trí phù hợp</a:t>
            </a:r>
            <a:r>
              <a:rPr sz="975" b="0" i="0" u="none">
                <a:solidFill>
                  <a:srgbClr val="334155"/>
                </a:solidFill>
                <a:latin typeface="Plus Jakarta Sans Medium"/>
              </a:rPr>
              <a:t> cho nhóm sức khỏe yếu.</a:t>
            </a:r>
          </a:p>
        </p:txBody>
      </p:sp>
      <p:pic>
        <p:nvPicPr>
          <p:cNvPr id="67" name="Picture 66" descr="image.png">
            <a:extLst>
              <a:ext uri="{FF2B5EF4-FFF2-40B4-BE49-F238E27FC236}">
                <a16:creationId xmlns:a16="http://schemas.microsoft.com/office/drawing/2014/main" id="{5F58A772-5EDA-4CCE-B555-F18F7EE93F8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52825" y="1628328"/>
            <a:ext cx="109537" cy="104775"/>
          </a:xfrm>
          <a:prstGeom prst="rect">
            <a:avLst/>
          </a:prstGeom>
        </p:spPr>
      </p:pic>
      <p:pic>
        <p:nvPicPr>
          <p:cNvPr id="68" name="Picture 67" descr="image.png">
            <a:extLst>
              <a:ext uri="{FF2B5EF4-FFF2-40B4-BE49-F238E27FC236}">
                <a16:creationId xmlns:a16="http://schemas.microsoft.com/office/drawing/2014/main" id="{D160A307-4F2D-4205-A195-E8BF642A5AD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78760" y="1628328"/>
            <a:ext cx="109537" cy="104775"/>
          </a:xfrm>
          <a:prstGeom prst="rect">
            <a:avLst/>
          </a:prstGeom>
        </p:spPr>
      </p:pic>
      <p:pic>
        <p:nvPicPr>
          <p:cNvPr id="69" name="Picture 68" descr="image.png">
            <a:extLst>
              <a:ext uri="{FF2B5EF4-FFF2-40B4-BE49-F238E27FC236}">
                <a16:creationId xmlns:a16="http://schemas.microsoft.com/office/drawing/2014/main" id="{311CC9F5-6676-4C89-9B41-B347005629F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70739" y="1628328"/>
            <a:ext cx="80962" cy="104775"/>
          </a:xfrm>
          <a:prstGeom prst="rect">
            <a:avLst/>
          </a:prstGeom>
        </p:spPr>
      </p:pic>
      <p:pic>
        <p:nvPicPr>
          <p:cNvPr id="70" name="Picture 69" descr="image.png">
            <a:extLst>
              <a:ext uri="{FF2B5EF4-FFF2-40B4-BE49-F238E27FC236}">
                <a16:creationId xmlns:a16="http://schemas.microsoft.com/office/drawing/2014/main" id="{9F3FE3F1-BC8F-4F23-AE63-081D56A8E60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52825" y="2942778"/>
            <a:ext cx="109537" cy="104775"/>
          </a:xfrm>
          <a:prstGeom prst="rect">
            <a:avLst/>
          </a:prstGeom>
        </p:spPr>
      </p:pic>
      <p:pic>
        <p:nvPicPr>
          <p:cNvPr id="71" name="Picture 70" descr="image.png">
            <a:extLst>
              <a:ext uri="{FF2B5EF4-FFF2-40B4-BE49-F238E27FC236}">
                <a16:creationId xmlns:a16="http://schemas.microsoft.com/office/drawing/2014/main" id="{25A40374-5684-4204-A66B-C563AC71605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78760" y="2942778"/>
            <a:ext cx="109537" cy="104775"/>
          </a:xfrm>
          <a:prstGeom prst="rect">
            <a:avLst/>
          </a:prstGeom>
        </p:spPr>
      </p:pic>
      <p:pic>
        <p:nvPicPr>
          <p:cNvPr id="72" name="Picture 71" descr="image.png">
            <a:extLst>
              <a:ext uri="{FF2B5EF4-FFF2-40B4-BE49-F238E27FC236}">
                <a16:creationId xmlns:a16="http://schemas.microsoft.com/office/drawing/2014/main" id="{346ABB46-DFA9-4C11-93D5-CD15866DA21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70739" y="2942778"/>
            <a:ext cx="80962" cy="104775"/>
          </a:xfrm>
          <a:prstGeom prst="rect">
            <a:avLst/>
          </a:prstGeom>
        </p:spPr>
      </p:pic>
      <p:pic>
        <p:nvPicPr>
          <p:cNvPr id="73" name="Picture 72" descr="image.png">
            <a:extLst>
              <a:ext uri="{FF2B5EF4-FFF2-40B4-BE49-F238E27FC236}">
                <a16:creationId xmlns:a16="http://schemas.microsoft.com/office/drawing/2014/main" id="{8BA49A02-8DF2-4C9F-84F6-F125E91D3C5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552825" y="4257228"/>
            <a:ext cx="109537" cy="104775"/>
          </a:xfrm>
          <a:prstGeom prst="rect">
            <a:avLst/>
          </a:prstGeom>
        </p:spPr>
      </p:pic>
      <p:pic>
        <p:nvPicPr>
          <p:cNvPr id="74" name="Picture 73" descr="image.png">
            <a:extLst>
              <a:ext uri="{FF2B5EF4-FFF2-40B4-BE49-F238E27FC236}">
                <a16:creationId xmlns:a16="http://schemas.microsoft.com/office/drawing/2014/main" id="{E8E797E2-972F-4932-AFF9-B35C3E4EAAA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78760" y="4257228"/>
            <a:ext cx="109537" cy="104775"/>
          </a:xfrm>
          <a:prstGeom prst="rect">
            <a:avLst/>
          </a:prstGeom>
        </p:spPr>
      </p:pic>
      <p:pic>
        <p:nvPicPr>
          <p:cNvPr id="75" name="Picture 74" descr="image.png">
            <a:extLst>
              <a:ext uri="{FF2B5EF4-FFF2-40B4-BE49-F238E27FC236}">
                <a16:creationId xmlns:a16="http://schemas.microsoft.com/office/drawing/2014/main" id="{96CE355B-1386-405C-B00D-304C3D378CA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770739" y="4257228"/>
            <a:ext cx="80962" cy="104775"/>
          </a:xfrm>
          <a:prstGeom prst="rect">
            <a:avLst/>
          </a:prstGeom>
        </p:spPr>
      </p:pic>
      <p:pic>
        <p:nvPicPr>
          <p:cNvPr id="76" name="Picture 75" descr="image.png">
            <a:extLst>
              <a:ext uri="{FF2B5EF4-FFF2-40B4-BE49-F238E27FC236}">
                <a16:creationId xmlns:a16="http://schemas.microsoft.com/office/drawing/2014/main" id="{A030F46A-5797-4CD5-A89A-0B9B7AF4841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52825" y="5571678"/>
            <a:ext cx="109537" cy="104775"/>
          </a:xfrm>
          <a:prstGeom prst="rect">
            <a:avLst/>
          </a:prstGeom>
        </p:spPr>
      </p:pic>
      <p:pic>
        <p:nvPicPr>
          <p:cNvPr id="77" name="Picture 76" descr="image.png">
            <a:extLst>
              <a:ext uri="{FF2B5EF4-FFF2-40B4-BE49-F238E27FC236}">
                <a16:creationId xmlns:a16="http://schemas.microsoft.com/office/drawing/2014/main" id="{AC10F527-41B9-4140-8AEC-13F32F114FB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78760" y="5571678"/>
            <a:ext cx="109537" cy="104775"/>
          </a:xfrm>
          <a:prstGeom prst="rect">
            <a:avLst/>
          </a:prstGeom>
        </p:spPr>
      </p:pic>
      <p:pic>
        <p:nvPicPr>
          <p:cNvPr id="78" name="Picture 77" descr="image.png">
            <a:extLst>
              <a:ext uri="{FF2B5EF4-FFF2-40B4-BE49-F238E27FC236}">
                <a16:creationId xmlns:a16="http://schemas.microsoft.com/office/drawing/2014/main" id="{65AA50E6-7508-42AB-97A3-A3A4C25B580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70739" y="5571678"/>
            <a:ext cx="80962" cy="10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5564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kern="0" spc="100" dirty="0">
                <a:solidFill>
                  <a:srgbClr val="3A8D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04 - PHÂN TÍCH ĐỊNH TÍNH – QUY TRÌNH KHÁM SỨC KHOẺ ĐỊNH KỲ HÀNG NĂM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</a:t>
            </a:r>
            <a:r>
              <a:rPr lang="en-US" sz="25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500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hình</a:t>
            </a:r>
            <a:r>
              <a:rPr lang="en-US" sz="25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Fishbone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1136599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1683F11-7F12-40E1-BE7D-5297A081E7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058" y="1437619"/>
            <a:ext cx="10175884" cy="481763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C4F2D8-0DBA-B69F-C8CF-B1D742236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78BF46D-553C-AE4E-9DA3-4CA62AF0A17C}"/>
              </a:ext>
            </a:extLst>
          </p:cNvPr>
          <p:cNvSpPr/>
          <p:nvPr/>
        </p:nvSpPr>
        <p:spPr>
          <a:xfrm>
            <a:off x="521208" y="184149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kern="0" spc="100" dirty="0">
                <a:solidFill>
                  <a:srgbClr val="3A8D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 PHÂN TÍCH ĐỊNH TÍNH – QUY TRÌNH TÀI TRỢ VÀ CẤP PHÁT SỮA CHO CHƯƠNG TRÌNH SỮA HỌC ĐƯỜNG</a:t>
            </a:r>
            <a:endParaRPr lang="en-US" sz="13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A900086-39B3-76A3-F6AB-585B0891A47C}"/>
              </a:ext>
            </a:extLst>
          </p:cNvPr>
          <p:cNvSpPr/>
          <p:nvPr/>
        </p:nvSpPr>
        <p:spPr>
          <a:xfrm>
            <a:off x="495299" y="265029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</a:t>
            </a:r>
            <a:r>
              <a:rPr lang="en-US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</a:t>
            </a:r>
            <a:r>
              <a:rPr lang="en-US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giá trị </a:t>
            </a:r>
            <a:r>
              <a:rPr lang="en-US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</a:t>
            </a:r>
            <a:r>
              <a:rPr lang="en-US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tăng</a:t>
            </a:r>
            <a:endParaRPr lang="en-US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3EB017E-4296-8DD0-DDE7-6720937C1104}"/>
              </a:ext>
            </a:extLst>
          </p:cNvPr>
          <p:cNvSpPr/>
          <p:nvPr/>
        </p:nvSpPr>
        <p:spPr>
          <a:xfrm>
            <a:off x="548640" y="196596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</a:t>
            </a:r>
            <a:endParaRPr lang="en-US" sz="3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30C1C8A-4175-EE82-7577-21ADC6130B0F}"/>
              </a:ext>
            </a:extLst>
          </p:cNvPr>
          <p:cNvSpPr/>
          <p:nvPr/>
        </p:nvSpPr>
        <p:spPr>
          <a:xfrm>
            <a:off x="548640" y="26974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Value-Added</a:t>
            </a:r>
            <a:endParaRPr lang="en-US" sz="13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176850A-2251-E7BF-67D9-A8FE8E219B49}"/>
              </a:ext>
            </a:extLst>
          </p:cNvPr>
          <p:cNvSpPr/>
          <p:nvPr/>
        </p:nvSpPr>
        <p:spPr>
          <a:xfrm>
            <a:off x="822960" y="31546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giá trị trực tiếp cho khách hàng của quy trình</a:t>
            </a:r>
            <a:endParaRPr lang="en-US" sz="125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BCECE5D-6C6C-0989-9BE2-5469D0AD9528}"/>
              </a:ext>
            </a:extLst>
          </p:cNvPr>
          <p:cNvSpPr/>
          <p:nvPr/>
        </p:nvSpPr>
        <p:spPr>
          <a:xfrm>
            <a:off x="4389120" y="196596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BVA</a:t>
            </a:r>
            <a:endParaRPr lang="en-US" sz="3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1434993-CA86-A543-2C4C-B4AFD147F973}"/>
              </a:ext>
            </a:extLst>
          </p:cNvPr>
          <p:cNvSpPr/>
          <p:nvPr/>
        </p:nvSpPr>
        <p:spPr>
          <a:xfrm>
            <a:off x="4389120" y="26974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Value-Added</a:t>
            </a:r>
            <a:endParaRPr lang="en-US" sz="13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8FF47A8-6A9A-D8EC-7B65-FA392D93C962}"/>
              </a:ext>
            </a:extLst>
          </p:cNvPr>
          <p:cNvSpPr/>
          <p:nvPr/>
        </p:nvSpPr>
        <p:spPr>
          <a:xfrm>
            <a:off x="4663440" y="31546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Cần thiết cho vận hành/kiểm soát nhưng không trực tiếp tạo giá trị</a:t>
            </a:r>
            <a:endParaRPr lang="en-US" sz="125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4D305DF-0E81-85B8-61C8-B7D01B5C2DBA}"/>
              </a:ext>
            </a:extLst>
          </p:cNvPr>
          <p:cNvSpPr/>
          <p:nvPr/>
        </p:nvSpPr>
        <p:spPr>
          <a:xfrm>
            <a:off x="8229600" y="196596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NVA</a:t>
            </a:r>
            <a:endParaRPr lang="en-US" sz="34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E4100A6-CF94-1669-CF16-B843FE78384F}"/>
              </a:ext>
            </a:extLst>
          </p:cNvPr>
          <p:cNvSpPr/>
          <p:nvPr/>
        </p:nvSpPr>
        <p:spPr>
          <a:xfrm>
            <a:off x="8229600" y="26974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Non-Value-Added</a:t>
            </a:r>
            <a:endParaRPr lang="en-US" sz="13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586B3CF5-C0C3-FBAC-8FBD-C0A9967DCBF8}"/>
              </a:ext>
            </a:extLst>
          </p:cNvPr>
          <p:cNvSpPr/>
          <p:nvPr/>
        </p:nvSpPr>
        <p:spPr>
          <a:xfrm>
            <a:off x="8503920" y="31546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tạo giá trị — chủ yếu là làm lại, chờ đợi, xử lý ngoại lệ</a:t>
            </a:r>
            <a:endParaRPr lang="en-US" sz="125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AACCC80D-2155-BCFD-2E9D-453342058C1F}"/>
              </a:ext>
            </a:extLst>
          </p:cNvPr>
          <p:cNvSpPr/>
          <p:nvPr/>
        </p:nvSpPr>
        <p:spPr>
          <a:xfrm>
            <a:off x="548640" y="4892040"/>
            <a:ext cx="507760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 (8)</a:t>
            </a:r>
            <a:endParaRPr lang="en-US" sz="13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3977C98B-48B8-E316-0B5B-E55E7B34A9A2}"/>
              </a:ext>
            </a:extLst>
          </p:cNvPr>
          <p:cNvSpPr/>
          <p:nvPr/>
        </p:nvSpPr>
        <p:spPr>
          <a:xfrm>
            <a:off x="5626249" y="4892040"/>
            <a:ext cx="44429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BVA (7)</a:t>
            </a:r>
            <a:endParaRPr lang="en-US" sz="13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DA644F03-D405-4CB7-7B21-D4318B8A3CE1}"/>
              </a:ext>
            </a:extLst>
          </p:cNvPr>
          <p:cNvSpPr/>
          <p:nvPr/>
        </p:nvSpPr>
        <p:spPr>
          <a:xfrm>
            <a:off x="1136599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pic>
        <p:nvPicPr>
          <p:cNvPr id="49" name="Picture 48" descr="image.png">
            <a:extLst>
              <a:ext uri="{FF2B5EF4-FFF2-40B4-BE49-F238E27FC236}">
                <a16:creationId xmlns:a16="http://schemas.microsoft.com/office/drawing/2014/main" id="{CFA67D46-449C-4758-9C6A-8A4D7803A5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808" y="1715392"/>
            <a:ext cx="11506200" cy="5057775"/>
          </a:xfrm>
          <a:prstGeom prst="rect">
            <a:avLst/>
          </a:prstGeom>
        </p:spPr>
      </p:pic>
      <p:pic>
        <p:nvPicPr>
          <p:cNvPr id="50" name="Picture 49" descr="image.png">
            <a:extLst>
              <a:ext uri="{FF2B5EF4-FFF2-40B4-BE49-F238E27FC236}">
                <a16:creationId xmlns:a16="http://schemas.microsoft.com/office/drawing/2014/main" id="{171EBDCD-0951-4C54-A33D-CA289C67C7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808" y="934342"/>
            <a:ext cx="3733800" cy="647700"/>
          </a:xfrm>
          <a:prstGeom prst="rect">
            <a:avLst/>
          </a:prstGeom>
        </p:spPr>
      </p:pic>
      <p:pic>
        <p:nvPicPr>
          <p:cNvPr id="51" name="Picture 50" descr="image.png">
            <a:extLst>
              <a:ext uri="{FF2B5EF4-FFF2-40B4-BE49-F238E27FC236}">
                <a16:creationId xmlns:a16="http://schemas.microsoft.com/office/drawing/2014/main" id="{447F3658-A96C-4FC0-94DB-6BD596987C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5008" y="934342"/>
            <a:ext cx="3733800" cy="647700"/>
          </a:xfrm>
          <a:prstGeom prst="rect">
            <a:avLst/>
          </a:prstGeom>
        </p:spPr>
      </p:pic>
      <p:pic>
        <p:nvPicPr>
          <p:cNvPr id="52" name="Picture 51" descr="image.png">
            <a:extLst>
              <a:ext uri="{FF2B5EF4-FFF2-40B4-BE49-F238E27FC236}">
                <a16:creationId xmlns:a16="http://schemas.microsoft.com/office/drawing/2014/main" id="{65660507-F620-4A7D-BBAD-10AA93D405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41208" y="934342"/>
            <a:ext cx="3733800" cy="647700"/>
          </a:xfrm>
          <a:prstGeom prst="rect">
            <a:avLst/>
          </a:prstGeom>
        </p:spPr>
      </p:pic>
      <p:pic>
        <p:nvPicPr>
          <p:cNvPr id="53" name="Picture 52" descr="image.png">
            <a:extLst>
              <a:ext uri="{FF2B5EF4-FFF2-40B4-BE49-F238E27FC236}">
                <a16:creationId xmlns:a16="http://schemas.microsoft.com/office/drawing/2014/main" id="{B9ED89E7-AC17-4438-B2C9-C168E3E2CF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45358" y="1077217"/>
            <a:ext cx="695325" cy="361950"/>
          </a:xfrm>
          <a:prstGeom prst="rect">
            <a:avLst/>
          </a:prstGeom>
        </p:spPr>
      </p:pic>
      <p:pic>
        <p:nvPicPr>
          <p:cNvPr id="54" name="Picture 53" descr="image.png">
            <a:extLst>
              <a:ext uri="{FF2B5EF4-FFF2-40B4-BE49-F238E27FC236}">
                <a16:creationId xmlns:a16="http://schemas.microsoft.com/office/drawing/2014/main" id="{A1A81B56-0753-4DCB-99ED-F0B510BF38F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1558" y="1077217"/>
            <a:ext cx="695325" cy="361950"/>
          </a:xfrm>
          <a:prstGeom prst="rect">
            <a:avLst/>
          </a:prstGeom>
        </p:spPr>
      </p:pic>
      <p:pic>
        <p:nvPicPr>
          <p:cNvPr id="55" name="Picture 54" descr="image.png">
            <a:extLst>
              <a:ext uri="{FF2B5EF4-FFF2-40B4-BE49-F238E27FC236}">
                <a16:creationId xmlns:a16="http://schemas.microsoft.com/office/drawing/2014/main" id="{62036EE2-B3C2-4323-BA67-1822C7E879C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17758" y="1077217"/>
            <a:ext cx="695325" cy="361950"/>
          </a:xfrm>
          <a:prstGeom prst="rect">
            <a:avLst/>
          </a:prstGeom>
        </p:spPr>
      </p:pic>
      <p:graphicFrame>
        <p:nvGraphicFramePr>
          <p:cNvPr id="56" name="Table 55">
            <a:extLst>
              <a:ext uri="{FF2B5EF4-FFF2-40B4-BE49-F238E27FC236}">
                <a16:creationId xmlns:a16="http://schemas.microsoft.com/office/drawing/2014/main" id="{361DE481-9273-47B1-8F59-B62C59FBCC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3548023"/>
              </p:ext>
            </p:extLst>
          </p:nvPr>
        </p:nvGraphicFramePr>
        <p:xfrm>
          <a:off x="378333" y="1724917"/>
          <a:ext cx="11487149" cy="51042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68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111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0280"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334155"/>
                          </a:solidFill>
                          <a:latin typeface="Inter SemiBold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 Medium"/>
                        </a:rPr>
                        <a:t>Lập danh sách &amp; dự toán nhu cầu sữa học đường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Ban Dự án SHĐ / Sở GD&amp;ĐT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BVA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Cần thiết lập kế hoạch quy mô, không tạo giá trị y tế/dinh dưỡng trực tiếp.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280"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334155"/>
                          </a:solidFill>
                          <a:latin typeface="Inter SemiBold"/>
                        </a:rPr>
                        <a:t>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 Medium"/>
                        </a:rPr>
                        <a:t>Khảo sát, đấu thầu chọn nhà cung cấp sữa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Ban Dự án / Sở Y tế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BVA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Đảm bảo tuân thủ quy định pháp luật và lựa chọn đối tác đủ năng lực.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280"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334155"/>
                          </a:solidFill>
                          <a:latin typeface="Inter SemiBold"/>
                        </a:rPr>
                        <a:t>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 Medium"/>
                        </a:rPr>
                        <a:t>Mời thầu, đánh giá năng lực nhà thầu sản xuất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Ban Dự án / Sở Y tế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BVA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Bước kiểm soát lựa chọn nhà máy đạt chuẩn VSATTP.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280"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334155"/>
                          </a:solidFill>
                          <a:latin typeface="Inter SemiBold"/>
                        </a:rPr>
                        <a:t>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 Medium"/>
                        </a:rPr>
                        <a:t>Ký kết hợp đồng cung ứng sữa với nhà sản xuất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Ban Dự án / Nhà cung cấp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BVA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Thủ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tục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pháp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lý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bắt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buộc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để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chính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thức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triển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khai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chương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trình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280"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334155"/>
                          </a:solidFill>
                          <a:latin typeface="Inter SemiBold"/>
                        </a:rPr>
                        <a:t>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 Medium"/>
                        </a:rPr>
                        <a:t>Thống nhất lịch giao nhận sữa chi tiết theo đợt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Nhà cung cấp / Trường học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BVA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Cần thiết cho điều phối nguồn lực vận chuyển và lịch học của trường.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0280"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334155"/>
                          </a:solidFill>
                          <a:latin typeface="Inter SemiBold"/>
                        </a:rPr>
                        <a:t>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 Medium"/>
                        </a:rPr>
                        <a:t>Thông báo kế hoạch giao sữa đến từng điểm trường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Ban Dự án / BGH Trường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BVA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Hoạt động truyền thông giúp giáo viên chủ động sắp xếp tiếp nhận.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0280"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334155"/>
                          </a:solidFill>
                          <a:latin typeface="Inter SemiBold"/>
                        </a:rPr>
                        <a:t>7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 Medium"/>
                        </a:rPr>
                        <a:t>Sản xuất &amp; chế biến sữa tươi chuẩn SHĐ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Khối Sản xuất Vinamilk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VA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Bước khởi đầu tạo ra sản phẩm dinh dưỡng cốt lõi.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0280"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334155"/>
                          </a:solidFill>
                          <a:latin typeface="Inter SemiBold"/>
                        </a:rPr>
                        <a:t>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 Medium"/>
                        </a:rPr>
                        <a:t>Bổ sung vi chất dinh dưỡng (Sắt, Canxi, Vitamin)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Khối R&amp;D / Sản xuất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VA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Tạo giá trị trực tiếp: cải thiện tầm vóc và vi chất cho học sinh.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0280"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334155"/>
                          </a:solidFill>
                          <a:latin typeface="Inter SemiBold"/>
                        </a:rPr>
                        <a:t>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 Medium"/>
                        </a:rPr>
                        <a:t>Kiểm nghiệm chất lượng QA/QC &amp; VSATTP lô hàng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Khối QA / Trung tâm kiểm định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VA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Đảm bảo an toàn sức khỏe tuyệt đối trước khi xuất kho.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0280"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334155"/>
                          </a:solidFill>
                          <a:latin typeface="Inter SemiBold"/>
                        </a:rPr>
                        <a:t>10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 Medium"/>
                        </a:rPr>
                        <a:t>Vận chuyển sữa giao trực tiếp đến các điểm trường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Đơn vị Logistics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VA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Đưa sản phẩm dinh dưỡng đến đúng đối tượng thụ hưởng.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0280"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334155"/>
                          </a:solidFill>
                          <a:latin typeface="Inter SemiBold"/>
                        </a:rPr>
                        <a:t>11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 Medium"/>
                        </a:rPr>
                        <a:t>Xử lý đổi trả sự cố bao bì móp vỡ khi vận chuyển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Logistics / BGH Trường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NVA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Phát sinh ngoài kế hoạch ban đầu, cần quy trình xử lý ngoại lệ riêng.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0280"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334155"/>
                          </a:solidFill>
                          <a:latin typeface="Inter SemiBold"/>
                        </a:rPr>
                        <a:t>12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 Medium"/>
                        </a:rPr>
                        <a:t>Ban giám hiệu &amp; Giáo viên kiểm đếm, nghiệm thu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BGH / Giáo viên chủ nhiệm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BVA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Cần thiết để kiểm soát số lượng &amp; minh bạch giao nhận.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0280"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334155"/>
                          </a:solidFill>
                          <a:latin typeface="Inter SemiBold"/>
                        </a:rPr>
                        <a:t>13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 Medium"/>
                        </a:rPr>
                        <a:t>Rà soát, điều chỉnh lệch sĩ số thực tế uống sữa thủ công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BGH / Giáo viên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NVA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Lãng phí thời gian do cập nhật sĩ số thủ công; cần tự động hóa.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40280"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334155"/>
                          </a:solidFill>
                          <a:latin typeface="Inter SemiBold"/>
                        </a:rPr>
                        <a:t>14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 Medium"/>
                        </a:rPr>
                        <a:t>Lập báo cáo tiêu thụ tổng hợp &amp; thanh quyết toán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Ban Dự án / Sở GD&amp;ĐT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BVA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Thủ tục hành chính hoàn tất quy trình giao nhận thông tin.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40289"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334155"/>
                          </a:solidFill>
                          <a:latin typeface="Inter SemiBold"/>
                        </a:rPr>
                        <a:t>15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 Medium"/>
                        </a:rPr>
                        <a:t>Bảo quản &amp; tổ chức cho học sinh uống sữa tại trường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BGH / Giáo viên chủ nhiệm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VA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Tạo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giá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trị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thực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tế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: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đảm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bảo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an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toàn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&amp;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sức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khỏe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lâu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dài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cho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học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sinh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57" name="TextBox 56">
            <a:extLst>
              <a:ext uri="{FF2B5EF4-FFF2-40B4-BE49-F238E27FC236}">
                <a16:creationId xmlns:a16="http://schemas.microsoft.com/office/drawing/2014/main" id="{B840CA41-D25C-4AB7-9BEA-C59440BEF049}"/>
              </a:ext>
            </a:extLst>
          </p:cNvPr>
          <p:cNvSpPr txBox="1"/>
          <p:nvPr/>
        </p:nvSpPr>
        <p:spPr>
          <a:xfrm>
            <a:off x="711708" y="1039117"/>
            <a:ext cx="2533650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0" i="0" u="none">
                <a:solidFill>
                  <a:srgbClr val="15803D"/>
                </a:solidFill>
                <a:latin typeface="Inter ExtraBold"/>
              </a:rPr>
              <a:t>VA - GIÁ TRỊ GIA TĂNG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F98FAE2-6EA8-492D-BD8F-7AA8498DC75F}"/>
              </a:ext>
            </a:extLst>
          </p:cNvPr>
          <p:cNvSpPr txBox="1"/>
          <p:nvPr/>
        </p:nvSpPr>
        <p:spPr>
          <a:xfrm>
            <a:off x="530733" y="1210567"/>
            <a:ext cx="271462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Inter Medium"/>
              </a:rPr>
              <a:t>Chế biến, vi chất, kiểm nghiệm, giao trường &amp; uống sữa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49A1133-5C81-4BAD-833C-F82E812C9897}"/>
              </a:ext>
            </a:extLst>
          </p:cNvPr>
          <p:cNvSpPr txBox="1"/>
          <p:nvPr/>
        </p:nvSpPr>
        <p:spPr>
          <a:xfrm>
            <a:off x="4626483" y="1105792"/>
            <a:ext cx="2419350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0" i="0" u="none">
                <a:solidFill>
                  <a:srgbClr val="1D4ED8"/>
                </a:solidFill>
                <a:latin typeface="Inter ExtraBold"/>
              </a:rPr>
              <a:t>BVA - GIÁ TRỊ VẬN HÀNH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3042910-5F93-4AA5-8CDF-FE0FE5AE9F40}"/>
              </a:ext>
            </a:extLst>
          </p:cNvPr>
          <p:cNvSpPr txBox="1"/>
          <p:nvPr/>
        </p:nvSpPr>
        <p:spPr>
          <a:xfrm>
            <a:off x="4416933" y="1277242"/>
            <a:ext cx="26289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Inter Medium"/>
              </a:rPr>
              <a:t>Khảo sát, đấu thầu, hợp đồng, kế hoạch &amp; kiểm đếm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ACAD74A-E9E0-41E3-A1BE-E6677D4EADE7}"/>
              </a:ext>
            </a:extLst>
          </p:cNvPr>
          <p:cNvSpPr txBox="1"/>
          <p:nvPr/>
        </p:nvSpPr>
        <p:spPr>
          <a:xfrm>
            <a:off x="8484108" y="1105792"/>
            <a:ext cx="2286000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0" i="0" u="none">
                <a:solidFill>
                  <a:srgbClr val="B91C1C"/>
                </a:solidFill>
                <a:latin typeface="Inter ExtraBold"/>
              </a:rPr>
              <a:t>NVA - LÃNG PHÍ / NGOẠI LỆ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A68C430-6400-49CC-B024-01762A9BDFEC}"/>
              </a:ext>
            </a:extLst>
          </p:cNvPr>
          <p:cNvSpPr txBox="1"/>
          <p:nvPr/>
        </p:nvSpPr>
        <p:spPr>
          <a:xfrm>
            <a:off x="8303133" y="1277242"/>
            <a:ext cx="246697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Inter Medium"/>
              </a:rPr>
              <a:t>Xử lý móp vỡ bao bì &amp; rà soát lệch sĩ số thủ công</a:t>
            </a:r>
          </a:p>
        </p:txBody>
      </p:sp>
      <p:pic>
        <p:nvPicPr>
          <p:cNvPr id="63" name="Picture 62" descr="image.png">
            <a:extLst>
              <a:ext uri="{FF2B5EF4-FFF2-40B4-BE49-F238E27FC236}">
                <a16:creationId xmlns:a16="http://schemas.microsoft.com/office/drawing/2014/main" id="{BC6EB075-60A8-44E2-8D87-DC1EB12D8A8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0733" y="1053404"/>
            <a:ext cx="123825" cy="123825"/>
          </a:xfrm>
          <a:prstGeom prst="rect">
            <a:avLst/>
          </a:prstGeom>
        </p:spPr>
      </p:pic>
      <p:pic>
        <p:nvPicPr>
          <p:cNvPr id="64" name="Picture 63" descr="image.png">
            <a:extLst>
              <a:ext uri="{FF2B5EF4-FFF2-40B4-BE49-F238E27FC236}">
                <a16:creationId xmlns:a16="http://schemas.microsoft.com/office/drawing/2014/main" id="{9D8A6CAA-246B-44A8-AFC5-028A84EB0C8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16933" y="1120079"/>
            <a:ext cx="152400" cy="123825"/>
          </a:xfrm>
          <a:prstGeom prst="rect">
            <a:avLst/>
          </a:prstGeom>
        </p:spPr>
      </p:pic>
      <p:pic>
        <p:nvPicPr>
          <p:cNvPr id="65" name="Picture 64" descr="image.png">
            <a:extLst>
              <a:ext uri="{FF2B5EF4-FFF2-40B4-BE49-F238E27FC236}">
                <a16:creationId xmlns:a16="http://schemas.microsoft.com/office/drawing/2014/main" id="{1A6FBDF2-DD30-4EF7-BE8F-3169CDDABC1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03133" y="1120079"/>
            <a:ext cx="123825" cy="123825"/>
          </a:xfrm>
          <a:prstGeom prst="rect">
            <a:avLst/>
          </a:prstGeom>
        </p:spPr>
      </p:pic>
      <p:pic>
        <p:nvPicPr>
          <p:cNvPr id="66" name="Picture 65" descr="image.png">
            <a:extLst>
              <a:ext uri="{FF2B5EF4-FFF2-40B4-BE49-F238E27FC236}">
                <a16:creationId xmlns:a16="http://schemas.microsoft.com/office/drawing/2014/main" id="{C0D18CED-87F6-40E3-A401-71B97CE610F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26570" y="1830584"/>
            <a:ext cx="408682" cy="161925"/>
          </a:xfrm>
          <a:prstGeom prst="rect">
            <a:avLst/>
          </a:prstGeom>
        </p:spPr>
      </p:pic>
      <p:pic>
        <p:nvPicPr>
          <p:cNvPr id="67" name="Picture 66" descr="image.png">
            <a:extLst>
              <a:ext uri="{FF2B5EF4-FFF2-40B4-BE49-F238E27FC236}">
                <a16:creationId xmlns:a16="http://schemas.microsoft.com/office/drawing/2014/main" id="{D1701864-8AF4-4F96-88AB-3E45E57D0BD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26570" y="2150565"/>
            <a:ext cx="408682" cy="161925"/>
          </a:xfrm>
          <a:prstGeom prst="rect">
            <a:avLst/>
          </a:prstGeom>
        </p:spPr>
      </p:pic>
      <p:pic>
        <p:nvPicPr>
          <p:cNvPr id="68" name="Picture 67" descr="image.png">
            <a:extLst>
              <a:ext uri="{FF2B5EF4-FFF2-40B4-BE49-F238E27FC236}">
                <a16:creationId xmlns:a16="http://schemas.microsoft.com/office/drawing/2014/main" id="{6D241AA0-F35F-4D49-8C44-49C71EDB4EF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31333" y="2465782"/>
            <a:ext cx="408682" cy="161925"/>
          </a:xfrm>
          <a:prstGeom prst="rect">
            <a:avLst/>
          </a:prstGeom>
        </p:spPr>
      </p:pic>
      <p:pic>
        <p:nvPicPr>
          <p:cNvPr id="69" name="Picture 68" descr="image.png">
            <a:extLst>
              <a:ext uri="{FF2B5EF4-FFF2-40B4-BE49-F238E27FC236}">
                <a16:creationId xmlns:a16="http://schemas.microsoft.com/office/drawing/2014/main" id="{DD75FD5B-6FA9-4EC2-BBE6-D0602768B3C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331333" y="2837473"/>
            <a:ext cx="408682" cy="161925"/>
          </a:xfrm>
          <a:prstGeom prst="rect">
            <a:avLst/>
          </a:prstGeom>
        </p:spPr>
      </p:pic>
      <p:pic>
        <p:nvPicPr>
          <p:cNvPr id="70" name="Picture 69" descr="image.png">
            <a:extLst>
              <a:ext uri="{FF2B5EF4-FFF2-40B4-BE49-F238E27FC236}">
                <a16:creationId xmlns:a16="http://schemas.microsoft.com/office/drawing/2014/main" id="{115885CB-05CB-442C-A5F7-E5DD3F2D662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326570" y="3176671"/>
            <a:ext cx="408682" cy="161925"/>
          </a:xfrm>
          <a:prstGeom prst="rect">
            <a:avLst/>
          </a:prstGeom>
        </p:spPr>
      </p:pic>
      <p:pic>
        <p:nvPicPr>
          <p:cNvPr id="71" name="Picture 70" descr="image.png">
            <a:extLst>
              <a:ext uri="{FF2B5EF4-FFF2-40B4-BE49-F238E27FC236}">
                <a16:creationId xmlns:a16="http://schemas.microsoft.com/office/drawing/2014/main" id="{A93AEB2C-0B38-4212-AE6E-372A733E454E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321808" y="3503444"/>
            <a:ext cx="408682" cy="161925"/>
          </a:xfrm>
          <a:prstGeom prst="rect">
            <a:avLst/>
          </a:prstGeom>
        </p:spPr>
      </p:pic>
      <p:pic>
        <p:nvPicPr>
          <p:cNvPr id="72" name="Picture 71" descr="image.png">
            <a:extLst>
              <a:ext uri="{FF2B5EF4-FFF2-40B4-BE49-F238E27FC236}">
                <a16:creationId xmlns:a16="http://schemas.microsoft.com/office/drawing/2014/main" id="{D0E39772-5A43-43F0-90A5-A377F2BFD37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361247" y="3852146"/>
            <a:ext cx="339179" cy="161925"/>
          </a:xfrm>
          <a:prstGeom prst="rect">
            <a:avLst/>
          </a:prstGeom>
        </p:spPr>
      </p:pic>
      <p:pic>
        <p:nvPicPr>
          <p:cNvPr id="73" name="Picture 72" descr="image.png">
            <a:extLst>
              <a:ext uri="{FF2B5EF4-FFF2-40B4-BE49-F238E27FC236}">
                <a16:creationId xmlns:a16="http://schemas.microsoft.com/office/drawing/2014/main" id="{FDAB20C9-9797-4724-948A-9E7A098FAC5C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363626" y="4181841"/>
            <a:ext cx="339179" cy="161925"/>
          </a:xfrm>
          <a:prstGeom prst="rect">
            <a:avLst/>
          </a:prstGeom>
        </p:spPr>
      </p:pic>
      <p:pic>
        <p:nvPicPr>
          <p:cNvPr id="74" name="Picture 73" descr="image.png">
            <a:extLst>
              <a:ext uri="{FF2B5EF4-FFF2-40B4-BE49-F238E27FC236}">
                <a16:creationId xmlns:a16="http://schemas.microsoft.com/office/drawing/2014/main" id="{C0E44E4E-D701-4545-9337-78101C84059B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354623" y="4501822"/>
            <a:ext cx="339179" cy="161925"/>
          </a:xfrm>
          <a:prstGeom prst="rect">
            <a:avLst/>
          </a:prstGeom>
        </p:spPr>
      </p:pic>
      <p:pic>
        <p:nvPicPr>
          <p:cNvPr id="75" name="Picture 74" descr="image.png">
            <a:extLst>
              <a:ext uri="{FF2B5EF4-FFF2-40B4-BE49-F238E27FC236}">
                <a16:creationId xmlns:a16="http://schemas.microsoft.com/office/drawing/2014/main" id="{6C2E87E3-E7F3-4621-8F66-3B0706018810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361247" y="4842713"/>
            <a:ext cx="339179" cy="161925"/>
          </a:xfrm>
          <a:prstGeom prst="rect">
            <a:avLst/>
          </a:prstGeom>
        </p:spPr>
      </p:pic>
      <p:pic>
        <p:nvPicPr>
          <p:cNvPr id="76" name="Picture 75" descr="image.png">
            <a:extLst>
              <a:ext uri="{FF2B5EF4-FFF2-40B4-BE49-F238E27FC236}">
                <a16:creationId xmlns:a16="http://schemas.microsoft.com/office/drawing/2014/main" id="{564D0910-4395-4ED6-A688-19E604BD864D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321808" y="5214786"/>
            <a:ext cx="418207" cy="161925"/>
          </a:xfrm>
          <a:prstGeom prst="rect">
            <a:avLst/>
          </a:prstGeom>
        </p:spPr>
      </p:pic>
      <p:pic>
        <p:nvPicPr>
          <p:cNvPr id="77" name="Picture 76" descr="image.png">
            <a:extLst>
              <a:ext uri="{FF2B5EF4-FFF2-40B4-BE49-F238E27FC236}">
                <a16:creationId xmlns:a16="http://schemas.microsoft.com/office/drawing/2014/main" id="{F2759FB6-48C7-4AFF-A79D-ECC94FC0F7EA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326570" y="5560143"/>
            <a:ext cx="408682" cy="161925"/>
          </a:xfrm>
          <a:prstGeom prst="rect">
            <a:avLst/>
          </a:prstGeom>
        </p:spPr>
      </p:pic>
      <p:pic>
        <p:nvPicPr>
          <p:cNvPr id="78" name="Picture 77" descr="image.png">
            <a:extLst>
              <a:ext uri="{FF2B5EF4-FFF2-40B4-BE49-F238E27FC236}">
                <a16:creationId xmlns:a16="http://schemas.microsoft.com/office/drawing/2014/main" id="{B013470D-C797-4382-8318-9FB2113B196F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321808" y="5882579"/>
            <a:ext cx="418207" cy="161925"/>
          </a:xfrm>
          <a:prstGeom prst="rect">
            <a:avLst/>
          </a:prstGeom>
        </p:spPr>
      </p:pic>
      <p:pic>
        <p:nvPicPr>
          <p:cNvPr id="79" name="Picture 78" descr="image.png">
            <a:extLst>
              <a:ext uri="{FF2B5EF4-FFF2-40B4-BE49-F238E27FC236}">
                <a16:creationId xmlns:a16="http://schemas.microsoft.com/office/drawing/2014/main" id="{BEBCCD7F-AD53-425F-98A8-DC04590BBA5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331333" y="6203601"/>
            <a:ext cx="408682" cy="161925"/>
          </a:xfrm>
          <a:prstGeom prst="rect">
            <a:avLst/>
          </a:prstGeom>
        </p:spPr>
      </p:pic>
      <p:pic>
        <p:nvPicPr>
          <p:cNvPr id="80" name="Picture 79" descr="image.png">
            <a:extLst>
              <a:ext uri="{FF2B5EF4-FFF2-40B4-BE49-F238E27FC236}">
                <a16:creationId xmlns:a16="http://schemas.microsoft.com/office/drawing/2014/main" id="{B97A787E-5F54-49E0-A87D-0E823E0A8833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361247" y="6561533"/>
            <a:ext cx="339179" cy="161925"/>
          </a:xfrm>
          <a:prstGeom prst="rect">
            <a:avLst/>
          </a:prstGeom>
        </p:spPr>
      </p:pic>
      <p:sp>
        <p:nvSpPr>
          <p:cNvPr id="82" name="Text 4">
            <a:extLst>
              <a:ext uri="{FF2B5EF4-FFF2-40B4-BE49-F238E27FC236}">
                <a16:creationId xmlns:a16="http://schemas.microsoft.com/office/drawing/2014/main" id="{62962684-48D1-45EB-ABC8-91C1964FF99A}"/>
              </a:ext>
            </a:extLst>
          </p:cNvPr>
          <p:cNvSpPr/>
          <p:nvPr/>
        </p:nvSpPr>
        <p:spPr>
          <a:xfrm>
            <a:off x="11636882" y="6529197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6078532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B9572A-DE5A-5226-2D9A-09C280482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47213E7-4C72-0F52-467C-53F67620CE88}"/>
              </a:ext>
            </a:extLst>
          </p:cNvPr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kern="0" spc="100" dirty="0">
                <a:solidFill>
                  <a:srgbClr val="3A8D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04 - PHÂN TÍCH ĐỊNH TÍNH – QUY TRÌNH TÀI TRỢ VÀ CẤP PHÁT SỮA CHO CHƯƠNG TRÌNH SỮA HỌC ĐƯỜNG</a:t>
            </a:r>
            <a:endParaRPr lang="en-US" sz="13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AB2877A-B9AE-7CA4-3C1B-A29844344387}"/>
              </a:ext>
            </a:extLst>
          </p:cNvPr>
          <p:cNvSpPr/>
          <p:nvPr/>
        </p:nvSpPr>
        <p:spPr>
          <a:xfrm>
            <a:off x="495299" y="475021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</a:t>
            </a:r>
            <a:r>
              <a:rPr lang="en-US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</a:t>
            </a:r>
            <a:r>
              <a:rPr lang="en-US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lãng</a:t>
            </a:r>
            <a:r>
              <a:rPr lang="en-US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phí</a:t>
            </a:r>
            <a:endParaRPr lang="en-US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4A97DD1-3756-D0B9-3E1F-B83F52E4AB12}"/>
              </a:ext>
            </a:extLst>
          </p:cNvPr>
          <p:cNvSpPr/>
          <p:nvPr/>
        </p:nvSpPr>
        <p:spPr>
          <a:xfrm>
            <a:off x="548640" y="196596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</a:t>
            </a:r>
            <a:endParaRPr lang="en-US" sz="3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0824193-2DA3-C0F3-FD90-62DADF7F480C}"/>
              </a:ext>
            </a:extLst>
          </p:cNvPr>
          <p:cNvSpPr/>
          <p:nvPr/>
        </p:nvSpPr>
        <p:spPr>
          <a:xfrm>
            <a:off x="548640" y="26974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Value-Added</a:t>
            </a:r>
            <a:endParaRPr lang="en-US" sz="13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426018F-2532-C632-F2CD-72C815433936}"/>
              </a:ext>
            </a:extLst>
          </p:cNvPr>
          <p:cNvSpPr/>
          <p:nvPr/>
        </p:nvSpPr>
        <p:spPr>
          <a:xfrm>
            <a:off x="822960" y="31546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giá trị trực tiếp cho khách hàng của quy trình</a:t>
            </a:r>
            <a:endParaRPr lang="en-US" sz="125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FB242BB-EA9A-165B-5416-D3406939CC4A}"/>
              </a:ext>
            </a:extLst>
          </p:cNvPr>
          <p:cNvSpPr/>
          <p:nvPr/>
        </p:nvSpPr>
        <p:spPr>
          <a:xfrm>
            <a:off x="4389120" y="196596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BVA</a:t>
            </a:r>
            <a:endParaRPr lang="en-US" sz="3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7F90376-5E63-02CE-5DEA-3AE8EEB8BCAD}"/>
              </a:ext>
            </a:extLst>
          </p:cNvPr>
          <p:cNvSpPr/>
          <p:nvPr/>
        </p:nvSpPr>
        <p:spPr>
          <a:xfrm>
            <a:off x="4389120" y="26974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Value-Added</a:t>
            </a:r>
            <a:endParaRPr lang="en-US" sz="13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B042757-4561-010B-2B20-B895E9C1B2E6}"/>
              </a:ext>
            </a:extLst>
          </p:cNvPr>
          <p:cNvSpPr/>
          <p:nvPr/>
        </p:nvSpPr>
        <p:spPr>
          <a:xfrm>
            <a:off x="4663440" y="31546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Cần thiết cho vận hành/kiểm soát nhưng không trực tiếp tạo giá trị</a:t>
            </a:r>
            <a:endParaRPr lang="en-US" sz="125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E7A8A2A-E868-1B34-01A6-4315AB536554}"/>
              </a:ext>
            </a:extLst>
          </p:cNvPr>
          <p:cNvSpPr/>
          <p:nvPr/>
        </p:nvSpPr>
        <p:spPr>
          <a:xfrm>
            <a:off x="8229600" y="196596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NVA</a:t>
            </a:r>
            <a:endParaRPr lang="en-US" sz="34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7513674-79A1-EB5B-FB57-542D86A213A7}"/>
              </a:ext>
            </a:extLst>
          </p:cNvPr>
          <p:cNvSpPr/>
          <p:nvPr/>
        </p:nvSpPr>
        <p:spPr>
          <a:xfrm>
            <a:off x="8229600" y="26974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Non-Value-Added</a:t>
            </a:r>
            <a:endParaRPr lang="en-US" sz="13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59E98A91-C79D-0DAC-6879-EF7674BC6B85}"/>
              </a:ext>
            </a:extLst>
          </p:cNvPr>
          <p:cNvSpPr/>
          <p:nvPr/>
        </p:nvSpPr>
        <p:spPr>
          <a:xfrm>
            <a:off x="8503920" y="31546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tạo giá trị — chủ yếu là làm lại, chờ đợi, xử lý ngoại lệ</a:t>
            </a:r>
            <a:endParaRPr lang="en-US" sz="125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85DC6978-8B5A-B523-114D-F96938CA5201}"/>
              </a:ext>
            </a:extLst>
          </p:cNvPr>
          <p:cNvSpPr/>
          <p:nvPr/>
        </p:nvSpPr>
        <p:spPr>
          <a:xfrm>
            <a:off x="548640" y="4892040"/>
            <a:ext cx="507760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 (8)</a:t>
            </a:r>
            <a:endParaRPr lang="en-US" sz="13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A84C63EE-0350-BEB7-9EDD-31FC9A1C67B4}"/>
              </a:ext>
            </a:extLst>
          </p:cNvPr>
          <p:cNvSpPr/>
          <p:nvPr/>
        </p:nvSpPr>
        <p:spPr>
          <a:xfrm>
            <a:off x="5626249" y="4892040"/>
            <a:ext cx="44429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BVA (7)</a:t>
            </a:r>
            <a:endParaRPr lang="en-US" sz="13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78F61F73-57B4-1B14-DF6C-95931CC4E70E}"/>
              </a:ext>
            </a:extLst>
          </p:cNvPr>
          <p:cNvSpPr/>
          <p:nvPr/>
        </p:nvSpPr>
        <p:spPr>
          <a:xfrm>
            <a:off x="1136599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pic>
        <p:nvPicPr>
          <p:cNvPr id="17" name="Picture 16" descr="image.png">
            <a:extLst>
              <a:ext uri="{FF2B5EF4-FFF2-40B4-BE49-F238E27FC236}">
                <a16:creationId xmlns:a16="http://schemas.microsoft.com/office/drawing/2014/main" id="{4AFDB55C-CCD7-45D6-BB02-B42E9C4A93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418989"/>
            <a:ext cx="3708350" cy="552450"/>
          </a:xfrm>
          <a:prstGeom prst="rect">
            <a:avLst/>
          </a:prstGeom>
        </p:spPr>
      </p:pic>
      <p:pic>
        <p:nvPicPr>
          <p:cNvPr id="19" name="Picture 18" descr="image.png">
            <a:extLst>
              <a:ext uri="{FF2B5EF4-FFF2-40B4-BE49-F238E27FC236}">
                <a16:creationId xmlns:a16="http://schemas.microsoft.com/office/drawing/2014/main" id="{71440C07-0C60-4E58-ADCA-D722135DDC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2230" y="1418989"/>
            <a:ext cx="3708350" cy="552450"/>
          </a:xfrm>
          <a:prstGeom prst="rect">
            <a:avLst/>
          </a:prstGeom>
        </p:spPr>
      </p:pic>
      <p:pic>
        <p:nvPicPr>
          <p:cNvPr id="21" name="Picture 20" descr="image.png">
            <a:extLst>
              <a:ext uri="{FF2B5EF4-FFF2-40B4-BE49-F238E27FC236}">
                <a16:creationId xmlns:a16="http://schemas.microsoft.com/office/drawing/2014/main" id="{65B19B79-5B8D-4339-9E79-DB9E48532F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2980" y="1418989"/>
            <a:ext cx="3708499" cy="552450"/>
          </a:xfrm>
          <a:prstGeom prst="rect">
            <a:avLst/>
          </a:prstGeom>
        </p:spPr>
      </p:pic>
      <p:pic>
        <p:nvPicPr>
          <p:cNvPr id="22" name="Picture 21" descr="image.png">
            <a:extLst>
              <a:ext uri="{FF2B5EF4-FFF2-40B4-BE49-F238E27FC236}">
                <a16:creationId xmlns:a16="http://schemas.microsoft.com/office/drawing/2014/main" id="{B60CDD85-6582-4FDB-9B60-D1BA025E78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2161939"/>
            <a:ext cx="11430000" cy="1032271"/>
          </a:xfrm>
          <a:prstGeom prst="rect">
            <a:avLst/>
          </a:prstGeom>
        </p:spPr>
      </p:pic>
      <p:pic>
        <p:nvPicPr>
          <p:cNvPr id="23" name="Picture 22" descr="image.png">
            <a:extLst>
              <a:ext uri="{FF2B5EF4-FFF2-40B4-BE49-F238E27FC236}">
                <a16:creationId xmlns:a16="http://schemas.microsoft.com/office/drawing/2014/main" id="{258F22D8-3478-4E31-8364-86D64F5DD8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3327560"/>
            <a:ext cx="11430000" cy="990600"/>
          </a:xfrm>
          <a:prstGeom prst="rect">
            <a:avLst/>
          </a:prstGeom>
        </p:spPr>
      </p:pic>
      <p:pic>
        <p:nvPicPr>
          <p:cNvPr id="25" name="Picture 24" descr="image.png">
            <a:extLst>
              <a:ext uri="{FF2B5EF4-FFF2-40B4-BE49-F238E27FC236}">
                <a16:creationId xmlns:a16="http://schemas.microsoft.com/office/drawing/2014/main" id="{9E2E9118-D874-4191-8A2B-AADC54ECD90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1005" y="2171464"/>
            <a:ext cx="1714500" cy="1013221"/>
          </a:xfrm>
          <a:prstGeom prst="rect">
            <a:avLst/>
          </a:prstGeom>
        </p:spPr>
      </p:pic>
      <p:pic>
        <p:nvPicPr>
          <p:cNvPr id="26" name="Picture 25" descr="image.png">
            <a:extLst>
              <a:ext uri="{FF2B5EF4-FFF2-40B4-BE49-F238E27FC236}">
                <a16:creationId xmlns:a16="http://schemas.microsoft.com/office/drawing/2014/main" id="{B08EC039-542D-44F3-BA3A-B8BAB034FF3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35505" y="2171464"/>
            <a:ext cx="4848225" cy="1013221"/>
          </a:xfrm>
          <a:prstGeom prst="rect">
            <a:avLst/>
          </a:prstGeom>
        </p:spPr>
      </p:pic>
      <p:pic>
        <p:nvPicPr>
          <p:cNvPr id="27" name="Picture 26" descr="image.png">
            <a:extLst>
              <a:ext uri="{FF2B5EF4-FFF2-40B4-BE49-F238E27FC236}">
                <a16:creationId xmlns:a16="http://schemas.microsoft.com/office/drawing/2014/main" id="{7BED4409-54C3-4A04-8EBB-FF64D9CAE66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83730" y="2171464"/>
            <a:ext cx="4848225" cy="1013221"/>
          </a:xfrm>
          <a:prstGeom prst="rect">
            <a:avLst/>
          </a:prstGeom>
        </p:spPr>
      </p:pic>
      <p:pic>
        <p:nvPicPr>
          <p:cNvPr id="28" name="Picture 27" descr="image.png">
            <a:extLst>
              <a:ext uri="{FF2B5EF4-FFF2-40B4-BE49-F238E27FC236}">
                <a16:creationId xmlns:a16="http://schemas.microsoft.com/office/drawing/2014/main" id="{B3EE34C1-5C04-40F7-A285-B4A4E7F51EA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1005" y="3337085"/>
            <a:ext cx="1714500" cy="971550"/>
          </a:xfrm>
          <a:prstGeom prst="rect">
            <a:avLst/>
          </a:prstGeom>
        </p:spPr>
      </p:pic>
      <p:pic>
        <p:nvPicPr>
          <p:cNvPr id="29" name="Picture 28" descr="image.png">
            <a:extLst>
              <a:ext uri="{FF2B5EF4-FFF2-40B4-BE49-F238E27FC236}">
                <a16:creationId xmlns:a16="http://schemas.microsoft.com/office/drawing/2014/main" id="{81C3F0E6-9E99-470A-A034-8AFD991EF6C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35505" y="3337085"/>
            <a:ext cx="4848225" cy="971550"/>
          </a:xfrm>
          <a:prstGeom prst="rect">
            <a:avLst/>
          </a:prstGeom>
        </p:spPr>
      </p:pic>
      <p:pic>
        <p:nvPicPr>
          <p:cNvPr id="30" name="Picture 29" descr="image.png">
            <a:extLst>
              <a:ext uri="{FF2B5EF4-FFF2-40B4-BE49-F238E27FC236}">
                <a16:creationId xmlns:a16="http://schemas.microsoft.com/office/drawing/2014/main" id="{48675859-AF01-4C4C-8C8E-0C4E40B413B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83730" y="3337085"/>
            <a:ext cx="4848225" cy="971550"/>
          </a:xfrm>
          <a:prstGeom prst="rect">
            <a:avLst/>
          </a:prstGeom>
        </p:spPr>
      </p:pic>
      <p:pic>
        <p:nvPicPr>
          <p:cNvPr id="31" name="Picture 30" descr="image.png">
            <a:extLst>
              <a:ext uri="{FF2B5EF4-FFF2-40B4-BE49-F238E27FC236}">
                <a16:creationId xmlns:a16="http://schemas.microsoft.com/office/drawing/2014/main" id="{9A0B0C86-FDBF-438A-9FF1-223CBCB8E8F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3405" y="1523764"/>
            <a:ext cx="342900" cy="342900"/>
          </a:xfrm>
          <a:prstGeom prst="rect">
            <a:avLst/>
          </a:prstGeom>
        </p:spPr>
      </p:pic>
      <p:pic>
        <p:nvPicPr>
          <p:cNvPr id="32" name="Picture 31" descr="image.png">
            <a:extLst>
              <a:ext uri="{FF2B5EF4-FFF2-40B4-BE49-F238E27FC236}">
                <a16:creationId xmlns:a16="http://schemas.microsoft.com/office/drawing/2014/main" id="{04C53045-0AD3-4C8B-8F9E-912B157F1C2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34155" y="1523764"/>
            <a:ext cx="342900" cy="342900"/>
          </a:xfrm>
          <a:prstGeom prst="rect">
            <a:avLst/>
          </a:prstGeom>
        </p:spPr>
      </p:pic>
      <p:pic>
        <p:nvPicPr>
          <p:cNvPr id="33" name="Picture 32" descr="image.png">
            <a:extLst>
              <a:ext uri="{FF2B5EF4-FFF2-40B4-BE49-F238E27FC236}">
                <a16:creationId xmlns:a16="http://schemas.microsoft.com/office/drawing/2014/main" id="{D027E709-790C-4094-92C3-336FBC8FB64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294905" y="1523764"/>
            <a:ext cx="342900" cy="342900"/>
          </a:xfrm>
          <a:prstGeom prst="rect">
            <a:avLst/>
          </a:prstGeom>
        </p:spPr>
      </p:pic>
      <p:pic>
        <p:nvPicPr>
          <p:cNvPr id="34" name="Picture 33" descr="image.png">
            <a:extLst>
              <a:ext uri="{FF2B5EF4-FFF2-40B4-BE49-F238E27FC236}">
                <a16:creationId xmlns:a16="http://schemas.microsoft.com/office/drawing/2014/main" id="{B4BA50BF-CD2D-493D-8F51-02EC0032DD7C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8655" y="1619014"/>
            <a:ext cx="152400" cy="15240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0B5F6C9B-CB94-49CD-8068-23D198BAC113}"/>
              </a:ext>
            </a:extLst>
          </p:cNvPr>
          <p:cNvSpPr txBox="1"/>
          <p:nvPr/>
        </p:nvSpPr>
        <p:spPr>
          <a:xfrm>
            <a:off x="1030605" y="1552339"/>
            <a:ext cx="2590323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E293B"/>
                </a:solidFill>
                <a:latin typeface="Inter"/>
              </a:rPr>
              <a:t>MOVE (Di chuyển)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F083E96-71BB-4BFC-AB32-369D3CEE7B71}"/>
              </a:ext>
            </a:extLst>
          </p:cNvPr>
          <p:cNvSpPr txBox="1"/>
          <p:nvPr/>
        </p:nvSpPr>
        <p:spPr>
          <a:xfrm>
            <a:off x="1030605" y="1704739"/>
            <a:ext cx="246697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Inter"/>
              </a:rPr>
              <a:t>Tốn quãng đường vận chuyển &amp; đổi trả bao bì lỗi</a:t>
            </a:r>
          </a:p>
        </p:txBody>
      </p:sp>
      <p:pic>
        <p:nvPicPr>
          <p:cNvPr id="37" name="Picture 36" descr="image.png">
            <a:extLst>
              <a:ext uri="{FF2B5EF4-FFF2-40B4-BE49-F238E27FC236}">
                <a16:creationId xmlns:a16="http://schemas.microsoft.com/office/drawing/2014/main" id="{6F9ED69D-8572-4E92-B1B2-9D5E82CC3CE4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48455" y="1619014"/>
            <a:ext cx="114300" cy="152400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083C048F-A4B9-4B3D-9B0D-63E726965C3A}"/>
              </a:ext>
            </a:extLst>
          </p:cNvPr>
          <p:cNvSpPr txBox="1"/>
          <p:nvPr/>
        </p:nvSpPr>
        <p:spPr>
          <a:xfrm>
            <a:off x="4891355" y="1552339"/>
            <a:ext cx="2580322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E293B"/>
                </a:solidFill>
                <a:latin typeface="Inter"/>
              </a:rPr>
              <a:t>HOLD (Chờ đợi)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F2D5974-DECC-44F2-ACBE-ADB3BC0E076C}"/>
              </a:ext>
            </a:extLst>
          </p:cNvPr>
          <p:cNvSpPr txBox="1"/>
          <p:nvPr/>
        </p:nvSpPr>
        <p:spPr>
          <a:xfrm>
            <a:off x="4891355" y="1704739"/>
            <a:ext cx="24574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Inter"/>
              </a:rPr>
              <a:t>Chờ kiểm nghiệm vi chất &amp; nhà trường chốt sĩ số</a:t>
            </a:r>
          </a:p>
        </p:txBody>
      </p:sp>
      <p:pic>
        <p:nvPicPr>
          <p:cNvPr id="40" name="Picture 39" descr="image.png">
            <a:extLst>
              <a:ext uri="{FF2B5EF4-FFF2-40B4-BE49-F238E27FC236}">
                <a16:creationId xmlns:a16="http://schemas.microsoft.com/office/drawing/2014/main" id="{B8F1840F-EACD-4C61-85A0-820972FC8553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409205" y="1619014"/>
            <a:ext cx="114300" cy="152400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3FDE107D-5923-4F5C-BC60-0AFA582B6FF0}"/>
              </a:ext>
            </a:extLst>
          </p:cNvPr>
          <p:cNvSpPr txBox="1"/>
          <p:nvPr/>
        </p:nvSpPr>
        <p:spPr>
          <a:xfrm>
            <a:off x="8752105" y="1552339"/>
            <a:ext cx="2430303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E293B"/>
                </a:solidFill>
                <a:latin typeface="Inter"/>
              </a:rPr>
              <a:t>OVERDO (Thực hiện thừa)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1501389-A859-40C3-AA32-4897B80A0006}"/>
              </a:ext>
            </a:extLst>
          </p:cNvPr>
          <p:cNvSpPr txBox="1"/>
          <p:nvPr/>
        </p:nvSpPr>
        <p:spPr>
          <a:xfrm>
            <a:off x="8752105" y="1704739"/>
            <a:ext cx="231457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Inter"/>
              </a:rPr>
              <a:t>Sản xuất dư thừa &amp; báo cáo trùng lặp gửi 2 Sở</a:t>
            </a:r>
          </a:p>
        </p:txBody>
      </p:sp>
      <p:pic>
        <p:nvPicPr>
          <p:cNvPr id="43" name="Picture 42" descr="image.png">
            <a:extLst>
              <a:ext uri="{FF2B5EF4-FFF2-40B4-BE49-F238E27FC236}">
                <a16:creationId xmlns:a16="http://schemas.microsoft.com/office/drawing/2014/main" id="{0FD0614B-C563-42E9-8A22-3688ACE62786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73405" y="2363749"/>
            <a:ext cx="795337" cy="152400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4CB24A74-4F99-45E7-AA75-65E83E2A2D37}"/>
              </a:ext>
            </a:extLst>
          </p:cNvPr>
          <p:cNvSpPr txBox="1"/>
          <p:nvPr/>
        </p:nvSpPr>
        <p:spPr>
          <a:xfrm>
            <a:off x="573405" y="2573299"/>
            <a:ext cx="571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Inter ExtraBold"/>
              </a:rPr>
              <a:t>MOVE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5ACBF7B-2D71-452A-B6CE-1E16EFA6FB96}"/>
              </a:ext>
            </a:extLst>
          </p:cNvPr>
          <p:cNvSpPr txBox="1"/>
          <p:nvPr/>
        </p:nvSpPr>
        <p:spPr>
          <a:xfrm>
            <a:off x="573405" y="2859049"/>
            <a:ext cx="107632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Inter Medium"/>
              </a:rPr>
              <a:t>Vận chuyển phức tạp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5D43E21-8D96-4956-8FAC-37ED508903D2}"/>
              </a:ext>
            </a:extLst>
          </p:cNvPr>
          <p:cNvSpPr txBox="1"/>
          <p:nvPr/>
        </p:nvSpPr>
        <p:spPr>
          <a:xfrm>
            <a:off x="2491799" y="2323864"/>
            <a:ext cx="4291905" cy="133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25" b="1" i="0" u="none">
                <a:solidFill>
                  <a:srgbClr val="DC2626"/>
                </a:solidFill>
                <a:latin typeface="Inter"/>
              </a:rPr>
              <a:t>VÍ DỤ TRONG QUY TRÌNH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D1D257E-5EC9-48EC-A33F-5EAB2A14165C}"/>
              </a:ext>
            </a:extLst>
          </p:cNvPr>
          <p:cNvSpPr txBox="1"/>
          <p:nvPr/>
        </p:nvSpPr>
        <p:spPr>
          <a:xfrm>
            <a:off x="2326005" y="2514364"/>
            <a:ext cx="4457700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sz="937" b="0" i="0" u="none">
                <a:solidFill>
                  <a:srgbClr val="334155"/>
                </a:solidFill>
                <a:latin typeface="Inter"/>
              </a:rPr>
              <a:t>Vận chuyển đến các điểm trường vùng sâu, vùng xa </a:t>
            </a:r>
            <a:r>
              <a:rPr sz="937" b="1" i="0" u="none">
                <a:solidFill>
                  <a:srgbClr val="0F172A"/>
                </a:solidFill>
                <a:latin typeface="Inter"/>
              </a:rPr>
              <a:t>tốn nhiều thời gian &amp; quãng đường</a:t>
            </a:r>
            <a:r>
              <a:rPr sz="937" b="0" i="0" u="none">
                <a:solidFill>
                  <a:srgbClr val="334155"/>
                </a:solidFill>
                <a:latin typeface="Inter"/>
              </a:rPr>
              <a:t>; phát sinh vận chuyển ngược khi thùng sữa bị lỗi bao bì cần đổi trả.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8BD7F5E-276F-4682-89E8-F1A759B13D38}"/>
              </a:ext>
            </a:extLst>
          </p:cNvPr>
          <p:cNvSpPr txBox="1"/>
          <p:nvPr/>
        </p:nvSpPr>
        <p:spPr>
          <a:xfrm>
            <a:off x="7340024" y="2410184"/>
            <a:ext cx="4301430" cy="133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25" b="1" i="0" u="none">
                <a:solidFill>
                  <a:srgbClr val="16A34A"/>
                </a:solidFill>
                <a:latin typeface="Inter"/>
              </a:rPr>
              <a:t>HƯỚNG KHẮC PHỤC TỐI ƯU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DE4FC7A-57F8-4F05-B075-95B93B9574FF}"/>
              </a:ext>
            </a:extLst>
          </p:cNvPr>
          <p:cNvSpPr txBox="1"/>
          <p:nvPr/>
        </p:nvSpPr>
        <p:spPr>
          <a:xfrm>
            <a:off x="7174230" y="2600684"/>
            <a:ext cx="4467225" cy="3452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sz="937" b="0" i="0" u="none">
                <a:solidFill>
                  <a:srgbClr val="334155"/>
                </a:solidFill>
                <a:latin typeface="Inter"/>
              </a:rPr>
              <a:t>Thiết lập </a:t>
            </a:r>
            <a:r>
              <a:rPr sz="937" b="1" i="0" u="none">
                <a:solidFill>
                  <a:srgbClr val="0F172A"/>
                </a:solidFill>
                <a:latin typeface="Inter"/>
              </a:rPr>
              <a:t>kho trung chuyển vệ tinh</a:t>
            </a:r>
            <a:r>
              <a:rPr sz="937" b="0" i="0" u="none">
                <a:solidFill>
                  <a:srgbClr val="334155"/>
                </a:solidFill>
                <a:latin typeface="Inter"/>
              </a:rPr>
              <a:t> gần cụm trường vùng xa; siết chặt kiểm tra bao bì trước khi xuất kho để </a:t>
            </a:r>
            <a:r>
              <a:rPr sz="937" b="1" i="0" u="none">
                <a:solidFill>
                  <a:srgbClr val="0F172A"/>
                </a:solidFill>
                <a:latin typeface="Inter"/>
              </a:rPr>
              <a:t>giảm tỷ lệ đổi trả</a:t>
            </a:r>
            <a:r>
              <a:rPr sz="937" b="0" i="0" u="none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pic>
        <p:nvPicPr>
          <p:cNvPr id="50" name="Picture 49" descr="image.png">
            <a:extLst>
              <a:ext uri="{FF2B5EF4-FFF2-40B4-BE49-F238E27FC236}">
                <a16:creationId xmlns:a16="http://schemas.microsoft.com/office/drawing/2014/main" id="{239AAE16-D8FA-4CE7-845F-536117507F4B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73405" y="3508535"/>
            <a:ext cx="814387" cy="152400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99699A7D-5732-4666-B7D4-4D406A7B40BA}"/>
              </a:ext>
            </a:extLst>
          </p:cNvPr>
          <p:cNvSpPr txBox="1"/>
          <p:nvPr/>
        </p:nvSpPr>
        <p:spPr>
          <a:xfrm>
            <a:off x="573405" y="3718085"/>
            <a:ext cx="5238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Inter ExtraBold"/>
              </a:rPr>
              <a:t>HOLD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C15AE6A-3EFD-4A19-88FA-19D8BED87742}"/>
              </a:ext>
            </a:extLst>
          </p:cNvPr>
          <p:cNvSpPr txBox="1"/>
          <p:nvPr/>
        </p:nvSpPr>
        <p:spPr>
          <a:xfrm>
            <a:off x="573405" y="4003835"/>
            <a:ext cx="9144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Inter Medium"/>
              </a:rPr>
              <a:t>Đợi chờ kiểm định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6DAEA29-43C1-48F4-9745-1359A4559254}"/>
              </a:ext>
            </a:extLst>
          </p:cNvPr>
          <p:cNvSpPr txBox="1"/>
          <p:nvPr/>
        </p:nvSpPr>
        <p:spPr>
          <a:xfrm>
            <a:off x="2491799" y="3554970"/>
            <a:ext cx="4291905" cy="133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25" b="1" i="0" u="none">
                <a:solidFill>
                  <a:srgbClr val="DC2626"/>
                </a:solidFill>
                <a:latin typeface="Inter"/>
              </a:rPr>
              <a:t>VÍ DỤ TRONG QUY TRÌNH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B092C82-407B-4542-950B-D0EACF174507}"/>
              </a:ext>
            </a:extLst>
          </p:cNvPr>
          <p:cNvSpPr txBox="1"/>
          <p:nvPr/>
        </p:nvSpPr>
        <p:spPr>
          <a:xfrm>
            <a:off x="2326005" y="3745470"/>
            <a:ext cx="4457700" cy="3452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sz="937" b="0" i="0" u="none">
                <a:solidFill>
                  <a:srgbClr val="334155"/>
                </a:solidFill>
                <a:latin typeface="Inter"/>
              </a:rPr>
              <a:t>Chờ kết quả kiểm nghiệm vi chất &amp; VSATTP (2 nhánh song song) trước khi xuất kho; </a:t>
            </a:r>
            <a:r>
              <a:rPr sz="937" b="1" i="0" u="none">
                <a:solidFill>
                  <a:srgbClr val="0F172A"/>
                </a:solidFill>
                <a:latin typeface="Inter"/>
              </a:rPr>
              <a:t>chờ nhà trường xác nhận sĩ số</a:t>
            </a:r>
            <a:r>
              <a:rPr sz="937" b="0" i="0" u="none">
                <a:solidFill>
                  <a:srgbClr val="334155"/>
                </a:solidFill>
                <a:latin typeface="Inter"/>
              </a:rPr>
              <a:t> thực tế trước khi chốt cấp phát.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82434EA-D9F6-4827-ABAF-FA1CD5F3F060}"/>
              </a:ext>
            </a:extLst>
          </p:cNvPr>
          <p:cNvSpPr txBox="1"/>
          <p:nvPr/>
        </p:nvSpPr>
        <p:spPr>
          <a:xfrm>
            <a:off x="7340024" y="3554970"/>
            <a:ext cx="4301430" cy="133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25" b="1" i="0" u="none">
                <a:solidFill>
                  <a:srgbClr val="16A34A"/>
                </a:solidFill>
                <a:latin typeface="Inter"/>
              </a:rPr>
              <a:t>HƯỚNG KHẮC PHỤC TỐI ƯU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A85774E-5CDB-4458-8CE1-FF04D2749023}"/>
              </a:ext>
            </a:extLst>
          </p:cNvPr>
          <p:cNvSpPr txBox="1"/>
          <p:nvPr/>
        </p:nvSpPr>
        <p:spPr>
          <a:xfrm>
            <a:off x="7174230" y="3745470"/>
            <a:ext cx="4467225" cy="3452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sz="937" b="0" i="0" u="none">
                <a:solidFill>
                  <a:srgbClr val="334155"/>
                </a:solidFill>
                <a:latin typeface="Inter"/>
              </a:rPr>
              <a:t>Áp dụng </a:t>
            </a:r>
            <a:r>
              <a:rPr sz="937" b="1" i="0" u="none">
                <a:solidFill>
                  <a:srgbClr val="0F172A"/>
                </a:solidFill>
                <a:latin typeface="Inter"/>
              </a:rPr>
              <a:t>phòng kiểm nghiệm Rapid-Test</a:t>
            </a:r>
            <a:r>
              <a:rPr sz="937" b="0" i="0" u="none">
                <a:solidFill>
                  <a:srgbClr val="334155"/>
                </a:solidFill>
                <a:latin typeface="Inter"/>
              </a:rPr>
              <a:t> đạt chuẩn trả kết quả nhanh; quy định mốc thời gian </a:t>
            </a:r>
            <a:r>
              <a:rPr sz="937" b="1" i="0" u="none">
                <a:solidFill>
                  <a:srgbClr val="0F172A"/>
                </a:solidFill>
                <a:latin typeface="Inter"/>
              </a:rPr>
              <a:t>cập nhật sĩ số cố định</a:t>
            </a:r>
            <a:r>
              <a:rPr sz="937" b="0" i="0" u="none">
                <a:solidFill>
                  <a:srgbClr val="334155"/>
                </a:solidFill>
                <a:latin typeface="Inter"/>
              </a:rPr>
              <a:t> hằng tháng.</a:t>
            </a:r>
          </a:p>
        </p:txBody>
      </p:sp>
      <p:pic>
        <p:nvPicPr>
          <p:cNvPr id="57" name="Picture 56" descr="image.png">
            <a:extLst>
              <a:ext uri="{FF2B5EF4-FFF2-40B4-BE49-F238E27FC236}">
                <a16:creationId xmlns:a16="http://schemas.microsoft.com/office/drawing/2014/main" id="{64776A52-2EF4-4BC2-9C1D-0653086024AF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73405" y="4632485"/>
            <a:ext cx="823912" cy="152400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6AAB067B-D212-4C6E-A693-482C9DF628E1}"/>
              </a:ext>
            </a:extLst>
          </p:cNvPr>
          <p:cNvSpPr txBox="1"/>
          <p:nvPr/>
        </p:nvSpPr>
        <p:spPr>
          <a:xfrm>
            <a:off x="573405" y="4842035"/>
            <a:ext cx="7905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Inter ExtraBold"/>
              </a:rPr>
              <a:t>OVERDO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24DF3D8-B9F0-4B41-A715-0D10B621E8AD}"/>
              </a:ext>
            </a:extLst>
          </p:cNvPr>
          <p:cNvSpPr txBox="1"/>
          <p:nvPr/>
        </p:nvSpPr>
        <p:spPr>
          <a:xfrm>
            <a:off x="573405" y="5127785"/>
            <a:ext cx="11239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Inter Medium"/>
              </a:rPr>
              <a:t>Báo cáo &amp; Sản xuất dư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9287814-3F09-4879-8555-5021175C0045}"/>
              </a:ext>
            </a:extLst>
          </p:cNvPr>
          <p:cNvSpPr txBox="1"/>
          <p:nvPr/>
        </p:nvSpPr>
        <p:spPr>
          <a:xfrm>
            <a:off x="2491799" y="4678920"/>
            <a:ext cx="4291905" cy="133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25" b="1" i="0" u="none">
                <a:solidFill>
                  <a:srgbClr val="DC2626"/>
                </a:solidFill>
                <a:latin typeface="Inter"/>
              </a:rPr>
              <a:t>VÍ DỤ TRONG QUY TRÌNH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495D431-4A02-41C1-BB40-D743019E1B39}"/>
              </a:ext>
            </a:extLst>
          </p:cNvPr>
          <p:cNvSpPr txBox="1"/>
          <p:nvPr/>
        </p:nvSpPr>
        <p:spPr>
          <a:xfrm>
            <a:off x="2326005" y="4869420"/>
            <a:ext cx="4457700" cy="3452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sz="937" b="0" i="0" u="none">
                <a:solidFill>
                  <a:srgbClr val="334155"/>
                </a:solidFill>
                <a:latin typeface="Inter"/>
              </a:rPr>
              <a:t>Sản xuất dư số lượng do chậm cập nhật biến động sĩ số; </a:t>
            </a:r>
            <a:r>
              <a:rPr sz="937" b="1" i="0" u="none">
                <a:solidFill>
                  <a:srgbClr val="0F172A"/>
                </a:solidFill>
                <a:latin typeface="Inter"/>
              </a:rPr>
              <a:t>lập nhiều bộ báo cáo riêng lẻ</a:t>
            </a:r>
            <a:r>
              <a:rPr sz="937" b="0" i="0" u="none">
                <a:solidFill>
                  <a:srgbClr val="334155"/>
                </a:solidFill>
                <a:latin typeface="Inter"/>
              </a:rPr>
              <a:t> trùng lặp nội dung gửi Sở GD&amp;ĐT và Sở Y tế.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31AA891-27AF-4D6C-8BBE-0C55378A4F77}"/>
              </a:ext>
            </a:extLst>
          </p:cNvPr>
          <p:cNvSpPr txBox="1"/>
          <p:nvPr/>
        </p:nvSpPr>
        <p:spPr>
          <a:xfrm>
            <a:off x="7340024" y="4678920"/>
            <a:ext cx="4301430" cy="133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25" b="1" i="0" u="none">
                <a:solidFill>
                  <a:srgbClr val="16A34A"/>
                </a:solidFill>
                <a:latin typeface="Inter"/>
              </a:rPr>
              <a:t>HƯỚNG KHẮC PHỤC TỐI ƯU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AECB1F5-9564-4385-A4B2-AEB9F57EDC36}"/>
              </a:ext>
            </a:extLst>
          </p:cNvPr>
          <p:cNvSpPr txBox="1"/>
          <p:nvPr/>
        </p:nvSpPr>
        <p:spPr>
          <a:xfrm>
            <a:off x="7174230" y="4869420"/>
            <a:ext cx="4467225" cy="3452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sz="937" b="0" i="0" u="none">
                <a:solidFill>
                  <a:srgbClr val="334155"/>
                </a:solidFill>
                <a:latin typeface="Inter"/>
              </a:rPr>
              <a:t>Xây dựng cơ chế </a:t>
            </a:r>
            <a:r>
              <a:rPr sz="937" b="1" i="0" u="none">
                <a:solidFill>
                  <a:srgbClr val="0F172A"/>
                </a:solidFill>
                <a:latin typeface="Inter"/>
              </a:rPr>
              <a:t>cập nhật sĩ số tự động</a:t>
            </a:r>
            <a:r>
              <a:rPr sz="937" b="0" i="0" u="none">
                <a:solidFill>
                  <a:srgbClr val="334155"/>
                </a:solidFill>
                <a:latin typeface="Inter"/>
              </a:rPr>
              <a:t>; </a:t>
            </a:r>
            <a:r>
              <a:rPr sz="937" b="1" i="0" u="none">
                <a:solidFill>
                  <a:srgbClr val="0F172A"/>
                </a:solidFill>
                <a:latin typeface="Inter"/>
              </a:rPr>
              <a:t>hợp nhất báo cáo gửi hai Sở</a:t>
            </a:r>
            <a:r>
              <a:rPr sz="937" b="0" i="0" u="none">
                <a:solidFill>
                  <a:srgbClr val="334155"/>
                </a:solidFill>
                <a:latin typeface="Inter"/>
              </a:rPr>
              <a:t> thành một bộ hồ sơ chung có xác nhận đồng thời.</a:t>
            </a:r>
          </a:p>
        </p:txBody>
      </p:sp>
      <p:pic>
        <p:nvPicPr>
          <p:cNvPr id="64" name="Picture 63" descr="image.png">
            <a:extLst>
              <a:ext uri="{FF2B5EF4-FFF2-40B4-BE49-F238E27FC236}">
                <a16:creationId xmlns:a16="http://schemas.microsoft.com/office/drawing/2014/main" id="{FD15B22B-EEA8-45E3-87C9-AA76B247B9B1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326005" y="2338151"/>
            <a:ext cx="108644" cy="104775"/>
          </a:xfrm>
          <a:prstGeom prst="rect">
            <a:avLst/>
          </a:prstGeom>
        </p:spPr>
      </p:pic>
      <p:pic>
        <p:nvPicPr>
          <p:cNvPr id="65" name="Picture 64" descr="image.png">
            <a:extLst>
              <a:ext uri="{FF2B5EF4-FFF2-40B4-BE49-F238E27FC236}">
                <a16:creationId xmlns:a16="http://schemas.microsoft.com/office/drawing/2014/main" id="{586CE0AA-19FA-4B08-B33F-DDB5B4051E63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174230" y="2424471"/>
            <a:ext cx="108644" cy="104775"/>
          </a:xfrm>
          <a:prstGeom prst="rect">
            <a:avLst/>
          </a:prstGeom>
        </p:spPr>
      </p:pic>
      <p:pic>
        <p:nvPicPr>
          <p:cNvPr id="66" name="Picture 65" descr="image.png">
            <a:extLst>
              <a:ext uri="{FF2B5EF4-FFF2-40B4-BE49-F238E27FC236}">
                <a16:creationId xmlns:a16="http://schemas.microsoft.com/office/drawing/2014/main" id="{27AAEF74-9D6C-4EF9-83CA-9A091151A0F9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326005" y="3569257"/>
            <a:ext cx="108644" cy="104775"/>
          </a:xfrm>
          <a:prstGeom prst="rect">
            <a:avLst/>
          </a:prstGeom>
        </p:spPr>
      </p:pic>
      <p:pic>
        <p:nvPicPr>
          <p:cNvPr id="67" name="Picture 66" descr="image.png">
            <a:extLst>
              <a:ext uri="{FF2B5EF4-FFF2-40B4-BE49-F238E27FC236}">
                <a16:creationId xmlns:a16="http://schemas.microsoft.com/office/drawing/2014/main" id="{DF59EB30-2EE5-425C-809A-B88D66B9B15F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174230" y="3569257"/>
            <a:ext cx="108644" cy="104775"/>
          </a:xfrm>
          <a:prstGeom prst="rect">
            <a:avLst/>
          </a:prstGeom>
        </p:spPr>
      </p:pic>
      <p:pic>
        <p:nvPicPr>
          <p:cNvPr id="68" name="Picture 67" descr="image.png">
            <a:extLst>
              <a:ext uri="{FF2B5EF4-FFF2-40B4-BE49-F238E27FC236}">
                <a16:creationId xmlns:a16="http://schemas.microsoft.com/office/drawing/2014/main" id="{BBB70032-2A79-447C-B453-78D28D64C834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326005" y="4693207"/>
            <a:ext cx="108644" cy="104775"/>
          </a:xfrm>
          <a:prstGeom prst="rect">
            <a:avLst/>
          </a:prstGeom>
        </p:spPr>
      </p:pic>
      <p:pic>
        <p:nvPicPr>
          <p:cNvPr id="69" name="Picture 68" descr="image.png">
            <a:extLst>
              <a:ext uri="{FF2B5EF4-FFF2-40B4-BE49-F238E27FC236}">
                <a16:creationId xmlns:a16="http://schemas.microsoft.com/office/drawing/2014/main" id="{E28B7165-D79A-421E-81B5-F17B35AF6866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174230" y="4693207"/>
            <a:ext cx="108644" cy="10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9385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kern="0" spc="100" dirty="0">
                <a:solidFill>
                  <a:srgbClr val="3A8D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04 - PHÂN TÍCH ĐỊNH TÍNH – QUY TRÌNH TÀI TRỢ VÀ CẤP PHÁT SỮA CHO CHƯƠNG TRÌNH SỮA HỌC ĐƯỜNG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</a:t>
            </a:r>
            <a:r>
              <a:rPr lang="en-US" sz="29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900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</a:t>
            </a:r>
            <a:r>
              <a:rPr lang="en-US" sz="29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900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</a:t>
            </a:r>
            <a:r>
              <a:rPr lang="en-US" sz="29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900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bên</a:t>
            </a:r>
            <a:r>
              <a:rPr lang="en-US" sz="29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900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liên</a:t>
            </a:r>
            <a:r>
              <a:rPr lang="en-US" sz="29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900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</a:t>
            </a:r>
            <a:endParaRPr lang="en-US" sz="2900" dirty="0"/>
          </a:p>
        </p:txBody>
      </p:sp>
      <p:sp>
        <p:nvSpPr>
          <p:cNvPr id="26" name="Text 24"/>
          <p:cNvSpPr/>
          <p:nvPr/>
        </p:nvSpPr>
        <p:spPr>
          <a:xfrm>
            <a:off x="1146492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pic>
        <p:nvPicPr>
          <p:cNvPr id="75" name="Picture 74" descr="image.png">
            <a:extLst>
              <a:ext uri="{FF2B5EF4-FFF2-40B4-BE49-F238E27FC236}">
                <a16:creationId xmlns:a16="http://schemas.microsoft.com/office/drawing/2014/main" id="{647C0597-B324-4206-B9B0-B5502F1DED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3250" y="1418927"/>
            <a:ext cx="8572500" cy="5276850"/>
          </a:xfrm>
          <a:prstGeom prst="rect">
            <a:avLst/>
          </a:prstGeom>
        </p:spPr>
      </p:pic>
      <p:pic>
        <p:nvPicPr>
          <p:cNvPr id="76" name="Picture 75" descr="image.png">
            <a:extLst>
              <a:ext uri="{FF2B5EF4-FFF2-40B4-BE49-F238E27FC236}">
                <a16:creationId xmlns:a16="http://schemas.microsoft.com/office/drawing/2014/main" id="{10FF2E4C-8564-4943-8D6E-98D39F0CB9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1418927"/>
            <a:ext cx="2476500" cy="1009650"/>
          </a:xfrm>
          <a:prstGeom prst="rect">
            <a:avLst/>
          </a:prstGeom>
        </p:spPr>
      </p:pic>
      <p:pic>
        <p:nvPicPr>
          <p:cNvPr id="77" name="Picture 76" descr="image.png">
            <a:extLst>
              <a:ext uri="{FF2B5EF4-FFF2-40B4-BE49-F238E27FC236}">
                <a16:creationId xmlns:a16="http://schemas.microsoft.com/office/drawing/2014/main" id="{F97294A3-9CDD-499B-822A-0B627EFDE9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2841277"/>
            <a:ext cx="2476500" cy="1009650"/>
          </a:xfrm>
          <a:prstGeom prst="rect">
            <a:avLst/>
          </a:prstGeom>
        </p:spPr>
      </p:pic>
      <p:pic>
        <p:nvPicPr>
          <p:cNvPr id="78" name="Picture 77" descr="image.png">
            <a:extLst>
              <a:ext uri="{FF2B5EF4-FFF2-40B4-BE49-F238E27FC236}">
                <a16:creationId xmlns:a16="http://schemas.microsoft.com/office/drawing/2014/main" id="{DB5517F6-DD2C-43C0-A635-1291048538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4263627"/>
            <a:ext cx="2476500" cy="1009650"/>
          </a:xfrm>
          <a:prstGeom prst="rect">
            <a:avLst/>
          </a:prstGeom>
        </p:spPr>
      </p:pic>
      <p:pic>
        <p:nvPicPr>
          <p:cNvPr id="79" name="Picture 78" descr="image.png">
            <a:extLst>
              <a:ext uri="{FF2B5EF4-FFF2-40B4-BE49-F238E27FC236}">
                <a16:creationId xmlns:a16="http://schemas.microsoft.com/office/drawing/2014/main" id="{B2B8FE5A-AD9B-4F17-9214-57873373EBC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250" y="5685978"/>
            <a:ext cx="2476500" cy="1009650"/>
          </a:xfrm>
          <a:prstGeom prst="rect">
            <a:avLst/>
          </a:prstGeom>
        </p:spPr>
      </p:pic>
      <p:pic>
        <p:nvPicPr>
          <p:cNvPr id="80" name="Picture 79" descr="image.png">
            <a:extLst>
              <a:ext uri="{FF2B5EF4-FFF2-40B4-BE49-F238E27FC236}">
                <a16:creationId xmlns:a16="http://schemas.microsoft.com/office/drawing/2014/main" id="{2D07C2CB-FDBA-4E31-9DEE-F129652E0F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43275" y="1580852"/>
            <a:ext cx="8172450" cy="1009650"/>
          </a:xfrm>
          <a:prstGeom prst="rect">
            <a:avLst/>
          </a:prstGeom>
        </p:spPr>
      </p:pic>
      <p:pic>
        <p:nvPicPr>
          <p:cNvPr id="81" name="Picture 80" descr="image.png">
            <a:extLst>
              <a:ext uri="{FF2B5EF4-FFF2-40B4-BE49-F238E27FC236}">
                <a16:creationId xmlns:a16="http://schemas.microsoft.com/office/drawing/2014/main" id="{ADCB16EB-71B2-4535-B8FB-869A429A7BC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43275" y="2895302"/>
            <a:ext cx="8172450" cy="1009650"/>
          </a:xfrm>
          <a:prstGeom prst="rect">
            <a:avLst/>
          </a:prstGeom>
        </p:spPr>
      </p:pic>
      <p:pic>
        <p:nvPicPr>
          <p:cNvPr id="82" name="Picture 81" descr="image.png">
            <a:extLst>
              <a:ext uri="{FF2B5EF4-FFF2-40B4-BE49-F238E27FC236}">
                <a16:creationId xmlns:a16="http://schemas.microsoft.com/office/drawing/2014/main" id="{7E39EDD4-0802-4472-AE32-B98E17F8882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43275" y="4209752"/>
            <a:ext cx="8172450" cy="1009650"/>
          </a:xfrm>
          <a:prstGeom prst="rect">
            <a:avLst/>
          </a:prstGeom>
        </p:spPr>
      </p:pic>
      <p:pic>
        <p:nvPicPr>
          <p:cNvPr id="83" name="Picture 82" descr="image.png">
            <a:extLst>
              <a:ext uri="{FF2B5EF4-FFF2-40B4-BE49-F238E27FC236}">
                <a16:creationId xmlns:a16="http://schemas.microsoft.com/office/drawing/2014/main" id="{F56B27AC-BCF6-450F-B51A-14C1260192D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43275" y="5524202"/>
            <a:ext cx="8172450" cy="1009650"/>
          </a:xfrm>
          <a:prstGeom prst="rect">
            <a:avLst/>
          </a:prstGeom>
        </p:spPr>
      </p:pic>
      <p:sp>
        <p:nvSpPr>
          <p:cNvPr id="84" name="TextBox 83">
            <a:extLst>
              <a:ext uri="{FF2B5EF4-FFF2-40B4-BE49-F238E27FC236}">
                <a16:creationId xmlns:a16="http://schemas.microsoft.com/office/drawing/2014/main" id="{B1483774-6AA7-413B-BC22-E6488E9C2072}"/>
              </a:ext>
            </a:extLst>
          </p:cNvPr>
          <p:cNvSpPr txBox="1"/>
          <p:nvPr/>
        </p:nvSpPr>
        <p:spPr>
          <a:xfrm>
            <a:off x="3719512" y="1837580"/>
            <a:ext cx="2406848" cy="1238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25" b="1" i="0" u="none">
                <a:solidFill>
                  <a:srgbClr val="1E40AF"/>
                </a:solidFill>
                <a:latin typeface="Plus Jakarta Sans"/>
              </a:rPr>
              <a:t>VAI TRÒ &amp; MỐI QUAN TÂM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CFED6B2-21AA-4A5E-BA32-4B6FDBF2CE88}"/>
              </a:ext>
            </a:extLst>
          </p:cNvPr>
          <p:cNvSpPr txBox="1"/>
          <p:nvPr/>
        </p:nvSpPr>
        <p:spPr>
          <a:xfrm>
            <a:off x="3552825" y="1999505"/>
            <a:ext cx="2573535" cy="3342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sz="975" b="0" i="0" u="none" dirty="0" err="1">
                <a:solidFill>
                  <a:srgbClr val="334155"/>
                </a:solidFill>
                <a:latin typeface="Plus Jakarta Sans Medium"/>
              </a:rPr>
              <a:t>Điều</a:t>
            </a:r>
            <a:r>
              <a:rPr sz="975" b="0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b="0" i="0" u="none" dirty="0" err="1">
                <a:solidFill>
                  <a:srgbClr val="334155"/>
                </a:solidFill>
                <a:latin typeface="Plus Jakarta Sans Medium"/>
              </a:rPr>
              <a:t>phối</a:t>
            </a:r>
            <a:r>
              <a:rPr sz="975" b="0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b="0" i="0" u="none" dirty="0" err="1">
                <a:solidFill>
                  <a:srgbClr val="334155"/>
                </a:solidFill>
                <a:latin typeface="Plus Jakarta Sans Medium"/>
              </a:rPr>
              <a:t>với</a:t>
            </a:r>
            <a:r>
              <a:rPr sz="975" b="0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b="0" i="0" u="none" dirty="0" err="1">
                <a:solidFill>
                  <a:srgbClr val="334155"/>
                </a:solidFill>
                <a:latin typeface="Plus Jakarta Sans Medium"/>
              </a:rPr>
              <a:t>Sở</a:t>
            </a:r>
            <a:r>
              <a:rPr sz="975" b="0" i="0" u="none" dirty="0">
                <a:solidFill>
                  <a:srgbClr val="334155"/>
                </a:solidFill>
                <a:latin typeface="Plus Jakarta Sans Medium"/>
              </a:rPr>
              <a:t> GD&amp;ĐT &amp; </a:t>
            </a:r>
            <a:r>
              <a:rPr sz="975" b="0" i="0" u="none" dirty="0" err="1">
                <a:solidFill>
                  <a:srgbClr val="334155"/>
                </a:solidFill>
                <a:latin typeface="Plus Jakarta Sans Medium"/>
              </a:rPr>
              <a:t>Vinamilk</a:t>
            </a:r>
            <a:r>
              <a:rPr sz="975" b="0" i="0" u="none" dirty="0">
                <a:solidFill>
                  <a:srgbClr val="334155"/>
                </a:solidFill>
                <a:latin typeface="Plus Jakarta Sans Medium"/>
              </a:rPr>
              <a:t>; </a:t>
            </a:r>
            <a:r>
              <a:rPr sz="975" b="0" i="0" u="none" dirty="0" err="1">
                <a:solidFill>
                  <a:srgbClr val="334155"/>
                </a:solidFill>
                <a:latin typeface="Plus Jakarta Sans Medium"/>
              </a:rPr>
              <a:t>bảo</a:t>
            </a:r>
            <a:r>
              <a:rPr sz="975" b="0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đảm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0F172A"/>
                </a:solidFill>
                <a:latin typeface="Plus Jakarta Sans"/>
              </a:rPr>
              <a:t>tiến</a:t>
            </a:r>
            <a:r>
              <a:rPr sz="975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975" i="0" u="none" dirty="0" err="1">
                <a:solidFill>
                  <a:srgbClr val="0F172A"/>
                </a:solidFill>
                <a:latin typeface="Plus Jakarta Sans"/>
              </a:rPr>
              <a:t>độ</a:t>
            </a:r>
            <a:r>
              <a:rPr sz="975" i="0" u="none" dirty="0">
                <a:solidFill>
                  <a:srgbClr val="0F172A"/>
                </a:solidFill>
                <a:latin typeface="Plus Jakarta Sans"/>
              </a:rPr>
              <a:t> &amp; </a:t>
            </a:r>
            <a:r>
              <a:rPr sz="975" i="0" u="none" dirty="0" err="1">
                <a:solidFill>
                  <a:srgbClr val="0F172A"/>
                </a:solidFill>
                <a:latin typeface="Plus Jakarta Sans"/>
              </a:rPr>
              <a:t>định</a:t>
            </a:r>
            <a:r>
              <a:rPr sz="975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975" i="0" u="none" dirty="0" err="1">
                <a:solidFill>
                  <a:srgbClr val="0F172A"/>
                </a:solidFill>
                <a:latin typeface="Plus Jakarta Sans"/>
              </a:rPr>
              <a:t>mức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b="0" i="0" u="none" dirty="0">
                <a:solidFill>
                  <a:srgbClr val="334155"/>
                </a:solidFill>
                <a:latin typeface="Plus Jakarta Sans Medium"/>
              </a:rPr>
              <a:t>cam </a:t>
            </a:r>
            <a:r>
              <a:rPr sz="975" b="0" i="0" u="none" dirty="0" err="1">
                <a:solidFill>
                  <a:srgbClr val="334155"/>
                </a:solidFill>
                <a:latin typeface="Plus Jakarta Sans Medium"/>
              </a:rPr>
              <a:t>kết</a:t>
            </a:r>
            <a:r>
              <a:rPr sz="975" b="0" i="0" u="none" dirty="0">
                <a:solidFill>
                  <a:srgbClr val="334155"/>
                </a:solidFill>
                <a:latin typeface="Plus Jakarta Sans Medium"/>
              </a:rPr>
              <a:t>.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0B434D5-CA8D-4E10-BA5C-6FBD4DF9E00D}"/>
              </a:ext>
            </a:extLst>
          </p:cNvPr>
          <p:cNvSpPr txBox="1"/>
          <p:nvPr/>
        </p:nvSpPr>
        <p:spPr>
          <a:xfrm>
            <a:off x="6445448" y="1837580"/>
            <a:ext cx="2172890" cy="1238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25" b="1" i="0" u="none">
                <a:solidFill>
                  <a:srgbClr val="B91C1C"/>
                </a:solidFill>
                <a:latin typeface="Plus Jakarta Sans"/>
              </a:rPr>
              <a:t>VẤN ĐỀ THƯỜNG GẶP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A7AA04D-9043-4219-AAA6-1CB2CC8E890B}"/>
              </a:ext>
            </a:extLst>
          </p:cNvPr>
          <p:cNvSpPr txBox="1"/>
          <p:nvPr/>
        </p:nvSpPr>
        <p:spPr>
          <a:xfrm>
            <a:off x="6278760" y="1999505"/>
            <a:ext cx="2339578" cy="3342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sz="975" b="0" i="0" u="none" dirty="0" err="1">
                <a:solidFill>
                  <a:srgbClr val="334155"/>
                </a:solidFill>
                <a:latin typeface="Plus Jakarta Sans Medium"/>
              </a:rPr>
              <a:t>Danh</a:t>
            </a:r>
            <a:r>
              <a:rPr sz="975" b="0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b="0" i="0" u="none" dirty="0" err="1">
                <a:solidFill>
                  <a:srgbClr val="334155"/>
                </a:solidFill>
                <a:latin typeface="Plus Jakarta Sans Medium"/>
              </a:rPr>
              <a:t>sách</a:t>
            </a:r>
            <a:r>
              <a:rPr sz="975" b="0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b="0" i="0" u="none" dirty="0" err="1">
                <a:solidFill>
                  <a:srgbClr val="334155"/>
                </a:solidFill>
                <a:latin typeface="Plus Jakarta Sans Medium"/>
              </a:rPr>
              <a:t>trường</a:t>
            </a:r>
            <a:r>
              <a:rPr sz="975" b="0" i="0" u="none" dirty="0">
                <a:solidFill>
                  <a:srgbClr val="334155"/>
                </a:solidFill>
                <a:latin typeface="Plus Jakarta Sans Medium"/>
              </a:rPr>
              <a:t> &amp; </a:t>
            </a:r>
            <a:r>
              <a:rPr sz="975" b="0" i="0" u="none" dirty="0" err="1">
                <a:solidFill>
                  <a:srgbClr val="334155"/>
                </a:solidFill>
                <a:latin typeface="Plus Jakarta Sans Medium"/>
              </a:rPr>
              <a:t>sĩ</a:t>
            </a:r>
            <a:r>
              <a:rPr sz="975" b="0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b="0" i="0" u="none" dirty="0" err="1">
                <a:solidFill>
                  <a:srgbClr val="334155"/>
                </a:solidFill>
                <a:latin typeface="Plus Jakarta Sans Medium"/>
              </a:rPr>
              <a:t>số</a:t>
            </a:r>
            <a:r>
              <a:rPr sz="975" b="0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0F172A"/>
                </a:solidFill>
                <a:latin typeface="Plus Jakarta Sans"/>
              </a:rPr>
              <a:t>biến</a:t>
            </a:r>
            <a:r>
              <a:rPr sz="975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975" i="0" u="none" dirty="0" err="1">
                <a:solidFill>
                  <a:srgbClr val="0F172A"/>
                </a:solidFill>
                <a:latin typeface="Plus Jakarta Sans"/>
              </a:rPr>
              <a:t>động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b="0" i="0" u="none" dirty="0" err="1">
                <a:solidFill>
                  <a:srgbClr val="334155"/>
                </a:solidFill>
                <a:latin typeface="Plus Jakarta Sans Medium"/>
              </a:rPr>
              <a:t>giữa</a:t>
            </a:r>
            <a:r>
              <a:rPr sz="975" b="0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b="0" i="0" u="none" dirty="0" err="1">
                <a:solidFill>
                  <a:srgbClr val="334155"/>
                </a:solidFill>
                <a:latin typeface="Plus Jakarta Sans Medium"/>
              </a:rPr>
              <a:t>các</a:t>
            </a:r>
            <a:r>
              <a:rPr sz="975" b="0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b="0" i="0" u="none" dirty="0" err="1">
                <a:solidFill>
                  <a:srgbClr val="334155"/>
                </a:solidFill>
                <a:latin typeface="Plus Jakarta Sans Medium"/>
              </a:rPr>
              <a:t>đợt</a:t>
            </a:r>
            <a:r>
              <a:rPr sz="975" b="0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b="0" i="0" u="none" dirty="0" err="1">
                <a:solidFill>
                  <a:srgbClr val="334155"/>
                </a:solidFill>
                <a:latin typeface="Plus Jakarta Sans Medium"/>
              </a:rPr>
              <a:t>cấp</a:t>
            </a:r>
            <a:r>
              <a:rPr sz="975" b="0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b="0" i="0" u="none" dirty="0" err="1">
                <a:solidFill>
                  <a:srgbClr val="334155"/>
                </a:solidFill>
                <a:latin typeface="Plus Jakarta Sans Medium"/>
              </a:rPr>
              <a:t>phát</a:t>
            </a:r>
            <a:r>
              <a:rPr sz="975" b="0" i="0" u="none" dirty="0">
                <a:solidFill>
                  <a:srgbClr val="334155"/>
                </a:solidFill>
                <a:latin typeface="Plus Jakarta Sans Medium"/>
              </a:rPr>
              <a:t>.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AE6F5B0-65FD-4C4D-8808-6E9A4A170FA7}"/>
              </a:ext>
            </a:extLst>
          </p:cNvPr>
          <p:cNvSpPr txBox="1"/>
          <p:nvPr/>
        </p:nvSpPr>
        <p:spPr>
          <a:xfrm>
            <a:off x="8908851" y="1837580"/>
            <a:ext cx="2435423" cy="1238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25" b="1" i="0" u="none">
                <a:solidFill>
                  <a:srgbClr val="047857"/>
                </a:solidFill>
                <a:latin typeface="Plus Jakarta Sans"/>
              </a:rPr>
              <a:t>MONG MUỐN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FCD1C81-0366-4973-B52C-96F694A537B3}"/>
              </a:ext>
            </a:extLst>
          </p:cNvPr>
          <p:cNvSpPr txBox="1"/>
          <p:nvPr/>
        </p:nvSpPr>
        <p:spPr>
          <a:xfrm>
            <a:off x="8770739" y="1999505"/>
            <a:ext cx="2573535" cy="3342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Kênh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cập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nhật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dữ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liệu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trường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học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0F172A"/>
                </a:solidFill>
                <a:latin typeface="Plus Jakarta Sans"/>
              </a:rPr>
              <a:t>theo</a:t>
            </a:r>
            <a:r>
              <a:rPr sz="975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975" i="0" u="none" dirty="0" err="1">
                <a:solidFill>
                  <a:srgbClr val="0F172A"/>
                </a:solidFill>
                <a:latin typeface="Plus Jakarta Sans"/>
              </a:rPr>
              <a:t>thời</a:t>
            </a:r>
            <a:r>
              <a:rPr sz="975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975" i="0" u="none" dirty="0" err="1">
                <a:solidFill>
                  <a:srgbClr val="0F172A"/>
                </a:solidFill>
                <a:latin typeface="Plus Jakarta Sans"/>
              </a:rPr>
              <a:t>gian</a:t>
            </a:r>
            <a:r>
              <a:rPr sz="975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975" i="0" u="none" dirty="0" err="1">
                <a:solidFill>
                  <a:srgbClr val="0F172A"/>
                </a:solidFill>
                <a:latin typeface="Plus Jakarta Sans"/>
              </a:rPr>
              <a:t>thực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.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D58EFF6B-7523-42C3-A328-B87B51FC0A8F}"/>
              </a:ext>
            </a:extLst>
          </p:cNvPr>
          <p:cNvSpPr txBox="1"/>
          <p:nvPr/>
        </p:nvSpPr>
        <p:spPr>
          <a:xfrm>
            <a:off x="3719512" y="3152030"/>
            <a:ext cx="2406848" cy="1238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25" b="1" i="0" u="none">
                <a:solidFill>
                  <a:srgbClr val="1E40AF"/>
                </a:solidFill>
                <a:latin typeface="Plus Jakarta Sans"/>
              </a:rPr>
              <a:t>VAI TRÒ &amp; MỐI QUAN TÂM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2DA611F-2ED8-4220-82A4-79DD2C1E7B1B}"/>
              </a:ext>
            </a:extLst>
          </p:cNvPr>
          <p:cNvSpPr txBox="1"/>
          <p:nvPr/>
        </p:nvSpPr>
        <p:spPr>
          <a:xfrm>
            <a:off x="3552825" y="3313955"/>
            <a:ext cx="2573535" cy="3342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Sản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xuất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,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kiểm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định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&amp;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vận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chuyển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;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đảm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bảo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0F172A"/>
                </a:solidFill>
                <a:latin typeface="Plus Jakarta Sans"/>
              </a:rPr>
              <a:t>chất</a:t>
            </a:r>
            <a:r>
              <a:rPr sz="975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975" i="0" u="none" dirty="0" err="1">
                <a:solidFill>
                  <a:srgbClr val="0F172A"/>
                </a:solidFill>
                <a:latin typeface="Plus Jakarta Sans"/>
              </a:rPr>
              <a:t>lượng</a:t>
            </a:r>
            <a:r>
              <a:rPr sz="975" i="0" u="none" dirty="0">
                <a:solidFill>
                  <a:srgbClr val="0F172A"/>
                </a:solidFill>
                <a:latin typeface="Plus Jakarta Sans"/>
              </a:rPr>
              <a:t> &amp; </a:t>
            </a:r>
            <a:r>
              <a:rPr sz="975" i="0" u="none" dirty="0" err="1">
                <a:solidFill>
                  <a:srgbClr val="0F172A"/>
                </a:solidFill>
                <a:latin typeface="Plus Jakarta Sans"/>
              </a:rPr>
              <a:t>đúng</a:t>
            </a:r>
            <a:r>
              <a:rPr sz="975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975" i="0" u="none" dirty="0" err="1">
                <a:solidFill>
                  <a:srgbClr val="0F172A"/>
                </a:solidFill>
                <a:latin typeface="Plus Jakarta Sans"/>
              </a:rPr>
              <a:t>hạn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.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51D9131F-7CF1-4624-B6EC-E2AEC2F8A9D0}"/>
              </a:ext>
            </a:extLst>
          </p:cNvPr>
          <p:cNvSpPr txBox="1"/>
          <p:nvPr/>
        </p:nvSpPr>
        <p:spPr>
          <a:xfrm>
            <a:off x="6445448" y="3152030"/>
            <a:ext cx="2172890" cy="1238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25" b="1" i="0" u="none">
                <a:solidFill>
                  <a:srgbClr val="B91C1C"/>
                </a:solidFill>
                <a:latin typeface="Plus Jakarta Sans"/>
              </a:rPr>
              <a:t>VẤN ĐỀ THƯỜNG GẶP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AE116DA1-BE89-497A-B78A-6452A0D2DC61}"/>
              </a:ext>
            </a:extLst>
          </p:cNvPr>
          <p:cNvSpPr txBox="1"/>
          <p:nvPr/>
        </p:nvSpPr>
        <p:spPr>
          <a:xfrm>
            <a:off x="6278760" y="3313955"/>
            <a:ext cx="2339578" cy="3342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Thời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tiết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&amp;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giao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thông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cản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trở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tuyến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0F172A"/>
                </a:solidFill>
                <a:latin typeface="Plus Jakarta Sans"/>
              </a:rPr>
              <a:t>vùng</a:t>
            </a:r>
            <a:r>
              <a:rPr sz="975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975" i="0" u="none" dirty="0" err="1">
                <a:solidFill>
                  <a:srgbClr val="0F172A"/>
                </a:solidFill>
                <a:latin typeface="Plus Jakarta Sans"/>
              </a:rPr>
              <a:t>sâu</a:t>
            </a:r>
            <a:r>
              <a:rPr sz="975" i="0" u="none" dirty="0">
                <a:solidFill>
                  <a:srgbClr val="0F172A"/>
                </a:solidFill>
                <a:latin typeface="Plus Jakarta Sans"/>
              </a:rPr>
              <a:t>, </a:t>
            </a:r>
            <a:r>
              <a:rPr sz="975" i="0" u="none" dirty="0" err="1">
                <a:solidFill>
                  <a:srgbClr val="0F172A"/>
                </a:solidFill>
                <a:latin typeface="Plus Jakarta Sans"/>
              </a:rPr>
              <a:t>vùng</a:t>
            </a:r>
            <a:r>
              <a:rPr sz="975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975" i="0" u="none" dirty="0" err="1">
                <a:solidFill>
                  <a:srgbClr val="0F172A"/>
                </a:solidFill>
                <a:latin typeface="Plus Jakarta Sans"/>
              </a:rPr>
              <a:t>xa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.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B7F51183-E81C-4DED-B65C-2469EF3663A6}"/>
              </a:ext>
            </a:extLst>
          </p:cNvPr>
          <p:cNvSpPr txBox="1"/>
          <p:nvPr/>
        </p:nvSpPr>
        <p:spPr>
          <a:xfrm>
            <a:off x="8908851" y="3152030"/>
            <a:ext cx="2435423" cy="1238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25" b="1" i="0" u="none">
                <a:solidFill>
                  <a:srgbClr val="047857"/>
                </a:solidFill>
                <a:latin typeface="Plus Jakarta Sans"/>
              </a:rPr>
              <a:t>MONG MUỐN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8BC82CF-7259-4514-876E-782CA9E49DFB}"/>
              </a:ext>
            </a:extLst>
          </p:cNvPr>
          <p:cNvSpPr txBox="1"/>
          <p:nvPr/>
        </p:nvSpPr>
        <p:spPr>
          <a:xfrm>
            <a:off x="8770739" y="3313955"/>
            <a:ext cx="2573535" cy="3342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Kế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hoạch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0F172A"/>
                </a:solidFill>
                <a:latin typeface="Plus Jakarta Sans"/>
              </a:rPr>
              <a:t>dự</a:t>
            </a:r>
            <a:r>
              <a:rPr sz="975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975" i="0" u="none" dirty="0" err="1">
                <a:solidFill>
                  <a:srgbClr val="0F172A"/>
                </a:solidFill>
                <a:latin typeface="Plus Jakarta Sans"/>
              </a:rPr>
              <a:t>phòng</a:t>
            </a:r>
            <a:r>
              <a:rPr sz="975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975" i="0" u="none" dirty="0" err="1">
                <a:solidFill>
                  <a:srgbClr val="0F172A"/>
                </a:solidFill>
                <a:latin typeface="Plus Jakarta Sans"/>
              </a:rPr>
              <a:t>tuyến</a:t>
            </a:r>
            <a:r>
              <a:rPr sz="975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975" i="0" u="none" dirty="0" err="1">
                <a:solidFill>
                  <a:srgbClr val="0F172A"/>
                </a:solidFill>
                <a:latin typeface="Plus Jakarta Sans"/>
              </a:rPr>
              <a:t>đường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&amp;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phương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tiện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thay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thế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.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038897A-4B40-46A5-8FFC-8A12755EE776}"/>
              </a:ext>
            </a:extLst>
          </p:cNvPr>
          <p:cNvSpPr txBox="1"/>
          <p:nvPr/>
        </p:nvSpPr>
        <p:spPr>
          <a:xfrm>
            <a:off x="3719512" y="4466480"/>
            <a:ext cx="2406848" cy="1238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25" b="1" i="0" u="none">
                <a:solidFill>
                  <a:srgbClr val="1E40AF"/>
                </a:solidFill>
                <a:latin typeface="Plus Jakarta Sans"/>
              </a:rPr>
              <a:t>VAI TRÒ &amp; MỐI QUAN TÂM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555E699E-BC60-4409-BCB7-2F43AFC60D95}"/>
              </a:ext>
            </a:extLst>
          </p:cNvPr>
          <p:cNvSpPr txBox="1"/>
          <p:nvPr/>
        </p:nvSpPr>
        <p:spPr>
          <a:xfrm>
            <a:off x="3552825" y="4628405"/>
            <a:ext cx="2573535" cy="3342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Tiếp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nhận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,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bảo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quản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&amp;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tổ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chức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uống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sữa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;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chuẩn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0F172A"/>
                </a:solidFill>
                <a:latin typeface="Plus Jakarta Sans"/>
              </a:rPr>
              <a:t>số</a:t>
            </a:r>
            <a:r>
              <a:rPr sz="975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975" i="0" u="none" dirty="0" err="1">
                <a:solidFill>
                  <a:srgbClr val="0F172A"/>
                </a:solidFill>
                <a:latin typeface="Plus Jakarta Sans"/>
              </a:rPr>
              <a:t>lượng</a:t>
            </a:r>
            <a:r>
              <a:rPr sz="975" i="0" u="none" dirty="0">
                <a:solidFill>
                  <a:srgbClr val="0F172A"/>
                </a:solidFill>
                <a:latin typeface="Plus Jakarta Sans"/>
              </a:rPr>
              <a:t> &amp; </a:t>
            </a:r>
            <a:r>
              <a:rPr sz="975" i="0" u="none" dirty="0" err="1">
                <a:solidFill>
                  <a:srgbClr val="0F172A"/>
                </a:solidFill>
                <a:latin typeface="Plus Jakarta Sans"/>
              </a:rPr>
              <a:t>lịch</a:t>
            </a:r>
            <a:r>
              <a:rPr sz="975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975" i="0" u="none" dirty="0" err="1">
                <a:solidFill>
                  <a:srgbClr val="0F172A"/>
                </a:solidFill>
                <a:latin typeface="Plus Jakarta Sans"/>
              </a:rPr>
              <a:t>học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.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4C3EBE8B-F467-4711-AD2A-98D665E1BFF9}"/>
              </a:ext>
            </a:extLst>
          </p:cNvPr>
          <p:cNvSpPr txBox="1"/>
          <p:nvPr/>
        </p:nvSpPr>
        <p:spPr>
          <a:xfrm>
            <a:off x="6445448" y="4466480"/>
            <a:ext cx="2172890" cy="1238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25" b="1" i="0" u="none">
                <a:solidFill>
                  <a:srgbClr val="B91C1C"/>
                </a:solidFill>
                <a:latin typeface="Plus Jakarta Sans"/>
              </a:rPr>
              <a:t>VẤN ĐỀ THƯỜNG GẶP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2151F000-74EF-49A9-A838-D3A11BE85FD5}"/>
              </a:ext>
            </a:extLst>
          </p:cNvPr>
          <p:cNvSpPr txBox="1"/>
          <p:nvPr/>
        </p:nvSpPr>
        <p:spPr>
          <a:xfrm>
            <a:off x="6278760" y="4628405"/>
            <a:ext cx="2339578" cy="3342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Sự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cố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hư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hỏng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bao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bì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,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lệch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số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lượng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so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với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0F172A"/>
                </a:solidFill>
                <a:latin typeface="Plus Jakarta Sans"/>
              </a:rPr>
              <a:t>sĩ</a:t>
            </a:r>
            <a:r>
              <a:rPr sz="975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975" i="0" u="none" dirty="0" err="1">
                <a:solidFill>
                  <a:srgbClr val="0F172A"/>
                </a:solidFill>
                <a:latin typeface="Plus Jakarta Sans"/>
              </a:rPr>
              <a:t>số</a:t>
            </a:r>
            <a:r>
              <a:rPr sz="975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975" i="0" u="none" dirty="0" err="1">
                <a:solidFill>
                  <a:srgbClr val="0F172A"/>
                </a:solidFill>
                <a:latin typeface="Plus Jakarta Sans"/>
              </a:rPr>
              <a:t>thực</a:t>
            </a:r>
            <a:r>
              <a:rPr sz="975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975" i="0" u="none" dirty="0" err="1">
                <a:solidFill>
                  <a:srgbClr val="0F172A"/>
                </a:solidFill>
                <a:latin typeface="Plus Jakarta Sans"/>
              </a:rPr>
              <a:t>tế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.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9126019-8929-470E-A2E9-D908C40DBBE0}"/>
              </a:ext>
            </a:extLst>
          </p:cNvPr>
          <p:cNvSpPr txBox="1"/>
          <p:nvPr/>
        </p:nvSpPr>
        <p:spPr>
          <a:xfrm>
            <a:off x="8908851" y="4549973"/>
            <a:ext cx="2435423" cy="1238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25" b="1" i="0" u="none">
                <a:solidFill>
                  <a:srgbClr val="047857"/>
                </a:solidFill>
                <a:latin typeface="Plus Jakarta Sans"/>
              </a:rPr>
              <a:t>MONG MUỐN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EE9DA0DA-B452-4F37-BC21-3A964912E798}"/>
              </a:ext>
            </a:extLst>
          </p:cNvPr>
          <p:cNvSpPr txBox="1"/>
          <p:nvPr/>
        </p:nvSpPr>
        <p:spPr>
          <a:xfrm>
            <a:off x="8770739" y="4711898"/>
            <a:ext cx="2573535" cy="1580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Quy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trình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0F172A"/>
                </a:solidFill>
                <a:latin typeface="Plus Jakarta Sans"/>
              </a:rPr>
              <a:t>đổi</a:t>
            </a:r>
            <a:r>
              <a:rPr sz="975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975" i="0" u="none" dirty="0" err="1">
                <a:solidFill>
                  <a:srgbClr val="0F172A"/>
                </a:solidFill>
                <a:latin typeface="Plus Jakarta Sans"/>
              </a:rPr>
              <a:t>trả</a:t>
            </a:r>
            <a:r>
              <a:rPr sz="975" i="0" u="none" dirty="0">
                <a:solidFill>
                  <a:srgbClr val="0F172A"/>
                </a:solidFill>
                <a:latin typeface="Plus Jakarta Sans"/>
              </a:rPr>
              <a:t> &amp; </a:t>
            </a:r>
            <a:r>
              <a:rPr sz="975" i="0" u="none" dirty="0" err="1">
                <a:solidFill>
                  <a:srgbClr val="0F172A"/>
                </a:solidFill>
                <a:latin typeface="Plus Jakarta Sans"/>
              </a:rPr>
              <a:t>xử</a:t>
            </a:r>
            <a:r>
              <a:rPr sz="975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975" i="0" u="none" dirty="0" err="1">
                <a:solidFill>
                  <a:srgbClr val="0F172A"/>
                </a:solidFill>
                <a:latin typeface="Plus Jakarta Sans"/>
              </a:rPr>
              <a:t>lý</a:t>
            </a:r>
            <a:r>
              <a:rPr sz="975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975" i="0" u="none" dirty="0" err="1">
                <a:solidFill>
                  <a:srgbClr val="0F172A"/>
                </a:solidFill>
                <a:latin typeface="Plus Jakarta Sans"/>
              </a:rPr>
              <a:t>sự</a:t>
            </a:r>
            <a:r>
              <a:rPr sz="975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975" i="0" u="none" dirty="0" err="1">
                <a:solidFill>
                  <a:srgbClr val="0F172A"/>
                </a:solidFill>
                <a:latin typeface="Plus Jakarta Sans"/>
              </a:rPr>
              <a:t>cố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nhanh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gọn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.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DADA9B63-6AC7-4C35-BBA5-19CE6ADDB2B5}"/>
              </a:ext>
            </a:extLst>
          </p:cNvPr>
          <p:cNvSpPr txBox="1"/>
          <p:nvPr/>
        </p:nvSpPr>
        <p:spPr>
          <a:xfrm>
            <a:off x="3719512" y="5780930"/>
            <a:ext cx="2406848" cy="1238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25" b="1" i="0" u="none">
                <a:solidFill>
                  <a:srgbClr val="1E40AF"/>
                </a:solidFill>
                <a:latin typeface="Plus Jakarta Sans"/>
              </a:rPr>
              <a:t>VAI TRÒ &amp; MỐI QUAN TÂM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FA90CE0E-B91E-4024-AFAE-D949BCAADABF}"/>
              </a:ext>
            </a:extLst>
          </p:cNvPr>
          <p:cNvSpPr txBox="1"/>
          <p:nvPr/>
        </p:nvSpPr>
        <p:spPr>
          <a:xfrm>
            <a:off x="3552825" y="5942855"/>
            <a:ext cx="2573535" cy="3342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Giám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sát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triển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khai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;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đáp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ứng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0F172A"/>
                </a:solidFill>
                <a:latin typeface="Plus Jakarta Sans"/>
              </a:rPr>
              <a:t>tiêu</a:t>
            </a:r>
            <a:r>
              <a:rPr sz="975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975" i="0" u="none" dirty="0" err="1">
                <a:solidFill>
                  <a:srgbClr val="0F172A"/>
                </a:solidFill>
                <a:latin typeface="Plus Jakarta Sans"/>
              </a:rPr>
              <a:t>chuẩn</a:t>
            </a:r>
            <a:r>
              <a:rPr sz="975" i="0" u="none" dirty="0">
                <a:solidFill>
                  <a:srgbClr val="0F172A"/>
                </a:solidFill>
                <a:latin typeface="Plus Jakarta Sans"/>
              </a:rPr>
              <a:t> an </a:t>
            </a:r>
            <a:r>
              <a:rPr sz="975" i="0" u="none" dirty="0" err="1">
                <a:solidFill>
                  <a:srgbClr val="0F172A"/>
                </a:solidFill>
                <a:latin typeface="Plus Jakarta Sans"/>
              </a:rPr>
              <a:t>toàn</a:t>
            </a:r>
            <a:r>
              <a:rPr sz="975" i="0" u="none" dirty="0">
                <a:solidFill>
                  <a:srgbClr val="0F172A"/>
                </a:solidFill>
                <a:latin typeface="Plus Jakarta Sans"/>
              </a:rPr>
              <a:t> &amp; </a:t>
            </a:r>
            <a:r>
              <a:rPr sz="975" i="0" u="none" dirty="0" err="1">
                <a:solidFill>
                  <a:srgbClr val="0F172A"/>
                </a:solidFill>
                <a:latin typeface="Plus Jakarta Sans"/>
              </a:rPr>
              <a:t>dinh</a:t>
            </a:r>
            <a:r>
              <a:rPr sz="975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975" i="0" u="none" dirty="0" err="1">
                <a:solidFill>
                  <a:srgbClr val="0F172A"/>
                </a:solidFill>
                <a:latin typeface="Plus Jakarta Sans"/>
              </a:rPr>
              <a:t>dưỡng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.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C3A661EF-E6FD-4880-8FB4-EE4EFCDD1292}"/>
              </a:ext>
            </a:extLst>
          </p:cNvPr>
          <p:cNvSpPr txBox="1"/>
          <p:nvPr/>
        </p:nvSpPr>
        <p:spPr>
          <a:xfrm>
            <a:off x="6445448" y="5780930"/>
            <a:ext cx="2172890" cy="1238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25" b="1" i="0" u="none">
                <a:solidFill>
                  <a:srgbClr val="B91C1C"/>
                </a:solidFill>
                <a:latin typeface="Plus Jakarta Sans"/>
              </a:rPr>
              <a:t>VẤN ĐỀ THƯỜNG GẶP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C8D8873D-E550-4EB5-8F80-CE557AA807BB}"/>
              </a:ext>
            </a:extLst>
          </p:cNvPr>
          <p:cNvSpPr txBox="1"/>
          <p:nvPr/>
        </p:nvSpPr>
        <p:spPr>
          <a:xfrm>
            <a:off x="6278760" y="5942855"/>
            <a:ext cx="2339578" cy="3342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Báo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cáo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triển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khai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chưa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0F172A"/>
                </a:solidFill>
                <a:latin typeface="Plus Jakarta Sans"/>
              </a:rPr>
              <a:t>đồng</a:t>
            </a:r>
            <a:r>
              <a:rPr sz="975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975" i="0" u="none" dirty="0" err="1">
                <a:solidFill>
                  <a:srgbClr val="0F172A"/>
                </a:solidFill>
                <a:latin typeface="Plus Jakarta Sans"/>
              </a:rPr>
              <a:t>bộ</a:t>
            </a:r>
            <a:r>
              <a:rPr sz="975" i="0" u="none" dirty="0">
                <a:solidFill>
                  <a:srgbClr val="0F172A"/>
                </a:solidFill>
                <a:latin typeface="Plus Jakarta Sans"/>
              </a:rPr>
              <a:t> &amp; </a:t>
            </a:r>
            <a:r>
              <a:rPr sz="975" i="0" u="none" dirty="0" err="1">
                <a:solidFill>
                  <a:srgbClr val="0F172A"/>
                </a:solidFill>
                <a:latin typeface="Plus Jakarta Sans"/>
              </a:rPr>
              <a:t>kịp</a:t>
            </a:r>
            <a:r>
              <a:rPr sz="975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975" i="0" u="none" dirty="0" err="1">
                <a:solidFill>
                  <a:srgbClr val="0F172A"/>
                </a:solidFill>
                <a:latin typeface="Plus Jakarta Sans"/>
              </a:rPr>
              <a:t>thời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giữa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các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đợt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.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6D12D9CB-C54C-4F9F-98DB-760C76F61C2E}"/>
              </a:ext>
            </a:extLst>
          </p:cNvPr>
          <p:cNvSpPr txBox="1"/>
          <p:nvPr/>
        </p:nvSpPr>
        <p:spPr>
          <a:xfrm>
            <a:off x="8908851" y="5780930"/>
            <a:ext cx="2435423" cy="1238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25" b="1" i="0" u="none">
                <a:solidFill>
                  <a:srgbClr val="047857"/>
                </a:solidFill>
                <a:latin typeface="Plus Jakarta Sans"/>
              </a:rPr>
              <a:t>MONG MUỐN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AA4D2949-EDE1-45ED-8A45-EE2B0111867A}"/>
              </a:ext>
            </a:extLst>
          </p:cNvPr>
          <p:cNvSpPr txBox="1"/>
          <p:nvPr/>
        </p:nvSpPr>
        <p:spPr>
          <a:xfrm>
            <a:off x="8770739" y="5942855"/>
            <a:ext cx="2573535" cy="1580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Báo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cáo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định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kỳ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0F172A"/>
                </a:solidFill>
                <a:latin typeface="Plus Jakarta Sans"/>
              </a:rPr>
              <a:t>minh</a:t>
            </a:r>
            <a:r>
              <a:rPr sz="975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975" i="0" u="none" dirty="0" err="1">
                <a:solidFill>
                  <a:srgbClr val="0F172A"/>
                </a:solidFill>
                <a:latin typeface="Plus Jakarta Sans"/>
              </a:rPr>
              <a:t>bạch</a:t>
            </a:r>
            <a:r>
              <a:rPr sz="975" i="0" u="none" dirty="0">
                <a:solidFill>
                  <a:srgbClr val="0F172A"/>
                </a:solidFill>
                <a:latin typeface="Plus Jakarta Sans"/>
              </a:rPr>
              <a:t>, </a:t>
            </a:r>
            <a:r>
              <a:rPr sz="975" i="0" u="none" dirty="0" err="1">
                <a:solidFill>
                  <a:srgbClr val="0F172A"/>
                </a:solidFill>
                <a:latin typeface="Plus Jakarta Sans"/>
              </a:rPr>
              <a:t>dễ</a:t>
            </a:r>
            <a:r>
              <a:rPr sz="975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975" i="0" u="none" dirty="0" err="1">
                <a:solidFill>
                  <a:srgbClr val="0F172A"/>
                </a:solidFill>
                <a:latin typeface="Plus Jakarta Sans"/>
              </a:rPr>
              <a:t>đối</a:t>
            </a:r>
            <a:r>
              <a:rPr sz="975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975" i="0" u="none" dirty="0" err="1">
                <a:solidFill>
                  <a:srgbClr val="0F172A"/>
                </a:solidFill>
                <a:latin typeface="Plus Jakarta Sans"/>
              </a:rPr>
              <a:t>chiếu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dữ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liệu</a:t>
            </a:r>
            <a:r>
              <a:rPr sz="975" b="0" i="0" u="none" dirty="0">
                <a:solidFill>
                  <a:srgbClr val="334155"/>
                </a:solidFill>
                <a:latin typeface="Plus Jakarta Sans Medium"/>
              </a:rPr>
              <a:t>.</a:t>
            </a:r>
          </a:p>
        </p:txBody>
      </p:sp>
      <p:pic>
        <p:nvPicPr>
          <p:cNvPr id="108" name="Picture 107" descr="image.png">
            <a:extLst>
              <a:ext uri="{FF2B5EF4-FFF2-40B4-BE49-F238E27FC236}">
                <a16:creationId xmlns:a16="http://schemas.microsoft.com/office/drawing/2014/main" id="{3ED79643-28E4-49B9-851F-3AA2EC5AF36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52825" y="1847105"/>
            <a:ext cx="109537" cy="104775"/>
          </a:xfrm>
          <a:prstGeom prst="rect">
            <a:avLst/>
          </a:prstGeom>
        </p:spPr>
      </p:pic>
      <p:pic>
        <p:nvPicPr>
          <p:cNvPr id="109" name="Picture 108" descr="image.png">
            <a:extLst>
              <a:ext uri="{FF2B5EF4-FFF2-40B4-BE49-F238E27FC236}">
                <a16:creationId xmlns:a16="http://schemas.microsoft.com/office/drawing/2014/main" id="{2BC72BC0-FB7B-4096-B257-07B69154E9E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78760" y="1847105"/>
            <a:ext cx="109537" cy="104775"/>
          </a:xfrm>
          <a:prstGeom prst="rect">
            <a:avLst/>
          </a:prstGeom>
        </p:spPr>
      </p:pic>
      <p:pic>
        <p:nvPicPr>
          <p:cNvPr id="110" name="Picture 109" descr="image.png">
            <a:extLst>
              <a:ext uri="{FF2B5EF4-FFF2-40B4-BE49-F238E27FC236}">
                <a16:creationId xmlns:a16="http://schemas.microsoft.com/office/drawing/2014/main" id="{ADD6D72C-1723-4F24-ADB1-06A097343CB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70739" y="1847105"/>
            <a:ext cx="80962" cy="104775"/>
          </a:xfrm>
          <a:prstGeom prst="rect">
            <a:avLst/>
          </a:prstGeom>
        </p:spPr>
      </p:pic>
      <p:pic>
        <p:nvPicPr>
          <p:cNvPr id="111" name="Picture 110" descr="image.png">
            <a:extLst>
              <a:ext uri="{FF2B5EF4-FFF2-40B4-BE49-F238E27FC236}">
                <a16:creationId xmlns:a16="http://schemas.microsoft.com/office/drawing/2014/main" id="{680A1094-BF43-4B0E-BAB9-BD16900220D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52825" y="3161555"/>
            <a:ext cx="109537" cy="104775"/>
          </a:xfrm>
          <a:prstGeom prst="rect">
            <a:avLst/>
          </a:prstGeom>
        </p:spPr>
      </p:pic>
      <p:pic>
        <p:nvPicPr>
          <p:cNvPr id="112" name="Picture 111" descr="image.png">
            <a:extLst>
              <a:ext uri="{FF2B5EF4-FFF2-40B4-BE49-F238E27FC236}">
                <a16:creationId xmlns:a16="http://schemas.microsoft.com/office/drawing/2014/main" id="{29616C24-F641-4F4D-8C28-44AC20F6CD1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78760" y="3161555"/>
            <a:ext cx="109537" cy="104775"/>
          </a:xfrm>
          <a:prstGeom prst="rect">
            <a:avLst/>
          </a:prstGeom>
        </p:spPr>
      </p:pic>
      <p:pic>
        <p:nvPicPr>
          <p:cNvPr id="113" name="Picture 112" descr="image.png">
            <a:extLst>
              <a:ext uri="{FF2B5EF4-FFF2-40B4-BE49-F238E27FC236}">
                <a16:creationId xmlns:a16="http://schemas.microsoft.com/office/drawing/2014/main" id="{56F9BC4C-5AED-4140-8744-F86B4A4248B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70739" y="3161555"/>
            <a:ext cx="80962" cy="104775"/>
          </a:xfrm>
          <a:prstGeom prst="rect">
            <a:avLst/>
          </a:prstGeom>
        </p:spPr>
      </p:pic>
      <p:pic>
        <p:nvPicPr>
          <p:cNvPr id="114" name="Picture 113" descr="image.png">
            <a:extLst>
              <a:ext uri="{FF2B5EF4-FFF2-40B4-BE49-F238E27FC236}">
                <a16:creationId xmlns:a16="http://schemas.microsoft.com/office/drawing/2014/main" id="{BAB4D9F6-22F9-4A14-A455-1D623F37EA5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552825" y="4476005"/>
            <a:ext cx="109537" cy="104775"/>
          </a:xfrm>
          <a:prstGeom prst="rect">
            <a:avLst/>
          </a:prstGeom>
        </p:spPr>
      </p:pic>
      <p:pic>
        <p:nvPicPr>
          <p:cNvPr id="115" name="Picture 114" descr="image.png">
            <a:extLst>
              <a:ext uri="{FF2B5EF4-FFF2-40B4-BE49-F238E27FC236}">
                <a16:creationId xmlns:a16="http://schemas.microsoft.com/office/drawing/2014/main" id="{B49A0307-6AB7-440E-A509-51CF3157C81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78760" y="4476005"/>
            <a:ext cx="109537" cy="104775"/>
          </a:xfrm>
          <a:prstGeom prst="rect">
            <a:avLst/>
          </a:prstGeom>
        </p:spPr>
      </p:pic>
      <p:pic>
        <p:nvPicPr>
          <p:cNvPr id="116" name="Picture 115" descr="image.png">
            <a:extLst>
              <a:ext uri="{FF2B5EF4-FFF2-40B4-BE49-F238E27FC236}">
                <a16:creationId xmlns:a16="http://schemas.microsoft.com/office/drawing/2014/main" id="{94707392-BB5F-4B4B-92C4-F22E10DEDB7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770739" y="4559498"/>
            <a:ext cx="80962" cy="104775"/>
          </a:xfrm>
          <a:prstGeom prst="rect">
            <a:avLst/>
          </a:prstGeom>
        </p:spPr>
      </p:pic>
      <p:pic>
        <p:nvPicPr>
          <p:cNvPr id="117" name="Picture 116" descr="image.png">
            <a:extLst>
              <a:ext uri="{FF2B5EF4-FFF2-40B4-BE49-F238E27FC236}">
                <a16:creationId xmlns:a16="http://schemas.microsoft.com/office/drawing/2014/main" id="{F52516A7-3C07-4E27-9978-2F2DC1988A1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52825" y="5790455"/>
            <a:ext cx="109537" cy="104775"/>
          </a:xfrm>
          <a:prstGeom prst="rect">
            <a:avLst/>
          </a:prstGeom>
        </p:spPr>
      </p:pic>
      <p:pic>
        <p:nvPicPr>
          <p:cNvPr id="118" name="Picture 117" descr="image.png">
            <a:extLst>
              <a:ext uri="{FF2B5EF4-FFF2-40B4-BE49-F238E27FC236}">
                <a16:creationId xmlns:a16="http://schemas.microsoft.com/office/drawing/2014/main" id="{7B8C3E23-0582-4B7F-8BCC-3E5888D778F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78760" y="5790455"/>
            <a:ext cx="109537" cy="104775"/>
          </a:xfrm>
          <a:prstGeom prst="rect">
            <a:avLst/>
          </a:prstGeom>
        </p:spPr>
      </p:pic>
      <p:pic>
        <p:nvPicPr>
          <p:cNvPr id="119" name="Picture 118" descr="image.png">
            <a:extLst>
              <a:ext uri="{FF2B5EF4-FFF2-40B4-BE49-F238E27FC236}">
                <a16:creationId xmlns:a16="http://schemas.microsoft.com/office/drawing/2014/main" id="{BA3CC9E3-E95E-4A31-8AC3-98944252DE3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70739" y="5790455"/>
            <a:ext cx="80962" cy="1047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0F3354-D9F3-67C2-439C-6EB0E8BF3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3FB83CF-1EBF-15E3-AA44-FF6A59E07E15}"/>
              </a:ext>
            </a:extLst>
          </p:cNvPr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kern="0" spc="100" dirty="0">
                <a:solidFill>
                  <a:srgbClr val="3A8D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04 - PHÂN TÍCH ĐỊNH TÍNH – QUY TRÌNH TÀI TRỢ VÀ CẤP PHÁT SỮA CHO CHƯƠNG TRÌNH SỮA HỌC ĐƯỜNG</a:t>
            </a:r>
            <a:endParaRPr lang="en-US" sz="13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D52EDDC-D0C5-D62A-51EE-452E8D52E251}"/>
              </a:ext>
            </a:extLst>
          </p:cNvPr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</a:t>
            </a:r>
            <a:r>
              <a:rPr lang="en-US" sz="25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500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hình</a:t>
            </a:r>
            <a:r>
              <a:rPr lang="en-US" sz="25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Fishbone</a:t>
            </a:r>
            <a:endParaRPr lang="en-US" sz="25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C0CA90B-C096-36F1-C896-1BCB09398AB9}"/>
              </a:ext>
            </a:extLst>
          </p:cNvPr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9271026C-4A78-41A2-342D-E8B2DECBAACE}"/>
              </a:ext>
            </a:extLst>
          </p:cNvPr>
          <p:cNvSpPr/>
          <p:nvPr/>
        </p:nvSpPr>
        <p:spPr>
          <a:xfrm>
            <a:off x="1136599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B104225-A2A0-49C8-A457-9496976164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288" y="1307592"/>
            <a:ext cx="10907425" cy="5166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4356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kern="0" spc="100" dirty="0">
                <a:solidFill>
                  <a:srgbClr val="3A8D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 PHÂN TÍCH ĐỊNH </a:t>
            </a:r>
            <a:r>
              <a:rPr lang="vi-VN" sz="1300" b="1" kern="0" spc="100" dirty="0">
                <a:solidFill>
                  <a:srgbClr val="3A8D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r>
              <a:rPr lang="en-US" sz="1300" b="1" kern="0" spc="100" dirty="0">
                <a:solidFill>
                  <a:srgbClr val="3A8D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ƯỢNG - QUY TRÌNH KHÁM SỨC KHỎE ĐỊNH KỲ HẰNG NĂM </a:t>
            </a:r>
          </a:p>
          <a:p>
            <a:r>
              <a:rPr lang="en-US" sz="1300" b="1" kern="0" spc="100" dirty="0">
                <a:solidFill>
                  <a:srgbClr val="3A8D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QUY TRÌNH TÀI TRỢ VÀ CẤP PHÁT SỮA CHO CHƯƠNG TRÌNH SỮA HỌC ĐƯỜNG 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Phương pháp Time &amp; Cost Flow Analysis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956816"/>
            <a:ext cx="100584" cy="100584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41248" y="1819656"/>
            <a:ext cx="5376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định nhánh rẽ chính trên sơ đồ BPMN và gán xác suất (%) cho từng nhánh.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825496"/>
            <a:ext cx="100584" cy="100584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41248" y="2688336"/>
            <a:ext cx="5376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Ước tính thời gian và chi phí xử lý cho mỗi nhánh dựa trên đặc thù vận hành.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694176"/>
            <a:ext cx="100584" cy="100584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41248" y="3557016"/>
            <a:ext cx="5376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Thời gian chu kỳ trung bình (ACT) và Chi phí trung bình (AC) có trọng số theo xác suất.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92240" y="1828800"/>
            <a:ext cx="5166360" cy="4023360"/>
          </a:xfrm>
          <a:prstGeom prst="roundRect">
            <a:avLst>
              <a:gd name="adj" fmla="val 2273"/>
            </a:avLst>
          </a:prstGeom>
          <a:solidFill>
            <a:srgbClr val="0B3C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766560" y="2057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thức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766560" y="25146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= Σ ( Pᵢ × CTᵢ )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766560" y="30632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 = Σ ( Pᵢ × Cᵢ )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766560" y="37033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EA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Trong đó: Pᵢ là xác suất nhánh i; CTᵢ là thời gian chu kỳ nhánh i; Cᵢ là chi phí nhánh i.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66560" y="4572000"/>
            <a:ext cx="4480560" cy="0"/>
          </a:xfrm>
          <a:prstGeom prst="line">
            <a:avLst/>
          </a:prstGeom>
          <a:noFill/>
          <a:ln w="12700">
            <a:solidFill>
              <a:srgbClr val="3A8D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766560" y="470916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 </a:t>
            </a:r>
            <a:r>
              <a:rPr lang="en-US" sz="12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dụ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Khám sức khỏe định kỳ: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= (0,85×50) + (0,15×80) = 54,5 phút/CBCNV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36599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kern="0" spc="100" dirty="0">
                <a:solidFill>
                  <a:srgbClr val="3A8D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 PHÂN TÍCH ĐỊNH </a:t>
            </a:r>
            <a:r>
              <a:rPr lang="vi-VN" sz="1300" b="1" kern="0" spc="100" dirty="0">
                <a:solidFill>
                  <a:srgbClr val="3A8D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r>
              <a:rPr lang="en-US" sz="1300" b="1" kern="0" spc="100" dirty="0">
                <a:solidFill>
                  <a:srgbClr val="3A8D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ƯỢNG - QUY TRÌNH KHÁM SỨC KHỎE ĐỊNH KỲ HẰNG NĂM </a:t>
            </a:r>
          </a:p>
          <a:p>
            <a:r>
              <a:rPr lang="en-US" sz="1300" b="1" kern="0" spc="100" dirty="0">
                <a:solidFill>
                  <a:srgbClr val="3A8D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QUY TRÌNH TÀI TRỢ VÀ CẤP PHÁT SỮA CHO CHƯƠNG TRÌNH SỮA HỌC ĐƯỜNG 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định lượng: 2 quy trình chuyên sâu</a:t>
            </a:r>
            <a:endParaRPr lang="en-US" sz="29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737360"/>
          <a:ext cx="530352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6263640" y="1737360"/>
          <a:ext cx="530352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/>
          <p:nvPr/>
        </p:nvSpPr>
        <p:spPr>
          <a:xfrm>
            <a:off x="1136599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3C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vi-VN" sz="1300" b="1" kern="0" spc="1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 PHÂN TÍCH ĐỊNH LƯỢNG - QUY TRÌNH KHÁM SỨC KHỎE ĐỊNH KỲ HẰNG NĂM </a:t>
            </a:r>
          </a:p>
          <a:p>
            <a:pPr marL="0" indent="0">
              <a:buNone/>
            </a:pPr>
            <a:r>
              <a:rPr lang="vi-VN" sz="1300" b="1" kern="0" spc="1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QUY TRÌNH TÀI TRỢ VÀ CẤP PHÁT SỮA CHO CHƯƠNG TRÌNH SỮA HỌC ĐƯỜNG 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Phương </a:t>
            </a:r>
            <a:r>
              <a:rPr lang="en-US" sz="28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pháp</a:t>
            </a:r>
            <a:r>
              <a:rPr lang="en-US" sz="2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</a:t>
            </a:r>
            <a:r>
              <a:rPr lang="en-US" sz="2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lượng</a:t>
            </a:r>
            <a:r>
              <a:rPr lang="en-US" sz="2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về</a:t>
            </a:r>
            <a:r>
              <a:rPr lang="en-US" sz="2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chất</a:t>
            </a:r>
            <a:r>
              <a:rPr lang="en-US" sz="2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lượng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1349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20574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2697480" y="2057400"/>
            <a:ext cx="2926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Tỷ lệ CBCNV tham gia khám sức khỏe đúng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đợt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thấp hơn mục tiêu 100%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26480" y="182880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1349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0" y="20574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8275320" y="2057400"/>
            <a:ext cx="2926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suất chậm trễ của tuyến vận chuyển vùng sâu, vùng xa (Sữa Học Đường)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1349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416052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2697480" y="4160520"/>
            <a:ext cx="2926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Tỷ lệ CBCNV được chỉ định khám chuyên sâu bổ sung - điểm nghẽn CT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393192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1349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0" y="416052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8275320" y="4160520"/>
            <a:ext cx="2926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Tỷ lệ sự cố bao bì trong vận chuyển sữa học đường cần đổi trả khẩn cấp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Vinamilk — Quản trị Quy trình Nghiệp vụ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36599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kern="0" spc="100" dirty="0">
                <a:solidFill>
                  <a:srgbClr val="3A8D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06.KẾT QUẢ, ĐỀ XUẤT CẢI TIẾN &amp; KẾT LUẬN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xuất cải tiến trọng tâm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2A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34440" y="184708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Đa dạng hóa khung giờ &amp; địa điểm khám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222199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Nâng tỷ lệ tham gia khám sức khỏe từ 92% lên trên 98%.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2A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34440" y="289864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Tối ưu hóa lộ trình vận chuyển (route optimization)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327355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Giảm ACT tuyến vùng sâu, vùng xa từ 282,9 xuống dưới 250 phút/lô hàng.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2A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34440" y="395020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Đồng bộ dữ liệu song song theo thời gian thực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432511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Giảm thời gian chờ (Hold) giữa các nhánh xử lý song song.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0292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2A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5029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234440" y="500176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 hóa biểu mẫu &amp; kênh xác nhận thông tin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537667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Giảm hoạt động làm lại (NVA) do dữ liệu đầu vào chưa chuẩn hóa.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36599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3C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103120"/>
            <a:ext cx="5486400" cy="5486400"/>
          </a:xfrm>
          <a:prstGeom prst="ellipse">
            <a:avLst/>
          </a:prstGeom>
          <a:solidFill>
            <a:srgbClr val="3A8DCE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2377440" y="4206240"/>
            <a:ext cx="4572000" cy="4572000"/>
          </a:xfrm>
          <a:prstGeom prst="ellipse">
            <a:avLst/>
          </a:prstGeom>
          <a:solidFill>
            <a:srgbClr val="F2A900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CẢM ƠN THẦY VÀ CÁC BẠN ĐÃ THEO DÕI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868680" y="3657600"/>
            <a:ext cx="2011680" cy="0"/>
          </a:xfrm>
          <a:prstGeom prst="line">
            <a:avLst/>
          </a:prstGeom>
          <a:noFill/>
          <a:ln w="3175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3828403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Hỏi &amp; Đáp (Q&amp;A)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</TotalTime>
  <Words>3520</Words>
  <Application>Microsoft Office PowerPoint</Application>
  <PresentationFormat>Widescreen</PresentationFormat>
  <Paragraphs>465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5" baseType="lpstr">
      <vt:lpstr>Aptos</vt:lpstr>
      <vt:lpstr>Arial</vt:lpstr>
      <vt:lpstr>Calibri</vt:lpstr>
      <vt:lpstr>Cambria</vt:lpstr>
      <vt:lpstr>Inter</vt:lpstr>
      <vt:lpstr>Inter ExtraBold</vt:lpstr>
      <vt:lpstr>Inter Medium</vt:lpstr>
      <vt:lpstr>Inter SemiBold</vt:lpstr>
      <vt:lpstr>Plus Jakarta Sans</vt:lpstr>
      <vt:lpstr>Plus Jakarta Sans ExtraBold</vt:lpstr>
      <vt:lpstr>Plus Jakarta Sans Medium</vt:lpstr>
      <vt:lpstr>Plus Jakarta Sans SemiBold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Nguyễn Như Uyên</cp:lastModifiedBy>
  <cp:revision>16</cp:revision>
  <dcterms:created xsi:type="dcterms:W3CDTF">2026-09-07T10:05:07Z</dcterms:created>
  <dcterms:modified xsi:type="dcterms:W3CDTF">2026-09-10T02:00:59Z</dcterms:modified>
</cp:coreProperties>
</file>