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83" r:id="rId8"/>
    <p:sldId id="284" r:id="rId9"/>
    <p:sldId id="273" r:id="rId10"/>
    <p:sldId id="285" r:id="rId11"/>
    <p:sldId id="286" r:id="rId12"/>
    <p:sldId id="274" r:id="rId13"/>
    <p:sldId id="287" r:id="rId14"/>
    <p:sldId id="288" r:id="rId15"/>
    <p:sldId id="263" r:id="rId16"/>
    <p:sldId id="276" r:id="rId17"/>
    <p:sldId id="281" r:id="rId18"/>
    <p:sldId id="265" r:id="rId19"/>
    <p:sldId id="277" r:id="rId20"/>
    <p:sldId id="278" r:id="rId21"/>
    <p:sldId id="280" r:id="rId22"/>
    <p:sldId id="279" r:id="rId23"/>
    <p:sldId id="266" r:id="rId24"/>
    <p:sldId id="291" r:id="rId25"/>
    <p:sldId id="292" r:id="rId26"/>
    <p:sldId id="293" r:id="rId27"/>
    <p:sldId id="269" r:id="rId28"/>
    <p:sldId id="27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37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F7F83-00E2-5A0D-35CC-2AA7F720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F1636-E6A5-9514-399F-A205D1D93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21639-35BC-916E-4311-84CEEA45F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37CA4-20B8-AD2E-C3E6-343834F13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7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B43C-A307-FF54-1E30-3823F03D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9626B-7FB0-65A3-90C7-C1C8A5080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17177-1AC5-187A-9356-8993350C9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0C7F6-D46D-2239-A66E-2B0535336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92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D8669-A052-7457-4B02-07F8645A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D1D5A-B688-2AD5-2759-C5660CA4C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7E51-BDBC-4DEB-B7E5-D64CF5F40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41260-8757-FD08-7486-FFC7A4DBF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01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7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7A8A-1496-051F-2FFF-F42B1A73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EACFE-2E69-AB0C-56E5-315A630B7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FE046-27B0-FE6E-39CC-6FE1D6745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2D96-8146-2A6C-DC62-BDDC4271D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5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17F1-F056-364F-261D-09E069E8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318C4-75A5-1F04-1BF2-1E6034ED1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F9EB7-48F1-FE32-42A3-99D2FBD00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91B6F-5DE1-C2F7-F73F-2300B9B8B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31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9BA8-51E3-E330-ED99-A71EE53E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80989-8141-C7E3-194B-6591CDC54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17EC6-8950-F344-D924-0B8BA4F16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54F62-916B-05A7-950C-F885ADC3F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11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69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3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14.png"/><Relationship Id="rId21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39.png"/><Relationship Id="rId18" Type="http://schemas.openxmlformats.org/officeDocument/2006/relationships/image" Target="../media/image141.png"/><Relationship Id="rId3" Type="http://schemas.openxmlformats.org/officeDocument/2006/relationships/image" Target="../media/image71.png"/><Relationship Id="rId21" Type="http://schemas.openxmlformats.org/officeDocument/2006/relationships/image" Target="../media/image93.png"/><Relationship Id="rId7" Type="http://schemas.openxmlformats.org/officeDocument/2006/relationships/image" Target="../media/image135.png"/><Relationship Id="rId12" Type="http://schemas.openxmlformats.org/officeDocument/2006/relationships/image" Target="../media/image138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88.png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7.png"/><Relationship Id="rId24" Type="http://schemas.openxmlformats.org/officeDocument/2006/relationships/image" Target="../media/image98.png"/><Relationship Id="rId5" Type="http://schemas.openxmlformats.org/officeDocument/2006/relationships/image" Target="../media/image73.png"/><Relationship Id="rId15" Type="http://schemas.openxmlformats.org/officeDocument/2006/relationships/image" Target="../media/image87.png"/><Relationship Id="rId23" Type="http://schemas.openxmlformats.org/officeDocument/2006/relationships/image" Target="../media/image97.png"/><Relationship Id="rId10" Type="http://schemas.openxmlformats.org/officeDocument/2006/relationships/image" Target="../media/image82.png"/><Relationship Id="rId19" Type="http://schemas.openxmlformats.org/officeDocument/2006/relationships/image" Target="../media/image142.png"/><Relationship Id="rId4" Type="http://schemas.openxmlformats.org/officeDocument/2006/relationships/image" Target="../media/image72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1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48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07.png"/><Relationship Id="rId5" Type="http://schemas.openxmlformats.org/officeDocument/2006/relationships/image" Target="../media/image146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45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1152" y="-2103120"/>
            <a:ext cx="5486400" cy="5486400"/>
          </a:xfrm>
          <a:prstGeom prst="ellipse">
            <a:avLst/>
          </a:prstGeom>
          <a:solidFill>
            <a:srgbClr val="3A8DC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F2A9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MÔN HỆ THỐNG QUẢN TRỊ QUY TRÌNH NGHIỆP VỤ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BPMN và Phân tích Quy trình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Công ty Cổ phần Sữa Việt Nam (Vinamilk)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4251960"/>
            <a:ext cx="2011680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59" y="4434839"/>
            <a:ext cx="10796821" cy="1413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 fontAlgn="base"/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GVHD: 						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Thành</a:t>
            </a:r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viên</a:t>
            </a:r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thực</a:t>
            </a:r>
            <a:r>
              <a:rPr lang="en-US" dirty="0">
                <a:solidFill>
                  <a:srgbClr val="5C7085"/>
                </a:solidFill>
                <a:latin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5C7085"/>
                </a:solidFill>
                <a:latin typeface="Calibri" panose="020F0502020204030204" pitchFamily="34" charset="0"/>
              </a:rPr>
              <a:t>hiện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: </a:t>
            </a:r>
          </a:p>
          <a:p>
            <a:pPr algn="l" rtl="0" fontAlgn="base"/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ThS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Hà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Lê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Hoài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Trung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				Nguyễn Như Uyên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 (24210187)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						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Phạm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Duy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Khánh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 (25210119)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						Nguyễn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Trọng</a:t>
            </a:r>
            <a:r>
              <a:rPr lang="en-US" b="1" i="0" u="none" strike="noStrike" dirty="0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1" i="0" u="none" strike="noStrike" dirty="0" err="1">
                <a:solidFill>
                  <a:srgbClr val="F2A900"/>
                </a:solidFill>
                <a:effectLst/>
                <a:latin typeface="Calibri" panose="020F0502020204030204" pitchFamily="34" charset="0"/>
              </a:rPr>
              <a:t>Nhân</a:t>
            </a:r>
            <a:r>
              <a:rPr lang="en-US" b="0" i="0" u="none" strike="noStrike" dirty="0">
                <a:solidFill>
                  <a:srgbClr val="5C7085"/>
                </a:solidFill>
                <a:effectLst/>
                <a:latin typeface="Calibri" panose="020F0502020204030204" pitchFamily="34" charset="0"/>
              </a:rPr>
              <a:t> (24210236) </a:t>
            </a: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20855-DA16-4A53-8061-53416924B055}"/>
              </a:ext>
            </a:extLst>
          </p:cNvPr>
          <p:cNvSpPr/>
          <p:nvPr/>
        </p:nvSpPr>
        <p:spPr>
          <a:xfrm>
            <a:off x="1775057" y="432803"/>
            <a:ext cx="527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b="1" cap="all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TRƯỜNG ĐẠI HỌC CÔNG NGHỆ THÔNG TIN – UIT</a:t>
            </a:r>
            <a:endParaRPr lang="vi-VN" cap="all" dirty="0">
              <a:solidFill>
                <a:schemeClr val="bg1">
                  <a:lumMod val="9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658A17-0C23-4426-8462-4D64A5C8F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0519"/>
            <a:ext cx="873131" cy="7057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báo cáo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20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doanh nghiệp &amp; kiến trúc quy trình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0" y="19202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thực hiện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3375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 quy trình bằng BPMN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80760" y="320040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32320" y="33375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định tính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định lượng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80760" y="46177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4754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0" y="47548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quả, đề xuất cải tiến &amp; kết luận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Vinamilk — Quản trị Quy trình Nghiệp vụ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TỔNG QUAN DOANH NGHIỆP &amp; KIẾN TRÚC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Cổ phần Sữa Việt Nam (Vinamilk)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4825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911096"/>
            <a:ext cx="6656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sản xuất và kinh doanh sữa hàng đầu Việt Nam,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chuỗi giá trị khép kín từ vùng nguyên liệu đến phân phối.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9981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962656"/>
            <a:ext cx="6656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trang trại, nhà máy sản xuất, hệ thống logistics và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trải rộng trên cả nước.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151376"/>
            <a:ext cx="100584" cy="10058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4014216"/>
            <a:ext cx="6656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vận hành theo kiến trúc quy trình 3 tầng: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Cốt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lõi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Hỗ trợ, đảm bảo kiểm soát chất lượng xuyên </a:t>
            </a: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suốt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 err="1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</a:t>
            </a: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cung ứng.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38160" y="205740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92440" y="265541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quy trình vận hành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342900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402701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được phân tích chi tiết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38160" y="480060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092440" y="539861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phỏng vấn xây dựng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3" name="Picture 22" descr="Vinamilk một năm sau tái định vị thương hiệu: Vẫn đang ở ...">
            <a:extLst>
              <a:ext uri="{FF2B5EF4-FFF2-40B4-BE49-F238E27FC236}">
                <a16:creationId xmlns:a16="http://schemas.microsoft.com/office/drawing/2014/main" id="{81401960-BF48-4C24-FD95-C9DF43E9E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35190"/>
            <a:ext cx="6080924" cy="3587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TỔNG QUAN DOANH NGHIỆP &amp; KIẾN TRÚC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quy trình 3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CỐT LÕI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5E3B52-4F4E-4DDB-732C-F30881D1C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002" y="1442466"/>
            <a:ext cx="709199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PHƯƠNG PHÁP THỰC HIỆN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phương pháp thu thập bằng chứng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39" y="1828800"/>
            <a:ext cx="4616919" cy="4114800"/>
          </a:xfrm>
          <a:prstGeom prst="roundRect">
            <a:avLst>
              <a:gd name="adj" fmla="val 2222"/>
            </a:avLst>
          </a:prstGeom>
          <a:solidFill>
            <a:srgbClr val="EA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dựa trên bằng chứng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88336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2551176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quy trình hiện có (quy chế, hợp đồng)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3172968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tổ chức các bộ phận liên quan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794760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làm việc theo chu kỳ/năm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553712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416552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ngữ, sổ tay chuyên ngành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175504"/>
            <a:ext cx="100584" cy="100584"/>
          </a:xfrm>
          <a:prstGeom prst="ellipse">
            <a:avLst/>
          </a:prstGeom>
          <a:solidFill>
            <a:srgbClr val="3A8D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15568" y="5038344"/>
            <a:ext cx="4462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mẫu, biên bản thực tế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028" name="Picture 4" descr="293.500+ Báo Cáo Tài Liệu Hình Minh Họa Hình minh họa, Đồ họa Vectơ trả phí  bản quyền một lần &amp; Clip nghệ thuật sẵn có - iStock">
            <a:extLst>
              <a:ext uri="{FF2B5EF4-FFF2-40B4-BE49-F238E27FC236}">
                <a16:creationId xmlns:a16="http://schemas.microsoft.com/office/drawing/2014/main" id="{7B6002C2-EFCE-468D-94F6-149532500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2" y="1410663"/>
            <a:ext cx="4761537" cy="476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MÔ HÌNH HÓA BPMN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BPMN - Quy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02920" y="6053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pool tham gia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6053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gateway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79476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cặp Parallel Split/Join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9A00A-1F28-416F-A4A1-574BD29EC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16" y="1434925"/>
            <a:ext cx="10418567" cy="5158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95500"/>
            <a:ext cx="5381625" cy="3581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95500"/>
            <a:ext cx="5381625" cy="3581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287000" y="495300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sz="2550" b="1" i="0" u="none" dirty="0">
              <a:solidFill>
                <a:srgbClr val="065F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433637"/>
            <a:ext cx="3143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50" y="2400300"/>
            <a:ext cx="228028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Tác Nhân Tham 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3847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Ban HSE: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Chủ trì lập quy định, đào tạo, kiểm tra hiện trường &amp; ghi nhận rủi 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62902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Quản đốc / Trưởng đơn vị: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Phối hợp kiểm tra và trực tiếp tổ chức khắc phục tồn tại.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21957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Người lao động: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Trực tiếp tuân thủ quy định an toàn, tham gia đào tạo &amp; hợp tác kiểm 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81012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Ban Điều hành: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Xem xét và chỉ đạo xử lý các vụ việc, rủi ro mức độ nghiêm trọng.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433637"/>
            <a:ext cx="3143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3725" y="2400300"/>
            <a:ext cx="26003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Khách Hàng Quy Trình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038475"/>
            <a:ext cx="4562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Khách hàng nội bộ:</a:t>
            </a:r>
            <a:r>
              <a:t>
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Toàn thể CBCNV Vinamilk — Nhận giá trị trực tiếp thông qua môi trường làm việc an toàn, rủi ro được loại bỏ kịp thời.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952875"/>
            <a:ext cx="4562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Khách hàng bên ngoài:</a:t>
            </a:r>
            <a:r>
              <a:t>
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Cơ quan quản lý nhà nước về lao động/HSE, cùng các tổ chức đánh giá &amp; cấp chứng nhận tiêu chuẩn.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076575"/>
            <a:ext cx="1905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667125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4257675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848225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076575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990975"/>
            <a:ext cx="152400" cy="152400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A62F6D37-0E1C-41D2-AFBD-58697047E18F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95500"/>
            <a:ext cx="5381625" cy="3581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95500"/>
            <a:ext cx="5381625" cy="3581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287000" y="495300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2550" b="1" i="0" u="none" dirty="0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50" b="1" i="0" u="none" dirty="0" err="1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sz="2550" b="1" i="0" u="none" dirty="0">
              <a:solidFill>
                <a:srgbClr val="065F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433637"/>
            <a:ext cx="2476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9675" y="2400300"/>
            <a:ext cx="192430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Kết Quả Tích Cực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03847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Môi trường an toàn: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Khu vực kiểm tra đáp ứng đầy đủ tiêu chuẩn an toàn lao động.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62902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Xử lý kịp thời: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Nhận diện sớm nguy cơ và ngăn chặn kịp thời các hành vi vi phạm.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21957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Nâng cao ý thức: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Người lao động tuân thủ tốt hơn thông qua đào tạo và nhắc nhở.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481012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Hồ sơ đầy đủ: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Biện pháp khắc phục và dữ liệu kiểm tra được ghi nhận hệ thống.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433637"/>
            <a:ext cx="2476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7050" y="2400300"/>
            <a:ext cx="234748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Hạn Chế &amp; Kiểm Soát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03847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Yêu cầu khắc phục: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Phát hiện các vi phạm an toàn bắt buộc phải triển khai xử lý ngay.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62902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Tái kiểm tra: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Các tồn tại chưa xử lý triệt để phải đưa vào danh mục theo dõi và tái giám sát.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4219575"/>
            <a:ext cx="4562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Roboto"/>
              </a:rPr>
              <a:t>Điều tra sự cố: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Trường hợp phát sinh sự cố nghiêm trọng buộc phải điều tra, báo cáo &amp; phòng ngừa tái diễn.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076575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66712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257675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84822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076575"/>
            <a:ext cx="381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667125"/>
            <a:ext cx="381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257675"/>
            <a:ext cx="38100" cy="152400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6AB066FA-F553-4562-9BA4-993CAB291649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10719-46D7-30CA-E473-488C39B2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0FB909-DD4C-37AF-7EDB-5F538C9F57A4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MÔ HÌNH HÓA BPMN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B5BC31-469F-61AD-988C-07568756A166}"/>
              </a:ext>
            </a:extLst>
          </p:cNvPr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BPMN - Quy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sữa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tươi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nông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endParaRPr lang="en-US" sz="2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0E8B806-608E-5E76-0E65-5CC6B3FCF933}"/>
              </a:ext>
            </a:extLst>
          </p:cNvPr>
          <p:cNvSpPr/>
          <p:nvPr/>
        </p:nvSpPr>
        <p:spPr>
          <a:xfrm>
            <a:off x="502920" y="6053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pool tham gia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9B32F9-382E-A1DA-FDF6-C1F30B98347E}"/>
              </a:ext>
            </a:extLst>
          </p:cNvPr>
          <p:cNvSpPr/>
          <p:nvPr/>
        </p:nvSpPr>
        <p:spPr>
          <a:xfrm>
            <a:off x="379476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cặp Parallel Split/Join</a:t>
            </a:r>
            <a:endParaRPr lang="en-US" sz="10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3DBCDFC-18CA-14AB-C266-30281111A477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6B8F4-8679-430E-B1C2-F20B8F82D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71" y="1810512"/>
            <a:ext cx="10472257" cy="448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14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62150"/>
            <a:ext cx="5391150" cy="3771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962150"/>
            <a:ext cx="5391150" cy="37719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287000" y="495300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sz="2400" b="1" i="0" u="none" dirty="0">
              <a:solidFill>
                <a:srgbClr val="002B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257425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9675" y="2228850"/>
            <a:ext cx="20202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2B66"/>
                </a:solidFill>
                <a:latin typeface="Poppins SemiBold"/>
              </a:rPr>
              <a:t>Tác Nhân Tham 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278130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Hộ nông dân liên kết: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Chăm sóc bò, vắt sữa chuẩn kỹ thuật, giao sữa đúng giờ &amp; tiếp nhận kết quả.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32422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Trạm thu mua / Bộ phận QA: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Lấy mẫu, kiểm tra chỉ tiêu chất lượng tại chỗ, cân &amp; làm lạnh 4°C.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86715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Đội vận chuyển / Lái xe bồn: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Duy trì nhiệt độ bảo quản 4°C và vận chuyển an toàn về nhà máy.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41007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Phát triển Vùng nguyên liệu: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Giám sát hoạt động, hỗ trợ kỹ thuật chăn nuôi &amp; giải quyết vướng mắc.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95300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Bộ phận Kế toán / Tài chính: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Đối soát khối lượng - chất lượng và thanh toán tiền sữa định kỳ.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257425"/>
            <a:ext cx="2857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67525" y="2228850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2B66"/>
                </a:solidFill>
                <a:latin typeface="Poppins SemiBold"/>
              </a:rPr>
              <a:t>Khách Hàng Quy Trình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781300"/>
            <a:ext cx="4667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Khách hàng nội bộ (Nhà máy chế biến):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Tiếp nhận nguồn sữa tươi nguyên liệu đạt chuẩn 100% để đưa vào dây chuyền sản xuất sữa tươi, sữa chua, sữa bột.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3633787"/>
            <a:ext cx="4667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Khách hàng bên ngoài (Hộ nông dân liên kết):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Hưởng lợi từ đầu ra tiêu thụ sản phẩm ổn định, được hỗ trợ kỹ thuật chăn nuôi và nhận thanh toán minh bạch, đúng hạn.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09875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352800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895725"/>
            <a:ext cx="1809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438650"/>
            <a:ext cx="1619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4981575"/>
            <a:ext cx="1047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2809875"/>
            <a:ext cx="1619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7475" y="3662362"/>
            <a:ext cx="161925" cy="142875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412CF7E8-E127-4E81-AE75-6CDFEC23BFE5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05075"/>
            <a:ext cx="5391150" cy="268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505075"/>
            <a:ext cx="5391150" cy="2686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287000" y="495300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2400" b="1" i="0" u="none" dirty="0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02B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sz="2400" b="1" i="0" u="none" dirty="0">
              <a:solidFill>
                <a:srgbClr val="002B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8003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2771775"/>
            <a:ext cx="17375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2B66"/>
                </a:solidFill>
                <a:latin typeface="Poppins SemiBold"/>
              </a:rPr>
              <a:t>Kết Quả Tích Cực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32422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Sữa đạt chuẩn 100%: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Nguyên liệu đáp ứng chỉ tiêu chất lượng và được tiếp nhận đúng tiến độ.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86715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Thanh toán minh bạch: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Khối lượng và chất lượng được ghi nhận chính xác làm cơ sở đối soát tiền sữa.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41007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Liên kết bền vững: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Duy trì niềm tin và mối quan hệ hợp tác dài hạn giữa Vinamilk và hộ nông dân.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80035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0375" y="2771775"/>
            <a:ext cx="16848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2B66"/>
                </a:solidFill>
                <a:latin typeface="Poppins SemiBold"/>
              </a:rPr>
              <a:t>Hạn Chế &amp; Rủi 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32422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Từ chối thu mua: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Lô sữa không đạt tiêu chuẩn (tồn dư kháng sinh, vi khuẩn cao, độ béo thấp).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86715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Sự cố bảo quản: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Hỏng bồn lạnh hoặc xe bồn trễ giờ khiến nhiệt độ sữa tăng làm ảnh hưởng chất lượng.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41007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Tranh chấp số liệu: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Phát sinh mâu thuẫn về sai số cân khối lượng hoặc kết quả kiểm định chất lượng.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352800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895725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438650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352800"/>
            <a:ext cx="1047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3895725"/>
            <a:ext cx="1428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4438650"/>
            <a:ext cx="142875" cy="142875"/>
          </a:xfrm>
          <a:prstGeom prst="rect">
            <a:avLst/>
          </a:prstGeom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BBC96603-6AB6-4D8C-ADAF-5EC47F2B2152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8C12B-6D5C-5C44-227E-9327CB97B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5DEED1-FA42-D99D-A8DD-F15334BD34E4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MÔ HÌNH HÓA BPMN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3EC92B-08EB-407C-B73D-0A12076887B5}"/>
              </a:ext>
            </a:extLst>
          </p:cNvPr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BPMN – Quy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sức khỏe định kỳ hàng năm</a:t>
            </a:r>
            <a:endParaRPr lang="en-US" sz="2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28D687-9BE5-56A6-2669-C8395227B648}"/>
              </a:ext>
            </a:extLst>
          </p:cNvPr>
          <p:cNvSpPr/>
          <p:nvPr/>
        </p:nvSpPr>
        <p:spPr>
          <a:xfrm>
            <a:off x="502920" y="6053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pool tham gia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856B23A-F757-B0AF-FDA6-D2B2CD5B1D9C}"/>
              </a:ext>
            </a:extLst>
          </p:cNvPr>
          <p:cNvSpPr/>
          <p:nvPr/>
        </p:nvSpPr>
        <p:spPr>
          <a:xfrm>
            <a:off x="2423160" y="60533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gateway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BCC028A-80B1-9338-BC38-0597EA0B61C1}"/>
              </a:ext>
            </a:extLst>
          </p:cNvPr>
          <p:cNvSpPr/>
          <p:nvPr/>
        </p:nvSpPr>
        <p:spPr>
          <a:xfrm>
            <a:off x="3794760" y="6053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cặp Parallel Split/Join</a:t>
            </a:r>
            <a:endParaRPr lang="en-US" sz="10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ACB0785-73ED-9DF0-83DA-09EAB481DDF3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8AB939-3653-4B0D-A9C5-F9163FF10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56" y="1868087"/>
            <a:ext cx="10388367" cy="41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28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33612"/>
            <a:ext cx="5391150" cy="3228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233612"/>
            <a:ext cx="5391150" cy="32289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287000" y="495300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sz="2400" b="1" i="0" u="none" dirty="0">
              <a:solidFill>
                <a:srgbClr val="0F4C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528887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3950" y="2500312"/>
            <a:ext cx="20202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4C81"/>
                </a:solidFill>
                <a:latin typeface="Poppins SemiBold"/>
              </a:rPr>
              <a:t>Tác Nhân Tham 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052762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Phòng HR &amp; Ban HSE: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Khảo sát nhu cầu, chọn đối tác y tế, lập kế hoạch, thông báo và giám sát tiến độ thực hiện.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595687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Cơ sở Y tế / Bệnh viện: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Trực tiếp khám y khoa, xét nghiệm, chẩn đoán hình ảnh và lập báo cáo kết quả sức khỏe.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138612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Toàn thể CBCNV: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Tham gia khám sức khỏe đầy đủ, đúng giờ và tuân thủ hướng dẫn chuyên môn của bác sĩ.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681537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Y tế cơ quan / Ban Điều hành: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Tiếp nhận báo cáo tổng hợp, quản lý hồ sơ sức khỏe và đề xuất chính sách hỗ trợ y tế.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528887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67525" y="25003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4C81"/>
                </a:solidFill>
                <a:latin typeface="Poppins SemiBold"/>
              </a:rPr>
              <a:t>Khách Hàng Quy Trình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052762"/>
            <a:ext cx="46672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Khách hàng nội bộ: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• </a:t>
            </a:r>
            <a:r>
              <a:rPr sz="1125" b="0" i="1" u="none">
                <a:solidFill>
                  <a:srgbClr val="334155"/>
                </a:solidFill>
                <a:latin typeface="Roboto"/>
              </a:rPr>
              <a:t>Toàn thể người lao động Vinamilk: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Nắm rõ tình trạng sức khỏe, tư vấn y khoa &amp; chăm sóc thể chất miễn phí.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• </a:t>
            </a:r>
            <a:r>
              <a:rPr sz="1125" b="0" i="1" u="none">
                <a:solidFill>
                  <a:srgbClr val="334155"/>
                </a:solidFill>
                <a:latin typeface="Roboto"/>
              </a:rPr>
              <a:t>Ban Điều hành: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Có cơ sở dữ liệu chính xác đánh giá chất lượng nguồn nhân lực.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333875"/>
            <a:ext cx="4667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Khách hàng bên ngoài:</a:t>
            </a:r>
            <a:r>
              <a:t>
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Các cơ quan quản lý nhà nước về lao động và y tế (đánh giá mức độ tuân thủ quy định pháp luật lao động của doanh nghiệp).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081337"/>
            <a:ext cx="1047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624262"/>
            <a:ext cx="1809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167187"/>
            <a:ext cx="1809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710112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3081337"/>
            <a:ext cx="1809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4362450"/>
            <a:ext cx="180975" cy="142875"/>
          </a:xfrm>
          <a:prstGeom prst="rect">
            <a:avLst/>
          </a:prstGeom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766C6BE7-23D7-4C95-9DFC-4F8035825012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05075"/>
            <a:ext cx="5391150" cy="268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505075"/>
            <a:ext cx="5391150" cy="2686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287000" y="4953000"/>
            <a:ext cx="2381250" cy="23812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2400" b="1" i="0" u="none" dirty="0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0F4C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sz="2400" b="1" i="0" u="none" dirty="0">
              <a:solidFill>
                <a:srgbClr val="0F4C8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47750"/>
            <a:ext cx="110490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8003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2771775"/>
            <a:ext cx="173756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4C81"/>
                </a:solidFill>
                <a:latin typeface="Poppins SemiBold"/>
              </a:rPr>
              <a:t>Kết Quả Tích Cực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32422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Đảm bảo 100% tuân thủ: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Người lao động được khám sức khỏe định kỳ đúng quy định pháp luật &amp; chính sách đãi ngộ.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86715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Cập nhật hồ sơ &amp; phát hiện sớm: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Dữ liệu sức khỏe được lưu trữ đầy đủ, phát hiện sớm nguy cơ bệnh lý để điều trị kịp thời.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441007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Nâng cao gắn kết: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Gia tăng niềm tin, sự hài lòng và mức độ gắn kết của nhân viên đối với chính sách phúc lợi Vinamilk.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80035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0375" y="2771775"/>
            <a:ext cx="16848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4C81"/>
                </a:solidFill>
                <a:latin typeface="Poppins SemiBold"/>
              </a:rPr>
              <a:t>Hạn Chế &amp; Rủi 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32422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Tỷ lệ tham gia chưa đạt 100%: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Do một số nhân viên vướng lịch công tác, nghỉ phép hoặc lý do cá nhân.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867150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Trễ báo cáo từ đối tác y tế: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Kết quả khám bị chậm trễ, ảnh hưởng đến tiến độ tổng hợp hồ sơ của Phòng HR.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410075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Roboto"/>
              </a:rPr>
              <a:t>Phát sinh bệnh lý nặng / nghề nghiệp:</a:t>
            </a:r>
            <a:r>
              <a:rPr sz="1125" b="0" i="0" u="none">
                <a:solidFill>
                  <a:srgbClr val="334155"/>
                </a:solidFill>
                <a:latin typeface="Roboto"/>
              </a:rPr>
              <a:t> Đòi hỏi công ty phải chuẩn bị phương án hỗ trợ tài chính và sắp xếp lại nhân sự.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352800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895725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438650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352800"/>
            <a:ext cx="1047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3895725"/>
            <a:ext cx="1428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4438650"/>
            <a:ext cx="142875" cy="142875"/>
          </a:xfrm>
          <a:prstGeom prst="rect">
            <a:avLst/>
          </a:prstGeom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FCF2E864-B097-424E-BD26-2BD40F1573CB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95299" y="47502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giá trị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giá trị trực tiếp cho khách hàng của quy trình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Value-Added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 cho vận hành/kiểm soát nhưng không trực tiếp tạo giá trị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giá trị — chủ yếu là làm lại, chờ đợi, xử lý ngoại lệ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50776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(8)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6249" y="4892040"/>
            <a:ext cx="44429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(7)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9667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67220C1E-D646-4ADD-8F63-F28EDF7AA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1778127"/>
            <a:ext cx="11277600" cy="490537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464A06B1-76F8-4D37-8EEE-7788BD9AE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1101852"/>
            <a:ext cx="3657600" cy="52387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1C78D082-AABA-4E11-87A2-C64CF6DA4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675" y="1101852"/>
            <a:ext cx="3657600" cy="523875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24813607-3EBC-4E53-B671-C876DE0E5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1101852"/>
            <a:ext cx="3657600" cy="523875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FE68A690-DB09-4F24-A5D3-43198EC26D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3275" y="1206627"/>
            <a:ext cx="600075" cy="31432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37BED89C-0873-40DC-8E98-B6F7561606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0" y="1206627"/>
            <a:ext cx="609600" cy="314325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C4502B24-3952-443C-8F8E-FCBFCEA305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275" y="1206627"/>
            <a:ext cx="600075" cy="314325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66B4182-3CA9-4796-B094-D4B3D0FCC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495230"/>
              </p:ext>
            </p:extLst>
          </p:nvPr>
        </p:nvGraphicFramePr>
        <p:xfrm>
          <a:off x="457200" y="1787652"/>
          <a:ext cx="11258550" cy="468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6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Hoạt động trong quy trình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Tác nhân thực hiện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Phân loại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Giải thích &amp; Đánh giá giá trị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Khảo sát nhu cầu, dự toán ngân sách 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Cần thiết lập kế hoạch quy mô, không tạo giá trị y tế trực tiếp.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Xây dựng danh mục khám định kỳ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Đảm bảo tuân thủ quy định pháp luật và đặc thù công việc.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Mời thầu, đánh giá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Bước kiểm soát lựa chọn đối tác đủ năng lực chuyên môn.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Ký kết hợp đồng với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Thủ tục pháp lý bắt buộc để triển khai chương trình.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Thống nhất lịch khám chi tiết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Cần thiết cho điều phối nguồn lực y tế và ca làm việc.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Thông báo lịch khám đến các đơn vị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Hoạt động truyền thông giúp CBCNV chủ động sắp xếp công việc.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Đến cơ sở y tế khám theo lịch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CBCNV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Bước khởi đầu trực tiếp nhận dịch vụ chăm sóc sức khỏe.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Khám lâm sàng (nội, ngoại, mắt...)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Tạo giá trị trực tiếp: phát hiện sớm các vấn đề sức khỏe.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Khám cận lâm sàng (xét nghiệm, X-quang)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Cung cấp dữ liệu cận lâm sàng hỗ trợ chẩn đoán chính xác.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Tổng hợp kết quả, lập hồ sơ sức khỏe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Kết quả sử dụng trực tiếp cho CBCNV và quản trị doanh nghiệp.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Chỉ định khám chuyên sâu bổ sung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Phát sinh ngoài kế hoạch ban đầu, cần quy trình xử lý ngoại lệ riêng.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Lập báo cáo tổng hợp sức khỏe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Bệnh viện / Cơ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Cần thiết để theo dõi bức tranh sức khỏe tổng thể toàn công 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Rà soát, nhắc nhở các trường hợp chưa khám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Lãng phí thời gian do tỷ lệ tham gia đợt 1 thấp; cần tự động hóa.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893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Bàn giao sổ khám cá nhân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Thủ tục hành chính hoàn tất quy trình giao nhận thông tin.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905"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Lập phương án hỗ trợ điều trị / chuyển vị trí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1E293B"/>
                          </a:solidFill>
                          <a:latin typeface="Plus Jakarta Sans SemiBold"/>
                        </a:rPr>
                        <a:t>HR / Ban HSE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334155"/>
                          </a:solidFill>
                          <a:latin typeface="Plus Jakarta Sans Medium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Tạo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giá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trị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thực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tế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: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đảm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bảo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an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toàn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&amp;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sức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khỏe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lâu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dài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</a:t>
                      </a:r>
                      <a:r>
                        <a:rPr sz="825" b="0" i="0" u="none" dirty="0" err="1">
                          <a:solidFill>
                            <a:srgbClr val="334155"/>
                          </a:solidFill>
                          <a:latin typeface="Plus Jakarta Sans Medium"/>
                        </a:rPr>
                        <a:t>cho</a:t>
                      </a:r>
                      <a:r>
                        <a:rPr sz="825" b="0" i="0" u="none" dirty="0">
                          <a:solidFill>
                            <a:srgbClr val="334155"/>
                          </a:solidFill>
                          <a:latin typeface="Plus Jakarta Sans Medium"/>
                        </a:rPr>
                        <a:t> CBCNV.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EA78D29D-90E0-4980-BF58-D481B5F885AE}"/>
              </a:ext>
            </a:extLst>
          </p:cNvPr>
          <p:cNvSpPr/>
          <p:nvPr/>
        </p:nvSpPr>
        <p:spPr>
          <a:xfrm>
            <a:off x="8763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906F35-3F92-423E-B6B8-D177CC37CE5A}"/>
              </a:ext>
            </a:extLst>
          </p:cNvPr>
          <p:cNvSpPr/>
          <p:nvPr/>
        </p:nvSpPr>
        <p:spPr>
          <a:xfrm>
            <a:off x="35433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B037F3-C53A-41B9-81E8-04EA0D519C1E}"/>
              </a:ext>
            </a:extLst>
          </p:cNvPr>
          <p:cNvSpPr/>
          <p:nvPr/>
        </p:nvSpPr>
        <p:spPr>
          <a:xfrm>
            <a:off x="52578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415230-2BA5-4F87-ABA3-66A03F7109A2}"/>
              </a:ext>
            </a:extLst>
          </p:cNvPr>
          <p:cNvSpPr/>
          <p:nvPr/>
        </p:nvSpPr>
        <p:spPr>
          <a:xfrm>
            <a:off x="6019800" y="1787652"/>
            <a:ext cx="9525" cy="400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6CFD23-96AD-4B0F-9759-8DFB6FD91770}"/>
              </a:ext>
            </a:extLst>
          </p:cNvPr>
          <p:cNvSpPr txBox="1"/>
          <p:nvPr/>
        </p:nvSpPr>
        <p:spPr>
          <a:xfrm>
            <a:off x="609600" y="1216152"/>
            <a:ext cx="2080260" cy="152400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65F46"/>
                </a:solidFill>
                <a:latin typeface="Plus Jakarta Sans ExtraBold"/>
              </a:rPr>
              <a:t>VA - GIÁ TRỊ GIA TĂNG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15947C-682B-4F10-BB0E-B5245592AA82}"/>
              </a:ext>
            </a:extLst>
          </p:cNvPr>
          <p:cNvSpPr txBox="1"/>
          <p:nvPr/>
        </p:nvSpPr>
        <p:spPr>
          <a:xfrm>
            <a:off x="609600" y="1387602"/>
            <a:ext cx="1981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65F46"/>
                </a:solidFill>
                <a:latin typeface="Plus Jakarta Sans Medium"/>
              </a:rPr>
              <a:t>Khám lâm sàng, cận lâm sàng &amp; tư vấn SK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1186D-27D8-4F34-B3FF-9B872C3B78EC}"/>
              </a:ext>
            </a:extLst>
          </p:cNvPr>
          <p:cNvSpPr txBox="1"/>
          <p:nvPr/>
        </p:nvSpPr>
        <p:spPr>
          <a:xfrm>
            <a:off x="4419600" y="1216152"/>
            <a:ext cx="1880235" cy="152400"/>
          </a:xfrm>
          <a:prstGeom prst="rect">
            <a:avLst/>
          </a:prstGeom>
          <a:noFill/>
        </p:spPr>
        <p:txBody>
          <a:bodyPr wrap="square" lIns="157162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40AF"/>
                </a:solidFill>
                <a:latin typeface="Plus Jakarta Sans ExtraBold"/>
              </a:rPr>
              <a:t>BVA - GIÁ TRỊ VẬN HÀNH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428AAA-26D9-4C9F-AE14-F49ECBDAD0D5}"/>
              </a:ext>
            </a:extLst>
          </p:cNvPr>
          <p:cNvSpPr txBox="1"/>
          <p:nvPr/>
        </p:nvSpPr>
        <p:spPr>
          <a:xfrm>
            <a:off x="4419600" y="1387602"/>
            <a:ext cx="17907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E40AF"/>
                </a:solidFill>
                <a:latin typeface="Plus Jakarta Sans Medium"/>
              </a:rPr>
              <a:t>Khảo sát, lập kế hoạch &amp; hợp đồng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8A29B7-1712-4162-81B8-398FCC8B6418}"/>
              </a:ext>
            </a:extLst>
          </p:cNvPr>
          <p:cNvSpPr txBox="1"/>
          <p:nvPr/>
        </p:nvSpPr>
        <p:spPr>
          <a:xfrm>
            <a:off x="8229600" y="1216152"/>
            <a:ext cx="2025253" cy="152400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Plus Jakarta Sans ExtraBold"/>
              </a:rPr>
              <a:t>NVA - LÃNG PHÍ / NGOẠI LỆ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9B5A93-22DF-489E-AD89-CDF87CB669F3}"/>
              </a:ext>
            </a:extLst>
          </p:cNvPr>
          <p:cNvSpPr txBox="1"/>
          <p:nvPr/>
        </p:nvSpPr>
        <p:spPr>
          <a:xfrm>
            <a:off x="8229600" y="1387602"/>
            <a:ext cx="19288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91B1B"/>
                </a:solidFill>
                <a:latin typeface="Plus Jakarta Sans Medium"/>
              </a:rPr>
              <a:t>Nhắc nhở do trễ lịch &amp; khám phát sinh</a:t>
            </a:r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55F382CF-765B-4C90-B810-ADFA5DB692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235202"/>
            <a:ext cx="128587" cy="123825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79DB5CC0-C1D3-4FA2-B947-B5D0E3395D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1235202"/>
            <a:ext cx="157162" cy="123825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B7DA963E-E384-4E2D-A048-8842AD9D4B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1235202"/>
            <a:ext cx="128587" cy="123825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E8A246C0-6ADF-4FE1-A1F8-C39E3E6A4B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0" y="2173414"/>
            <a:ext cx="352425" cy="161925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E0CAC37A-D1EB-4F38-BE38-3B63114E3B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8462" y="2485358"/>
            <a:ext cx="352425" cy="161925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95677F5F-C48E-4821-98FA-D21B728F9B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8461" y="2767536"/>
            <a:ext cx="352425" cy="161925"/>
          </a:xfrm>
          <a:prstGeom prst="rect">
            <a:avLst/>
          </a:prstGeom>
        </p:spPr>
      </p:pic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3CDFA866-C18B-42A8-B53E-07506C409A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8461" y="3049714"/>
            <a:ext cx="352425" cy="161925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E019E4A1-7B7E-4A8C-99BD-8E6ECCEAA4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8462" y="3339433"/>
            <a:ext cx="352425" cy="161925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B03497F1-E7E1-4B2E-A028-419798185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2112" y="3640265"/>
            <a:ext cx="352425" cy="161925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203D2117-51D0-499D-95E7-330327F73E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11799" y="3921648"/>
            <a:ext cx="285750" cy="161925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CDAD028B-06FC-4ED1-BC33-617CD3BCCB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5450" y="4245102"/>
            <a:ext cx="285750" cy="161925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EA3E9BBC-891C-4DB1-BE06-E295DB779F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5450" y="4530852"/>
            <a:ext cx="285750" cy="161925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D8DD99A9-84B2-464D-ACD9-38E0DC93128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5450" y="4816602"/>
            <a:ext cx="285750" cy="161925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7F545B6F-1F03-4F17-95FE-8778421EFA3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2112" y="5102352"/>
            <a:ext cx="352425" cy="161925"/>
          </a:xfrm>
          <a:prstGeom prst="rect">
            <a:avLst/>
          </a:prstGeom>
        </p:spPr>
      </p:pic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E3571527-0197-40FD-8814-1E38D93C7BE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2112" y="5388102"/>
            <a:ext cx="352425" cy="161925"/>
          </a:xfrm>
          <a:prstGeom prst="rect">
            <a:avLst/>
          </a:prstGeom>
        </p:spPr>
      </p:pic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3596E437-85D7-4D31-A708-61F620BFC7F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2112" y="5673852"/>
            <a:ext cx="352425" cy="161925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CD18E068-9D90-4859-B9AE-B954BA34E8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2112" y="5959602"/>
            <a:ext cx="352425" cy="161925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82E2593C-068D-42EA-8502-41E78D3770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05450" y="6245352"/>
            <a:ext cx="285750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22F93-6721-2037-DA17-7D87E3A4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D83F77-301E-8084-2C96-865415241431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9B53F5-08BA-F359-BFCE-CA044A5AFBF8}"/>
              </a:ext>
            </a:extLst>
          </p:cNvPr>
          <p:cNvSpPr/>
          <p:nvPr/>
        </p:nvSpPr>
        <p:spPr>
          <a:xfrm>
            <a:off x="495299" y="47502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98B1A2-34DA-4B6A-BD03-23D62EFE9A21}"/>
              </a:ext>
            </a:extLst>
          </p:cNvPr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D52C19-5A2C-877C-4A60-7501178D8252}"/>
              </a:ext>
            </a:extLst>
          </p:cNvPr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42F88D5-17B7-6ED5-C194-B19A42AB1770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08EACC71-E26F-4489-AF0D-F1CB5AC26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9725"/>
            <a:ext cx="3708350" cy="55245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36C5AAFF-E3F7-451D-A524-D0B03E637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30" y="1609725"/>
            <a:ext cx="3708350" cy="5524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6C37FD66-1FA3-4996-85E6-CF6D85A9A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980" y="1609725"/>
            <a:ext cx="3708499" cy="55245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AC315C4E-1BF8-492D-8362-8224D5FB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352675"/>
            <a:ext cx="11430000" cy="990600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1620887B-3447-48AC-91DD-0E176418A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476625"/>
            <a:ext cx="11430000" cy="1032271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CEA48144-FC8D-47B4-AED4-DDBAEA301E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642246"/>
            <a:ext cx="11430000" cy="1032271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3543F30E-C0C3-4AB6-A66C-07486813F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005" y="2362200"/>
            <a:ext cx="1714500" cy="9715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5E4DFEC-03E7-4A6A-AB19-64867DCBD8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5505" y="2362200"/>
            <a:ext cx="4848225" cy="97155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DA71E0DD-EE08-4FDF-9334-E463386664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3730" y="2362200"/>
            <a:ext cx="4848225" cy="97155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0062224F-3426-4E15-BA47-4616619F97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005" y="3486150"/>
            <a:ext cx="1714500" cy="1013221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F28E129D-9DAC-40A2-961C-D1963F7C06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5505" y="3486150"/>
            <a:ext cx="4848225" cy="1013221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EC1F5507-5C33-405E-85BE-2819DB2CC9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3730" y="3486150"/>
            <a:ext cx="4848225" cy="1013221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81710F61-8A78-41E3-AB0E-B9434101CE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005" y="4651771"/>
            <a:ext cx="1714500" cy="1013221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C67187C6-6D1C-4A30-BAFD-CDFC8142252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5505" y="4651771"/>
            <a:ext cx="4848225" cy="1013221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8C234CAD-4FEC-42D4-84A3-0F80B1EDBE8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83730" y="4651771"/>
            <a:ext cx="4848225" cy="1013221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D470E59E-85E0-4764-A9F0-F3ADFAC871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3405" y="1714500"/>
            <a:ext cx="342900" cy="342900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B6746F67-0118-4D4C-87EB-128DB7FDB40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4155" y="1714500"/>
            <a:ext cx="342900" cy="34290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796C848D-F217-4503-9856-542662E6309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94905" y="1714500"/>
            <a:ext cx="342900" cy="342900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AB01C074-4219-407F-BCE6-7745632BBC4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605" y="1809750"/>
            <a:ext cx="190500" cy="152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A868833-D0E7-43EC-AF2A-219337F39465}"/>
              </a:ext>
            </a:extLst>
          </p:cNvPr>
          <p:cNvSpPr txBox="1"/>
          <p:nvPr/>
        </p:nvSpPr>
        <p:spPr>
          <a:xfrm>
            <a:off x="1030605" y="1743075"/>
            <a:ext cx="24603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MOVE (Di chuyển)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1136E6-648C-4F70-9090-FC1B204DC37E}"/>
              </a:ext>
            </a:extLst>
          </p:cNvPr>
          <p:cNvSpPr txBox="1"/>
          <p:nvPr/>
        </p:nvSpPr>
        <p:spPr>
          <a:xfrm>
            <a:off x="1030605" y="1895475"/>
            <a:ext cx="2343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Tốn thời gian &amp; công sức di chuyển ngoại viện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6AF76769-ED1D-4253-8D23-93FB5FFA23E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29405" y="1809750"/>
            <a:ext cx="152400" cy="152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F828157-E2F9-459B-B4E6-041CF16AA74C}"/>
              </a:ext>
            </a:extLst>
          </p:cNvPr>
          <p:cNvSpPr txBox="1"/>
          <p:nvPr/>
        </p:nvSpPr>
        <p:spPr>
          <a:xfrm>
            <a:off x="4891355" y="1743075"/>
            <a:ext cx="24903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HOLD (Chờ đợi)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997310-0754-4150-A1D6-FAB8318E150D}"/>
              </a:ext>
            </a:extLst>
          </p:cNvPr>
          <p:cNvSpPr txBox="1"/>
          <p:nvPr/>
        </p:nvSpPr>
        <p:spPr>
          <a:xfrm>
            <a:off x="4891355" y="1895475"/>
            <a:ext cx="2371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Nghẽn tiến độ chờ phê duyệt &amp; tổng hợp hồ sơ</a:t>
            </a:r>
          </a:p>
        </p:txBody>
      </p:sp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B471E982-F7CD-4BF8-A15F-AD810D063B8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9680" y="1809750"/>
            <a:ext cx="133350" cy="152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72A2543-ED9D-4693-B8A1-6A82D3838606}"/>
              </a:ext>
            </a:extLst>
          </p:cNvPr>
          <p:cNvSpPr txBox="1"/>
          <p:nvPr/>
        </p:nvSpPr>
        <p:spPr>
          <a:xfrm>
            <a:off x="8752105" y="1743075"/>
            <a:ext cx="234029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OVERDO (Thực hiện thừa)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2A5447-9E12-442A-9602-1EA5495EA773}"/>
              </a:ext>
            </a:extLst>
          </p:cNvPr>
          <p:cNvSpPr txBox="1"/>
          <p:nvPr/>
        </p:nvSpPr>
        <p:spPr>
          <a:xfrm>
            <a:off x="8752105" y="1895475"/>
            <a:ext cx="2228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Trùng lặp kênh thông báo &amp; chỉ tiêu kiểm tra</a:t>
            </a:r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8CC274B0-FB72-4C12-BEC1-FBEAA6AC388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3405" y="2533650"/>
            <a:ext cx="795337" cy="1524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7E005F5-C35B-4434-8025-2D744C63F347}"/>
              </a:ext>
            </a:extLst>
          </p:cNvPr>
          <p:cNvSpPr txBox="1"/>
          <p:nvPr/>
        </p:nvSpPr>
        <p:spPr>
          <a:xfrm>
            <a:off x="573405" y="27432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MOVE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195CA7-2F93-4C7E-97A5-0E8C3BE22544}"/>
              </a:ext>
            </a:extLst>
          </p:cNvPr>
          <p:cNvSpPr txBox="1"/>
          <p:nvPr/>
        </p:nvSpPr>
        <p:spPr>
          <a:xfrm>
            <a:off x="573405" y="3028950"/>
            <a:ext cx="9239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Di chuyển dư thừa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DBCFDD-C428-4527-8AAA-79722C35ECF5}"/>
              </a:ext>
            </a:extLst>
          </p:cNvPr>
          <p:cNvSpPr txBox="1"/>
          <p:nvPr/>
        </p:nvSpPr>
        <p:spPr>
          <a:xfrm>
            <a:off x="2491799" y="2580084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F9C364-B934-4413-A9CD-7CF774C26376}"/>
              </a:ext>
            </a:extLst>
          </p:cNvPr>
          <p:cNvSpPr txBox="1"/>
          <p:nvPr/>
        </p:nvSpPr>
        <p:spPr>
          <a:xfrm>
            <a:off x="2326005" y="2770584"/>
            <a:ext cx="4457700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CBCNV tại nhà máy/trang trại xa cơ sở y tế phải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di chuyển nhiều giờ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để khám; phải di chuyển thêm lần nữa nếu được chỉ định khám chuyên sâu bổ sung.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B119AA-7E4D-40C9-A210-126CE39DC855}"/>
              </a:ext>
            </a:extLst>
          </p:cNvPr>
          <p:cNvSpPr txBox="1"/>
          <p:nvPr/>
        </p:nvSpPr>
        <p:spPr>
          <a:xfrm>
            <a:off x="7340024" y="2580084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DDFDAC-A4B1-45C4-B5CE-B305AFF93247}"/>
              </a:ext>
            </a:extLst>
          </p:cNvPr>
          <p:cNvSpPr txBox="1"/>
          <p:nvPr/>
        </p:nvSpPr>
        <p:spPr>
          <a:xfrm>
            <a:off x="7174230" y="2770584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1" i="0" u="none">
                <a:solidFill>
                  <a:srgbClr val="0F172A"/>
                </a:solidFill>
                <a:latin typeface="Inter"/>
              </a:rPr>
              <a:t>Hợp tác đa cơ sở y tế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theo cụm khu vực; bố trí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xe đưa đón tập trung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theo ca để giảm tối đa số lượt di chuyển cá nhân.</a:t>
            </a:r>
          </a:p>
        </p:txBody>
      </p:sp>
      <p:pic>
        <p:nvPicPr>
          <p:cNvPr id="56" name="Picture 55" descr="image.png">
            <a:extLst>
              <a:ext uri="{FF2B5EF4-FFF2-40B4-BE49-F238E27FC236}">
                <a16:creationId xmlns:a16="http://schemas.microsoft.com/office/drawing/2014/main" id="{998E90BB-4C75-497C-843C-7CC2AB3A7FF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3405" y="3678435"/>
            <a:ext cx="814387" cy="1524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8669CF4-F04C-4B41-B330-DD94589EC13A}"/>
              </a:ext>
            </a:extLst>
          </p:cNvPr>
          <p:cNvSpPr txBox="1"/>
          <p:nvPr/>
        </p:nvSpPr>
        <p:spPr>
          <a:xfrm>
            <a:off x="573405" y="3887985"/>
            <a:ext cx="523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HOLD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650817-57F1-471D-B32A-9C73531BA06F}"/>
              </a:ext>
            </a:extLst>
          </p:cNvPr>
          <p:cNvSpPr txBox="1"/>
          <p:nvPr/>
        </p:nvSpPr>
        <p:spPr>
          <a:xfrm>
            <a:off x="573405" y="4173735"/>
            <a:ext cx="8953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Chờ đợi thông tin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483C0C-FEE5-42DE-9AD9-F48C5F8EF16E}"/>
              </a:ext>
            </a:extLst>
          </p:cNvPr>
          <p:cNvSpPr txBox="1"/>
          <p:nvPr/>
        </p:nvSpPr>
        <p:spPr>
          <a:xfrm>
            <a:off x="2491799" y="3638550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7E8E8C-2578-4D6A-82A7-328071A1F977}"/>
              </a:ext>
            </a:extLst>
          </p:cNvPr>
          <p:cNvSpPr txBox="1"/>
          <p:nvPr/>
        </p:nvSpPr>
        <p:spPr>
          <a:xfrm>
            <a:off x="2326005" y="3829050"/>
            <a:ext cx="44577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Chờ bệnh viện tổng hợp kết quả từ hai nhánh song song (lâm sàng &amp; cận lâm sàng) trước khi lập hồ sơ;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chờ Ban Điều hành phê duyệt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phương án hỗ trợ điều trị.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4A19D3-435D-4A8D-9AB3-51B723E4CADE}"/>
              </a:ext>
            </a:extLst>
          </p:cNvPr>
          <p:cNvSpPr txBox="1"/>
          <p:nvPr/>
        </p:nvSpPr>
        <p:spPr>
          <a:xfrm>
            <a:off x="7340024" y="3724870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A3B27B-A030-4CA5-9EBC-B7624F10A783}"/>
              </a:ext>
            </a:extLst>
          </p:cNvPr>
          <p:cNvSpPr txBox="1"/>
          <p:nvPr/>
        </p:nvSpPr>
        <p:spPr>
          <a:xfrm>
            <a:off x="7174230" y="3915370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Ứng dụng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hệ thống quản lý kết quả khám điện tử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cập nhật thời gian thực;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phân cấp phê duyệt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cho các trường hợp hỗ trợ y tế mức độ nhẹ.</a:t>
            </a:r>
          </a:p>
        </p:txBody>
      </p:sp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D16DC603-DC93-4BAF-B08E-3E5073FCF1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3405" y="4844057"/>
            <a:ext cx="823912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6AF1058-29D0-4321-A34D-E6BAA1DC1F9D}"/>
              </a:ext>
            </a:extLst>
          </p:cNvPr>
          <p:cNvSpPr txBox="1"/>
          <p:nvPr/>
        </p:nvSpPr>
        <p:spPr>
          <a:xfrm>
            <a:off x="573405" y="5053607"/>
            <a:ext cx="79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OVERDO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46A81E-E428-4F25-ACC9-6FA6BD1B05E0}"/>
              </a:ext>
            </a:extLst>
          </p:cNvPr>
          <p:cNvSpPr txBox="1"/>
          <p:nvPr/>
        </p:nvSpPr>
        <p:spPr>
          <a:xfrm>
            <a:off x="573405" y="5339357"/>
            <a:ext cx="8572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Thao tác dư thừa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5DE0F4-45BF-49AA-BC94-76194A18F578}"/>
              </a:ext>
            </a:extLst>
          </p:cNvPr>
          <p:cNvSpPr txBox="1"/>
          <p:nvPr/>
        </p:nvSpPr>
        <p:spPr>
          <a:xfrm>
            <a:off x="2491799" y="4804171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09EFE9-0F2B-4F54-A551-80D9AD8F21FF}"/>
              </a:ext>
            </a:extLst>
          </p:cNvPr>
          <p:cNvSpPr txBox="1"/>
          <p:nvPr/>
        </p:nvSpPr>
        <p:spPr>
          <a:xfrm>
            <a:off x="2326005" y="4994671"/>
            <a:ext cx="44577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Gửi thông báo lịch khám qua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nhiều kênh trùng lặp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(email, bảng tin, tin nhắn); khám lại các chỉ tiêu cơ bản cho nhân viên vừa khám sức khỏe ở nơi khác trong năm.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D9A8E9-303D-464E-A063-1E2E42A40342}"/>
              </a:ext>
            </a:extLst>
          </p:cNvPr>
          <p:cNvSpPr txBox="1"/>
          <p:nvPr/>
        </p:nvSpPr>
        <p:spPr>
          <a:xfrm>
            <a:off x="7340024" y="4890492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E70471-EA06-47D4-82F6-95F796AB2053}"/>
              </a:ext>
            </a:extLst>
          </p:cNvPr>
          <p:cNvSpPr txBox="1"/>
          <p:nvPr/>
        </p:nvSpPr>
        <p:spPr>
          <a:xfrm>
            <a:off x="7174230" y="5080992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1" i="0" u="none">
                <a:solidFill>
                  <a:srgbClr val="0F172A"/>
                </a:solidFill>
                <a:latin typeface="Inter"/>
              </a:rPr>
              <a:t>Chuẩn hóa 01 kênh thông báo chính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có xác nhận đã đọc; cho phép nộp kết quả khám gần nhất (trong 6 tháng) để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miễn giảm hạng mục trùng lặp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159CAC1A-9FED-46D0-AC05-1B7029C4EE9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26005" y="2594371"/>
            <a:ext cx="108644" cy="104775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67D9ABCB-2234-4EC8-8CDE-9F81950A9CD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74230" y="2594371"/>
            <a:ext cx="108644" cy="10477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DC34365C-6BCA-4EE2-8C76-8624E2500E7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26005" y="3652837"/>
            <a:ext cx="108644" cy="10477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F05476CD-D851-4D7E-8E4F-CEB82D02F94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74230" y="3739157"/>
            <a:ext cx="108644" cy="104775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0585D1CF-9A5E-48F2-A272-A1EFDC16D2F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26005" y="4818459"/>
            <a:ext cx="108644" cy="104775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34CCD3A3-1DA3-410E-9E37-4474270042D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74230" y="4904779"/>
            <a:ext cx="108644" cy="1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80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75488" y="1609531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(HR) / Ban HSE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CỐT LÕI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05E11CF6-A5C7-4C70-B595-363FA3DE59C0}"/>
              </a:ext>
            </a:extLst>
          </p:cNvPr>
          <p:cNvSpPr/>
          <p:nvPr/>
        </p:nvSpPr>
        <p:spPr>
          <a:xfrm>
            <a:off x="510073" y="5606136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tế cơ quan / Ban Điều hành</a:t>
            </a:r>
            <a:endParaRPr lang="en-US" sz="16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0F4A45A4-1193-4223-BDB0-41CC89393978}"/>
              </a:ext>
            </a:extLst>
          </p:cNvPr>
          <p:cNvSpPr/>
          <p:nvPr/>
        </p:nvSpPr>
        <p:spPr>
          <a:xfrm>
            <a:off x="518160" y="289986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viện / Cơ sở y tế hợp tác</a:t>
            </a:r>
            <a:endParaRPr lang="en-US" sz="1600" dirty="0"/>
          </a:p>
        </p:txBody>
      </p:sp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67F0FA22-CD48-4CF0-81E8-2A9560488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638" y="1339528"/>
            <a:ext cx="8572500" cy="5180144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998487CA-4FA3-46CF-9707-A6873FD1E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385018"/>
            <a:ext cx="2476500" cy="1009650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6FC7899B-D642-43EE-83D4-2082A09CA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97" y="2738366"/>
            <a:ext cx="2476500" cy="1009650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DBC94B69-2408-48B5-97E3-43304503B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862" y="4112752"/>
            <a:ext cx="2476500" cy="1009650"/>
          </a:xfrm>
          <a:prstGeom prst="rect">
            <a:avLst/>
          </a:prstGeom>
        </p:spPr>
      </p:pic>
      <p:pic>
        <p:nvPicPr>
          <p:cNvPr id="38" name="Picture 37" descr="image.png">
            <a:extLst>
              <a:ext uri="{FF2B5EF4-FFF2-40B4-BE49-F238E27FC236}">
                <a16:creationId xmlns:a16="http://schemas.microsoft.com/office/drawing/2014/main" id="{D308FAC1-8962-4EFE-872E-D0BA8BB071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62" y="5444203"/>
            <a:ext cx="2476500" cy="100965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42E99886-21F6-43A2-AD21-B6D3E6ED03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3275" y="1400363"/>
            <a:ext cx="8172450" cy="1009650"/>
          </a:xfrm>
          <a:prstGeom prst="rect">
            <a:avLst/>
          </a:prstGeom>
        </p:spPr>
      </p:pic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AA6C1EE6-8CCF-4F21-A26E-80F85D758F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2676525"/>
            <a:ext cx="8172450" cy="1009650"/>
          </a:xfrm>
          <a:prstGeom prst="rect">
            <a:avLst/>
          </a:prstGeom>
        </p:spPr>
      </p:pic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3659DC98-A868-486D-8535-4097582E17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3275" y="3990975"/>
            <a:ext cx="8172450" cy="100965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2CEBF400-985C-4139-A93F-9E1BBDB6AB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5305425"/>
            <a:ext cx="8172450" cy="100965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8DA434F-4D0B-4890-916A-539B0B1C2D41}"/>
              </a:ext>
            </a:extLst>
          </p:cNvPr>
          <p:cNvSpPr txBox="1"/>
          <p:nvPr/>
        </p:nvSpPr>
        <p:spPr>
          <a:xfrm>
            <a:off x="3719512" y="161880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0E4E49-446F-436C-9FA3-CF0717D2CC32}"/>
              </a:ext>
            </a:extLst>
          </p:cNvPr>
          <p:cNvSpPr txBox="1"/>
          <p:nvPr/>
        </p:nvSpPr>
        <p:spPr>
          <a:xfrm>
            <a:off x="3552825" y="17807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Lập kế hoạch, điều phối &amp; báo cáo; đạt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100% tỷ lệ tham gia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đúng ngân sách.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5E1216-FBCF-4308-B081-7ED020BBCFA1}"/>
              </a:ext>
            </a:extLst>
          </p:cNvPr>
          <p:cNvSpPr txBox="1"/>
          <p:nvPr/>
        </p:nvSpPr>
        <p:spPr>
          <a:xfrm>
            <a:off x="6445448" y="161880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FD2EC0-2962-48E5-B3C0-BADC56FC5326}"/>
              </a:ext>
            </a:extLst>
          </p:cNvPr>
          <p:cNvSpPr txBox="1"/>
          <p:nvPr/>
        </p:nvSpPr>
        <p:spPr>
          <a:xfrm>
            <a:off x="6278760" y="178072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Thông báo chưa phủ hết đơn vị vận hành xa (nhà máy, trang trại).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07CADF-5672-4762-81C6-39D4DF12053C}"/>
              </a:ext>
            </a:extLst>
          </p:cNvPr>
          <p:cNvSpPr txBox="1"/>
          <p:nvPr/>
        </p:nvSpPr>
        <p:spPr>
          <a:xfrm>
            <a:off x="8908851" y="161880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0DF6ED-1139-4452-8D46-75E4ABCD1D2D}"/>
              </a:ext>
            </a:extLst>
          </p:cNvPr>
          <p:cNvSpPr txBox="1"/>
          <p:nvPr/>
        </p:nvSpPr>
        <p:spPr>
          <a:xfrm>
            <a:off x="8770739" y="17807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Hệ thống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đăng ký &amp; nhắc lịch tự động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đa kênh.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406A86-DFB1-44B6-A1B8-648032F822D1}"/>
              </a:ext>
            </a:extLst>
          </p:cNvPr>
          <p:cNvSpPr txBox="1"/>
          <p:nvPr/>
        </p:nvSpPr>
        <p:spPr>
          <a:xfrm>
            <a:off x="3719512" y="293325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DA4939-5385-4263-A0B3-B3CDB6DDC646}"/>
              </a:ext>
            </a:extLst>
          </p:cNvPr>
          <p:cNvSpPr txBox="1"/>
          <p:nvPr/>
        </p:nvSpPr>
        <p:spPr>
          <a:xfrm>
            <a:off x="3552825" y="30951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Khám &amp; trả kết quả; đảm bảo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đủ nhân lực y tế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theo khung giờ.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E6AE4E-F01A-4EBF-A982-C8AD76A364D9}"/>
              </a:ext>
            </a:extLst>
          </p:cNvPr>
          <p:cNvSpPr txBox="1"/>
          <p:nvPr/>
        </p:nvSpPr>
        <p:spPr>
          <a:xfrm>
            <a:off x="6445448" y="293325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90F946-67AC-49AE-915B-968E21E6AF60}"/>
              </a:ext>
            </a:extLst>
          </p:cNvPr>
          <p:cNvSpPr txBox="1"/>
          <p:nvPr/>
        </p:nvSpPr>
        <p:spPr>
          <a:xfrm>
            <a:off x="6278760" y="309517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Quá tải giờ cao điểm do CBCNV dồn lịch khám cùng lúc.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1F8612-B729-440F-B1A4-BCF5C22BF5D2}"/>
              </a:ext>
            </a:extLst>
          </p:cNvPr>
          <p:cNvSpPr txBox="1"/>
          <p:nvPr/>
        </p:nvSpPr>
        <p:spPr>
          <a:xfrm>
            <a:off x="8908851" y="293325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CEC807-7BB3-416D-8A35-721C0EEA96A0}"/>
              </a:ext>
            </a:extLst>
          </p:cNvPr>
          <p:cNvSpPr txBox="1"/>
          <p:nvPr/>
        </p:nvSpPr>
        <p:spPr>
          <a:xfrm>
            <a:off x="8770739" y="30951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Nhận danh sách đăng ký trước để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chủ động phân ca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ED8FE5-9D1B-4F51-9817-6EE4D5C3EAA0}"/>
              </a:ext>
            </a:extLst>
          </p:cNvPr>
          <p:cNvSpPr txBox="1"/>
          <p:nvPr/>
        </p:nvSpPr>
        <p:spPr>
          <a:xfrm>
            <a:off x="3719512" y="424770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488719-31A0-40AC-A399-F955E9A7A279}"/>
              </a:ext>
            </a:extLst>
          </p:cNvPr>
          <p:cNvSpPr txBox="1"/>
          <p:nvPr/>
        </p:nvSpPr>
        <p:spPr>
          <a:xfrm>
            <a:off x="3552825" y="44096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Trực tiếp khám; ít ảnh hưởng công việc &amp;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bảo mật kết quả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9B90C2-6F84-41C7-B5AE-DBBCB3E4207F}"/>
              </a:ext>
            </a:extLst>
          </p:cNvPr>
          <p:cNvSpPr txBox="1"/>
          <p:nvPr/>
        </p:nvSpPr>
        <p:spPr>
          <a:xfrm>
            <a:off x="6445448" y="424770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E00A41-0A80-4E1A-B12D-93868CB2D637}"/>
              </a:ext>
            </a:extLst>
          </p:cNvPr>
          <p:cNvSpPr txBox="1"/>
          <p:nvPr/>
        </p:nvSpPr>
        <p:spPr>
          <a:xfrm>
            <a:off x="6278760" y="440962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Lịch khám cố định dễ trùng với ca sản xuất / lịch trực.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7E27FC-DCBE-4534-B61D-5EF54A9294DD}"/>
              </a:ext>
            </a:extLst>
          </p:cNvPr>
          <p:cNvSpPr txBox="1"/>
          <p:nvPr/>
        </p:nvSpPr>
        <p:spPr>
          <a:xfrm>
            <a:off x="8908851" y="424770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B61766-34CB-42B3-AA26-4873BC6E68E5}"/>
              </a:ext>
            </a:extLst>
          </p:cNvPr>
          <p:cNvSpPr txBox="1"/>
          <p:nvPr/>
        </p:nvSpPr>
        <p:spPr>
          <a:xfrm>
            <a:off x="8770739" y="440962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Có phương án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đổi/chọn lịch khám linh hoạt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069D0A-F7FA-4947-8AFC-0A6DA125820E}"/>
              </a:ext>
            </a:extLst>
          </p:cNvPr>
          <p:cNvSpPr txBox="1"/>
          <p:nvPr/>
        </p:nvSpPr>
        <p:spPr>
          <a:xfrm>
            <a:off x="3719512" y="5562153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9BD007-5374-4A3B-B43E-B6FD35DB4C6B}"/>
              </a:ext>
            </a:extLst>
          </p:cNvPr>
          <p:cNvSpPr txBox="1"/>
          <p:nvPr/>
        </p:nvSpPr>
        <p:spPr>
          <a:xfrm>
            <a:off x="3552825" y="57240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Phê duyệt hỗ trợ/điều chuyển;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cân bằng sức khỏe &amp; sản xuất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5A8061-AC60-4B49-A5C0-FCC0B03872F1}"/>
              </a:ext>
            </a:extLst>
          </p:cNvPr>
          <p:cNvSpPr txBox="1"/>
          <p:nvPr/>
        </p:nvSpPr>
        <p:spPr>
          <a:xfrm>
            <a:off x="6445448" y="5562153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37637D-0E8F-47A0-95EE-F6E2676780EF}"/>
              </a:ext>
            </a:extLst>
          </p:cNvPr>
          <p:cNvSpPr txBox="1"/>
          <p:nvPr/>
        </p:nvSpPr>
        <p:spPr>
          <a:xfrm>
            <a:off x="6278760" y="5724078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Thiếu thông tin vị trí công việc thay thế phù hợp.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F0D0B0-181E-4FF3-8F36-722DA1405571}"/>
              </a:ext>
            </a:extLst>
          </p:cNvPr>
          <p:cNvSpPr txBox="1"/>
          <p:nvPr/>
        </p:nvSpPr>
        <p:spPr>
          <a:xfrm>
            <a:off x="8908851" y="556215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0DB592-B97D-404F-81AC-0D06530B1852}"/>
              </a:ext>
            </a:extLst>
          </p:cNvPr>
          <p:cNvSpPr txBox="1"/>
          <p:nvPr/>
        </p:nvSpPr>
        <p:spPr>
          <a:xfrm>
            <a:off x="8770739" y="5724078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Có sẵn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danh mục vị trí phù hợp</a:t>
            </a:r>
            <a:r>
              <a:rPr sz="975" b="0" i="0" u="none">
                <a:solidFill>
                  <a:srgbClr val="334155"/>
                </a:solidFill>
                <a:latin typeface="Plus Jakarta Sans Medium"/>
              </a:rPr>
              <a:t> cho nhóm sức khỏe yếu.</a:t>
            </a:r>
          </a:p>
        </p:txBody>
      </p:sp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5F58A772-5EDA-4CCE-B555-F18F7EE93F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1628328"/>
            <a:ext cx="109537" cy="104775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D160A307-4F2D-4205-A195-E8BF642A5A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1628328"/>
            <a:ext cx="109537" cy="104775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311CC9F5-6676-4C89-9B41-B347005629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1628328"/>
            <a:ext cx="80962" cy="104775"/>
          </a:xfrm>
          <a:prstGeom prst="rect">
            <a:avLst/>
          </a:prstGeom>
        </p:spPr>
      </p:pic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9F3FE3F1-BC8F-4F23-AE63-081D56A8E6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2942778"/>
            <a:ext cx="109537" cy="104775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25A40374-5684-4204-A66B-C563AC7160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2942778"/>
            <a:ext cx="109537" cy="10477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346ABB46-DFA9-4C11-93D5-CD15866DA2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2942778"/>
            <a:ext cx="80962" cy="10477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8BA49A02-8DF2-4C9F-84F6-F125E91D3C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2825" y="4257228"/>
            <a:ext cx="109537" cy="104775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E8E797E2-972F-4932-AFF9-B35C3E4EAA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8760" y="4257228"/>
            <a:ext cx="109537" cy="104775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96CE355B-1386-405C-B00D-304C3D378C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0739" y="4257228"/>
            <a:ext cx="80962" cy="104775"/>
          </a:xfrm>
          <a:prstGeom prst="rect">
            <a:avLst/>
          </a:prstGeom>
        </p:spPr>
      </p:pic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A030F46A-5797-4CD5-A89A-0B9B7AF484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5571678"/>
            <a:ext cx="109537" cy="104775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AC10F527-41B9-4140-8AEC-13F32F114F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5571678"/>
            <a:ext cx="109537" cy="104775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65AA50E6-7508-42AB-97A3-A3A4C25B58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5571678"/>
            <a:ext cx="80962" cy="1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56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KHÁM SỨC KHOẺ ĐỊNH KỲ HÀNG NĂM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Fishbone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683F11-7F12-40E1-BE7D-5297A081E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58" y="1437619"/>
            <a:ext cx="10175884" cy="48176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4F2D8-0DBA-B69F-C8CF-B1D74223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8BF46D-553C-AE4E-9DA3-4CA62AF0A17C}"/>
              </a:ext>
            </a:extLst>
          </p:cNvPr>
          <p:cNvSpPr/>
          <p:nvPr/>
        </p:nvSpPr>
        <p:spPr>
          <a:xfrm>
            <a:off x="521208" y="184149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900086-39B3-76A3-F6AB-585B0891A47C}"/>
              </a:ext>
            </a:extLst>
          </p:cNvPr>
          <p:cNvSpPr/>
          <p:nvPr/>
        </p:nvSpPr>
        <p:spPr>
          <a:xfrm>
            <a:off x="495299" y="265029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giá trị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EB017E-4296-8DD0-DDE7-6720937C1104}"/>
              </a:ext>
            </a:extLst>
          </p:cNvPr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0C1C8A-4175-EE82-7577-21ADC6130B0F}"/>
              </a:ext>
            </a:extLst>
          </p:cNvPr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76850A-2251-E7BF-67D9-A8FE8E219B49}"/>
              </a:ext>
            </a:extLst>
          </p:cNvPr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giá trị trực tiếp cho khách hàng của quy trình</a:t>
            </a:r>
            <a:endParaRPr lang="en-US" sz="12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CECE5D-6C6C-0989-9BE2-5469D0AD9528}"/>
              </a:ext>
            </a:extLst>
          </p:cNvPr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3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434993-CA86-A543-2C4C-B4AFD147F973}"/>
              </a:ext>
            </a:extLst>
          </p:cNvPr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Value-Added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FF47A8-6A9A-D8EC-7B65-FA392D93C962}"/>
              </a:ext>
            </a:extLst>
          </p:cNvPr>
          <p:cNvSpPr/>
          <p:nvPr/>
        </p:nvSpPr>
        <p:spPr>
          <a:xfrm>
            <a:off x="466344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 cho vận hành/kiểm soát nhưng không trực tiếp tạo giá trị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4D305DF-0E81-85B8-61C8-B7D01B5C2DBA}"/>
              </a:ext>
            </a:extLst>
          </p:cNvPr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4100A6-CF94-1669-CF16-B843FE78384F}"/>
              </a:ext>
            </a:extLst>
          </p:cNvPr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86B3CF5-C0C3-FBAC-8FBD-C0A9967DCBF8}"/>
              </a:ext>
            </a:extLst>
          </p:cNvPr>
          <p:cNvSpPr/>
          <p:nvPr/>
        </p:nvSpPr>
        <p:spPr>
          <a:xfrm>
            <a:off x="850392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giá trị — chủ yếu là làm lại, chờ đợi, xử lý ngoại lệ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ACCC80D-2155-BCFD-2E9D-453342058C1F}"/>
              </a:ext>
            </a:extLst>
          </p:cNvPr>
          <p:cNvSpPr/>
          <p:nvPr/>
        </p:nvSpPr>
        <p:spPr>
          <a:xfrm>
            <a:off x="548640" y="4892040"/>
            <a:ext cx="50776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(8)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977C98B-48B8-E316-0B5B-E55E7B34A9A2}"/>
              </a:ext>
            </a:extLst>
          </p:cNvPr>
          <p:cNvSpPr/>
          <p:nvPr/>
        </p:nvSpPr>
        <p:spPr>
          <a:xfrm>
            <a:off x="5626249" y="4892040"/>
            <a:ext cx="44429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(7)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A644F03-D405-4CB7-7B21-D4318B8A3CE1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CFA67D46-449C-4758-9C6A-8A4D7803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715392"/>
            <a:ext cx="11506200" cy="5057775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171EBDCD-0951-4C54-A33D-CA289C67C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8" y="934342"/>
            <a:ext cx="3733800" cy="64770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447F3658-A96C-4FC0-94DB-6BD596987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008" y="934342"/>
            <a:ext cx="3733800" cy="64770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65660507-F620-4A7D-BBAD-10AA93D40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208" y="934342"/>
            <a:ext cx="3733800" cy="64770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B9ED89E7-AC17-4438-B2C9-C168E3E2C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358" y="1077217"/>
            <a:ext cx="695325" cy="361950"/>
          </a:xfrm>
          <a:prstGeom prst="rect">
            <a:avLst/>
          </a:prstGeom>
        </p:spPr>
      </p:pic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A1A81B56-0753-4DCB-99ED-F0B510BF3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558" y="1077217"/>
            <a:ext cx="695325" cy="3619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62036EE2-B3C2-4323-BA67-1822C7E879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7758" y="1077217"/>
            <a:ext cx="695325" cy="361950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361DE481-9273-47B1-8F59-B62C59FBC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548023"/>
              </p:ext>
            </p:extLst>
          </p:nvPr>
        </p:nvGraphicFramePr>
        <p:xfrm>
          <a:off x="378333" y="1724917"/>
          <a:ext cx="11487149" cy="5104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1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Lập danh sách &amp; dự toán nhu cầu sữa học đường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SHĐ / Sở GD&amp;ĐT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Cần thiết lập kế hoạch quy mô, không tạo giá trị y tế/dinh dưỡng trực tiếp.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Khảo sát, đấu thầu chọn nhà cung cấp sữa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Đảm bảo tuân thủ quy định pháp luật và lựa chọn đối tác đủ năng lực.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Mời thầu, đánh giá năng lực nhà thầu sản xuất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Sở Y tế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Bước kiểm soát lựa chọn nhà máy đạt chuẩn VSATTP.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Ký kết hợp đồng cung ứng sữa với nhà sản xuất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Nhà cung cấp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Thủ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tục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pháp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lý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bắt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buộc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để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chính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thức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triển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khai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chương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trình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Thống nhất lịch giao nhận sữa chi tiết theo đợt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Nhà cung cấp / Trường học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Cần thiết cho điều phối nguồn lực vận chuyển và lịch học của trường.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Thông báo kế hoạch giao sữa đến từng điểm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BGH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Hoạt động truyền thông giúp giáo viên chủ động sắp xếp tiếp nhận.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Sản xuất &amp; chế biến sữa tươi chuẩn SHĐ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Khối Sản xuất Vinamilk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Bước khởi đầu tạo ra sản phẩm dinh dưỡng cốt lõi.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Bổ sung vi chất dinh dưỡng (Sắt, Canxi, Vitamin)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Khối R&amp;D / Sản xuất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Tạo giá trị trực tiếp: cải thiện tầm vóc và vi chất cho học sinh.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Kiểm nghiệm chất lượng QA/QC &amp; VSATTP lô hàng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Khối QA / Trung tâm kiểm định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Đảm bảo an toàn sức khỏe tuyệt đối trước khi xuất kho.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Vận chuyển sữa giao trực tiếp đến các điểm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Đơn vị Logistics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Đưa sản phẩm dinh dưỡng đến đúng đối tượng thụ hưởng.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Xử lý đổi trả sự cố bao bì móp vỡ khi vận chuyển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Logistics / BGH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Phát sinh ngoài kế hoạch ban đầu, cần quy trình xử lý ngoại lệ riêng.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Ban giám hiệu &amp; Giáo viên kiểm đếm, nghiệm thu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BGH / Giáo viên chủ nhiệm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Cần thiết để kiểm soát số lượng &amp; minh bạch giao nhận.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Rà soát, điều chỉnh lệch sĩ số thực tế uống sữa thủ công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BGH / Giáo viên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NVA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Lãng phí thời gian do cập nhật sĩ số thủ công; cần tự động hóa.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280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Lập báo cáo tiêu thụ tổng hợp &amp; thanh quyết toán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Ban Dự án / Sở GD&amp;ĐT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Thủ tục hành chính hoàn tất quy trình giao nhận thông tin.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289"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Bảo quản &amp; tổ chức cho học sinh uống sữa tại trường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BGH / Giáo viên chủ nhiệm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334155"/>
                          </a:solidFill>
                          <a:latin typeface="Inter"/>
                        </a:rPr>
                        <a:t>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Tạo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giá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trị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thực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tế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: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đảm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bảo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an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toàn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&amp;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sức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khỏe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lâu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dài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cho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học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9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sinh</a:t>
                      </a:r>
                      <a:r>
                        <a:rPr sz="9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B840CA41-D25C-4AB7-9BEA-C59440BEF049}"/>
              </a:ext>
            </a:extLst>
          </p:cNvPr>
          <p:cNvSpPr txBox="1"/>
          <p:nvPr/>
        </p:nvSpPr>
        <p:spPr>
          <a:xfrm>
            <a:off x="711708" y="1039117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5803D"/>
                </a:solidFill>
                <a:latin typeface="Inter ExtraBold"/>
              </a:rPr>
              <a:t>VA - GIÁ TRỊ GIA TĂNG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98FAE2-6EA8-492D-BD8F-7AA8498DC75F}"/>
              </a:ext>
            </a:extLst>
          </p:cNvPr>
          <p:cNvSpPr txBox="1"/>
          <p:nvPr/>
        </p:nvSpPr>
        <p:spPr>
          <a:xfrm>
            <a:off x="530733" y="1210567"/>
            <a:ext cx="27146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Chế biến, vi chất, kiểm nghiệm, giao trường &amp; uống sữa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9A1133-5C81-4BAD-833C-F82E812C9897}"/>
              </a:ext>
            </a:extLst>
          </p:cNvPr>
          <p:cNvSpPr txBox="1"/>
          <p:nvPr/>
        </p:nvSpPr>
        <p:spPr>
          <a:xfrm>
            <a:off x="4626483" y="1105792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1D4ED8"/>
                </a:solidFill>
                <a:latin typeface="Inter ExtraBold"/>
              </a:rPr>
              <a:t>BVA - GIÁ TRỊ VẬN HÀNH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42910-5F93-4AA5-8CDF-FE0FE5AE9F40}"/>
              </a:ext>
            </a:extLst>
          </p:cNvPr>
          <p:cNvSpPr txBox="1"/>
          <p:nvPr/>
        </p:nvSpPr>
        <p:spPr>
          <a:xfrm>
            <a:off x="4416933" y="1277242"/>
            <a:ext cx="2628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Khảo sát, đấu thầu, hợp đồng, kế hoạch &amp; kiểm đếm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CAD74A-E9E0-41E3-A1BE-E6677D4EADE7}"/>
              </a:ext>
            </a:extLst>
          </p:cNvPr>
          <p:cNvSpPr txBox="1"/>
          <p:nvPr/>
        </p:nvSpPr>
        <p:spPr>
          <a:xfrm>
            <a:off x="8484108" y="110579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B91C1C"/>
                </a:solidFill>
                <a:latin typeface="Inter ExtraBold"/>
              </a:rPr>
              <a:t>NVA - LÃNG PHÍ / NGOẠI LỆ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68C430-6400-49CC-B024-01762A9BDFEC}"/>
              </a:ext>
            </a:extLst>
          </p:cNvPr>
          <p:cNvSpPr txBox="1"/>
          <p:nvPr/>
        </p:nvSpPr>
        <p:spPr>
          <a:xfrm>
            <a:off x="8303133" y="1277242"/>
            <a:ext cx="2466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Xử lý móp vỡ bao bì &amp; rà soát lệch sĩ số thủ công</a:t>
            </a:r>
          </a:p>
        </p:txBody>
      </p:sp>
      <p:pic>
        <p:nvPicPr>
          <p:cNvPr id="63" name="Picture 62" descr="image.png">
            <a:extLst>
              <a:ext uri="{FF2B5EF4-FFF2-40B4-BE49-F238E27FC236}">
                <a16:creationId xmlns:a16="http://schemas.microsoft.com/office/drawing/2014/main" id="{BC6EB075-60A8-44E2-8D87-DC1EB12D8A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33" y="1053404"/>
            <a:ext cx="123825" cy="123825"/>
          </a:xfrm>
          <a:prstGeom prst="rect">
            <a:avLst/>
          </a:prstGeom>
        </p:spPr>
      </p:pic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9D8A6CAA-246B-44A8-AFC5-028A84EB0C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6933" y="1120079"/>
            <a:ext cx="152400" cy="123825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1A6FBDF2-DD30-4EF7-BE8F-3169CDDABC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3133" y="1120079"/>
            <a:ext cx="123825" cy="123825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C0D18CED-87F6-40E3-A401-71B97CE610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6570" y="1830584"/>
            <a:ext cx="408682" cy="161925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D1701864-8AF4-4F96-88AB-3E45E57D0B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6570" y="2150565"/>
            <a:ext cx="408682" cy="161925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6D241AA0-F35F-4D49-8C44-49C71EDB4EF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1333" y="2465782"/>
            <a:ext cx="408682" cy="161925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DD75FD5B-6FA9-4EC2-BBE6-D0602768B3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1333" y="2837473"/>
            <a:ext cx="408682" cy="161925"/>
          </a:xfrm>
          <a:prstGeom prst="rect">
            <a:avLst/>
          </a:prstGeom>
        </p:spPr>
      </p:pic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115885CB-05CB-442C-A5F7-E5DD3F2D66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26570" y="3176671"/>
            <a:ext cx="408682" cy="161925"/>
          </a:xfrm>
          <a:prstGeom prst="rect">
            <a:avLst/>
          </a:prstGeom>
        </p:spPr>
      </p:pic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A93AEB2C-0B38-4212-AE6E-372A733E454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1808" y="3503444"/>
            <a:ext cx="408682" cy="161925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D0E39772-5A43-43F0-90A5-A377F2BFD37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61247" y="3852146"/>
            <a:ext cx="339179" cy="16192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FDAB20C9-9797-4724-948A-9E7A098FAC5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63626" y="4181841"/>
            <a:ext cx="339179" cy="161925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C0E44E4E-D701-4545-9337-78101C84059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4623" y="4501822"/>
            <a:ext cx="339179" cy="161925"/>
          </a:xfrm>
          <a:prstGeom prst="rect">
            <a:avLst/>
          </a:prstGeom>
        </p:spPr>
      </p:pic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6C2E87E3-E7F3-4621-8F66-3B070601881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61247" y="4842713"/>
            <a:ext cx="339179" cy="161925"/>
          </a:xfrm>
          <a:prstGeom prst="rect">
            <a:avLst/>
          </a:prstGeom>
        </p:spPr>
      </p:pic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564D0910-4395-4ED6-A688-19E604BD864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21808" y="5214786"/>
            <a:ext cx="418207" cy="161925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F2759FB6-48C7-4AFF-A79D-ECC94FC0F7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6570" y="5560143"/>
            <a:ext cx="408682" cy="161925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B013470D-C797-4382-8318-9FB2113B196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21808" y="5882579"/>
            <a:ext cx="418207" cy="161925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BEBCCD7F-AD53-425F-98A8-DC04590BBA5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1333" y="6203601"/>
            <a:ext cx="408682" cy="161925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B97A787E-5F54-49E0-A87D-0E823E0A883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61247" y="6561533"/>
            <a:ext cx="339179" cy="161925"/>
          </a:xfrm>
          <a:prstGeom prst="rect">
            <a:avLst/>
          </a:prstGeom>
        </p:spPr>
      </p:pic>
      <p:sp>
        <p:nvSpPr>
          <p:cNvPr id="82" name="Text 4">
            <a:extLst>
              <a:ext uri="{FF2B5EF4-FFF2-40B4-BE49-F238E27FC236}">
                <a16:creationId xmlns:a16="http://schemas.microsoft.com/office/drawing/2014/main" id="{62962684-48D1-45EB-ABC8-91C1964FF99A}"/>
              </a:ext>
            </a:extLst>
          </p:cNvPr>
          <p:cNvSpPr/>
          <p:nvPr/>
        </p:nvSpPr>
        <p:spPr>
          <a:xfrm>
            <a:off x="11636882" y="652919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07853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9572A-DE5A-5226-2D9A-09C28048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7213E7-4C72-0F52-467C-53F67620CE88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B2877A-B9AE-7CA4-3C1B-A29844344387}"/>
              </a:ext>
            </a:extLst>
          </p:cNvPr>
          <p:cNvSpPr/>
          <p:nvPr/>
        </p:nvSpPr>
        <p:spPr>
          <a:xfrm>
            <a:off x="495299" y="475021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A97DD1-3756-D0B9-3E1F-B83F52E4AB12}"/>
              </a:ext>
            </a:extLst>
          </p:cNvPr>
          <p:cNvSpPr/>
          <p:nvPr/>
        </p:nvSpPr>
        <p:spPr>
          <a:xfrm>
            <a:off x="54864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endParaRPr lang="en-US" sz="3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824193-2DA3-C0F3-FD90-62DADF7F480C}"/>
              </a:ext>
            </a:extLst>
          </p:cNvPr>
          <p:cNvSpPr/>
          <p:nvPr/>
        </p:nvSpPr>
        <p:spPr>
          <a:xfrm>
            <a:off x="54864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426018F-2532-C632-F2CD-72C815433936}"/>
              </a:ext>
            </a:extLst>
          </p:cNvPr>
          <p:cNvSpPr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giá trị trực tiếp cho khách hàng của quy trình</a:t>
            </a:r>
            <a:endParaRPr lang="en-US" sz="12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B242BB-EA9A-165B-5416-D3406939CC4A}"/>
              </a:ext>
            </a:extLst>
          </p:cNvPr>
          <p:cNvSpPr/>
          <p:nvPr/>
        </p:nvSpPr>
        <p:spPr>
          <a:xfrm>
            <a:off x="438912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3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F90376-5E63-02CE-5DEA-3AE8EEB8BCAD}"/>
              </a:ext>
            </a:extLst>
          </p:cNvPr>
          <p:cNvSpPr/>
          <p:nvPr/>
        </p:nvSpPr>
        <p:spPr>
          <a:xfrm>
            <a:off x="438912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Value-Added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042757-4561-010B-2B20-B895E9C1B2E6}"/>
              </a:ext>
            </a:extLst>
          </p:cNvPr>
          <p:cNvSpPr/>
          <p:nvPr/>
        </p:nvSpPr>
        <p:spPr>
          <a:xfrm>
            <a:off x="466344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 cho vận hành/kiểm soát nhưng không trực tiếp tạo giá trị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E7A8A2A-E868-1B34-01A6-4315AB536554}"/>
              </a:ext>
            </a:extLst>
          </p:cNvPr>
          <p:cNvSpPr/>
          <p:nvPr/>
        </p:nvSpPr>
        <p:spPr>
          <a:xfrm>
            <a:off x="8229600" y="19659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</a:t>
            </a:r>
            <a:endParaRPr lang="en-US" sz="3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513674-79A1-EB5B-FB57-542D86A213A7}"/>
              </a:ext>
            </a:extLst>
          </p:cNvPr>
          <p:cNvSpPr/>
          <p:nvPr/>
        </p:nvSpPr>
        <p:spPr>
          <a:xfrm>
            <a:off x="8229600" y="2697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Non-Value-Added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9E98A91-C79D-0DAC-6879-EF7674BC6B85}"/>
              </a:ext>
            </a:extLst>
          </p:cNvPr>
          <p:cNvSpPr/>
          <p:nvPr/>
        </p:nvSpPr>
        <p:spPr>
          <a:xfrm>
            <a:off x="8503920" y="31546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giá trị — chủ yếu là làm lại, chờ đợi, xử lý ngoại lệ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5DC6978-8B5A-B523-114D-F96938CA5201}"/>
              </a:ext>
            </a:extLst>
          </p:cNvPr>
          <p:cNvSpPr/>
          <p:nvPr/>
        </p:nvSpPr>
        <p:spPr>
          <a:xfrm>
            <a:off x="548640" y="4892040"/>
            <a:ext cx="50776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(8)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4C63EE-0350-BEB7-9EDD-31FC9A1C67B4}"/>
              </a:ext>
            </a:extLst>
          </p:cNvPr>
          <p:cNvSpPr/>
          <p:nvPr/>
        </p:nvSpPr>
        <p:spPr>
          <a:xfrm>
            <a:off x="5626249" y="4892040"/>
            <a:ext cx="44429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 (7)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F61F73-57B4-1B14-DF6C-95931CC4E70E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4AFDB55C-CCD7-45D6-BB02-B42E9C4A9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8989"/>
            <a:ext cx="3708350" cy="55245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71440C07-0C60-4E58-ADCA-D722135DD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30" y="1418989"/>
            <a:ext cx="3708350" cy="55245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5B19B79-5B8D-4339-9E79-DB9E48532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980" y="1418989"/>
            <a:ext cx="3708499" cy="55245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B60CDD85-6582-4FDB-9B60-D1BA025E7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161939"/>
            <a:ext cx="11430000" cy="1032271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258F22D8-3478-4E31-8364-86D64F5DD8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327560"/>
            <a:ext cx="11430000" cy="9906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9E2E9118-D874-4191-8A2B-AADC54ECD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005" y="2171464"/>
            <a:ext cx="1714500" cy="1013221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B08EC039-542D-44F3-BA3A-B8BAB034FF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5505" y="2171464"/>
            <a:ext cx="4848225" cy="1013221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7BED4409-54C3-4A04-8EBB-FF64D9CAE6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3730" y="2171464"/>
            <a:ext cx="4848225" cy="1013221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B3EE34C1-5C04-40F7-A285-B4A4E7F51E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1005" y="3337085"/>
            <a:ext cx="1714500" cy="97155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81C3F0E6-9E99-470A-A034-8AFD991EF6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5505" y="3337085"/>
            <a:ext cx="4848225" cy="97155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48675859-AF01-4C4C-8C8E-0C4E40B413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3730" y="3337085"/>
            <a:ext cx="4848225" cy="97155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9A0B0C86-FDBF-438A-9FF1-223CBCB8E8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405" y="1523764"/>
            <a:ext cx="342900" cy="342900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04C53045-0AD3-4C8B-8F9E-912B157F1C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4155" y="1523764"/>
            <a:ext cx="342900" cy="3429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D027E709-790C-4094-92C3-336FBC8FB64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4905" y="1523764"/>
            <a:ext cx="342900" cy="342900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B4BA50BF-CD2D-493D-8F51-02EC0032DD7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8655" y="1619014"/>
            <a:ext cx="152400" cy="152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B5F6C9B-CB94-49CD-8068-23D198BAC113}"/>
              </a:ext>
            </a:extLst>
          </p:cNvPr>
          <p:cNvSpPr txBox="1"/>
          <p:nvPr/>
        </p:nvSpPr>
        <p:spPr>
          <a:xfrm>
            <a:off x="1030605" y="1552339"/>
            <a:ext cx="259032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MOVE (Di chuyển)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083E96-71BB-4BFC-AB32-369D3CEE7B71}"/>
              </a:ext>
            </a:extLst>
          </p:cNvPr>
          <p:cNvSpPr txBox="1"/>
          <p:nvPr/>
        </p:nvSpPr>
        <p:spPr>
          <a:xfrm>
            <a:off x="1030605" y="1704739"/>
            <a:ext cx="2466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Tốn quãng đường vận chuyển &amp; đổi trả bao bì lỗi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6F9ED69D-8572-4E92-B1B2-9D5E82CC3CE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8455" y="1619014"/>
            <a:ext cx="114300" cy="152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83C048F-A4B9-4B3D-9B0D-63E726965C3A}"/>
              </a:ext>
            </a:extLst>
          </p:cNvPr>
          <p:cNvSpPr txBox="1"/>
          <p:nvPr/>
        </p:nvSpPr>
        <p:spPr>
          <a:xfrm>
            <a:off x="4891355" y="1552339"/>
            <a:ext cx="258032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HOLD (Chờ đợi)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2D5974-DECC-44F2-ACBE-ADB3BC0E076C}"/>
              </a:ext>
            </a:extLst>
          </p:cNvPr>
          <p:cNvSpPr txBox="1"/>
          <p:nvPr/>
        </p:nvSpPr>
        <p:spPr>
          <a:xfrm>
            <a:off x="4891355" y="1704739"/>
            <a:ext cx="2457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Chờ kiểm nghiệm vi chất &amp; nhà trường chốt sĩ số</a:t>
            </a:r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B8F1840F-EACD-4C61-85A0-820972FC855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9205" y="1619014"/>
            <a:ext cx="114300" cy="152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FDE107D-5923-4F5C-BC60-0AFA582B6FF0}"/>
              </a:ext>
            </a:extLst>
          </p:cNvPr>
          <p:cNvSpPr txBox="1"/>
          <p:nvPr/>
        </p:nvSpPr>
        <p:spPr>
          <a:xfrm>
            <a:off x="8752105" y="1552339"/>
            <a:ext cx="243030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293B"/>
                </a:solidFill>
                <a:latin typeface="Inter"/>
              </a:rPr>
              <a:t>OVERDO (Thực hiện thừa)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501389-A859-40C3-AA32-4897B80A0006}"/>
              </a:ext>
            </a:extLst>
          </p:cNvPr>
          <p:cNvSpPr txBox="1"/>
          <p:nvPr/>
        </p:nvSpPr>
        <p:spPr>
          <a:xfrm>
            <a:off x="8752105" y="1704739"/>
            <a:ext cx="2314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"/>
              </a:rPr>
              <a:t>Sản xuất dư thừa &amp; báo cáo trùng lặp gửi 2 Sở</a:t>
            </a:r>
          </a:p>
        </p:txBody>
      </p:sp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0FD0614B-C563-42E9-8A22-3688ACE6278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3405" y="2363749"/>
            <a:ext cx="795337" cy="152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CB24A74-4F99-45E7-AA75-65E83E2A2D37}"/>
              </a:ext>
            </a:extLst>
          </p:cNvPr>
          <p:cNvSpPr txBox="1"/>
          <p:nvPr/>
        </p:nvSpPr>
        <p:spPr>
          <a:xfrm>
            <a:off x="573405" y="2573299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MOVE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ACBF7B-2D71-452A-B6CE-1E16EFA6FB96}"/>
              </a:ext>
            </a:extLst>
          </p:cNvPr>
          <p:cNvSpPr txBox="1"/>
          <p:nvPr/>
        </p:nvSpPr>
        <p:spPr>
          <a:xfrm>
            <a:off x="573405" y="2859049"/>
            <a:ext cx="10763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Vận chuyển phức tạp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D43E21-8D96-4956-8FAC-37ED508903D2}"/>
              </a:ext>
            </a:extLst>
          </p:cNvPr>
          <p:cNvSpPr txBox="1"/>
          <p:nvPr/>
        </p:nvSpPr>
        <p:spPr>
          <a:xfrm>
            <a:off x="2491799" y="2323864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1D257E-5EC9-48EC-A33F-5EAB2A14165C}"/>
              </a:ext>
            </a:extLst>
          </p:cNvPr>
          <p:cNvSpPr txBox="1"/>
          <p:nvPr/>
        </p:nvSpPr>
        <p:spPr>
          <a:xfrm>
            <a:off x="2326005" y="2514364"/>
            <a:ext cx="44577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Vận chuyển đến các điểm trường vùng sâu, vùng xa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tốn nhiều thời gian &amp; quãng đường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; phát sinh vận chuyển ngược khi thùng sữa bị lỗi bao bì cần đổi trả.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BD7F5E-276F-4682-89E8-F1A759B13D38}"/>
              </a:ext>
            </a:extLst>
          </p:cNvPr>
          <p:cNvSpPr txBox="1"/>
          <p:nvPr/>
        </p:nvSpPr>
        <p:spPr>
          <a:xfrm>
            <a:off x="7340024" y="2410184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E4FC7A-57F8-4F05-B075-95B93B9574FF}"/>
              </a:ext>
            </a:extLst>
          </p:cNvPr>
          <p:cNvSpPr txBox="1"/>
          <p:nvPr/>
        </p:nvSpPr>
        <p:spPr>
          <a:xfrm>
            <a:off x="7174230" y="2600684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Thiết lập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kho trung chuyển vệ tinh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gần cụm trường vùng xa; siết chặt kiểm tra bao bì trước khi xuất kho để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giảm tỷ lệ đổi trả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239AAE16-D8FA-4CE7-845F-536117507F4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3405" y="3508535"/>
            <a:ext cx="814387" cy="1524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9699A7D-5732-4666-B7D4-4D406A7B40BA}"/>
              </a:ext>
            </a:extLst>
          </p:cNvPr>
          <p:cNvSpPr txBox="1"/>
          <p:nvPr/>
        </p:nvSpPr>
        <p:spPr>
          <a:xfrm>
            <a:off x="573405" y="3718085"/>
            <a:ext cx="523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HOLD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15AE6A-3EFD-4A19-88FA-19D8BED87742}"/>
              </a:ext>
            </a:extLst>
          </p:cNvPr>
          <p:cNvSpPr txBox="1"/>
          <p:nvPr/>
        </p:nvSpPr>
        <p:spPr>
          <a:xfrm>
            <a:off x="573405" y="4003835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Đợi chờ kiểm định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DAEA29-43C1-48F4-9745-1359A4559254}"/>
              </a:ext>
            </a:extLst>
          </p:cNvPr>
          <p:cNvSpPr txBox="1"/>
          <p:nvPr/>
        </p:nvSpPr>
        <p:spPr>
          <a:xfrm>
            <a:off x="2491799" y="3554970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92C82-407B-4542-950B-D0EACF174507}"/>
              </a:ext>
            </a:extLst>
          </p:cNvPr>
          <p:cNvSpPr txBox="1"/>
          <p:nvPr/>
        </p:nvSpPr>
        <p:spPr>
          <a:xfrm>
            <a:off x="2326005" y="3745470"/>
            <a:ext cx="4457700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Chờ kết quả kiểm nghiệm vi chất &amp; VSATTP (2 nhánh song song) trước khi xuất kho;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chờ nhà trường xác nhận sĩ số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thực tế trước khi chốt cấp phát.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2434EA-D9F6-4827-ABAF-FA1CD5F3F060}"/>
              </a:ext>
            </a:extLst>
          </p:cNvPr>
          <p:cNvSpPr txBox="1"/>
          <p:nvPr/>
        </p:nvSpPr>
        <p:spPr>
          <a:xfrm>
            <a:off x="7340024" y="3554970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85774E-5CDB-4458-8CE1-FF04D2749023}"/>
              </a:ext>
            </a:extLst>
          </p:cNvPr>
          <p:cNvSpPr txBox="1"/>
          <p:nvPr/>
        </p:nvSpPr>
        <p:spPr>
          <a:xfrm>
            <a:off x="7174230" y="3745470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Áp dụng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phòng kiểm nghiệm Rapid-Test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đạt chuẩn trả kết quả nhanh; quy định mốc thời gian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cập nhật sĩ số cố định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hằng tháng.</a:t>
            </a:r>
          </a:p>
        </p:txBody>
      </p:sp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64776A52-2EF4-4BC2-9C1D-0653086024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3405" y="4632485"/>
            <a:ext cx="823912" cy="1524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6AAB067B-D212-4C6E-A693-482C9DF628E1}"/>
              </a:ext>
            </a:extLst>
          </p:cNvPr>
          <p:cNvSpPr txBox="1"/>
          <p:nvPr/>
        </p:nvSpPr>
        <p:spPr>
          <a:xfrm>
            <a:off x="573405" y="4842035"/>
            <a:ext cx="790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Inter ExtraBold"/>
              </a:rPr>
              <a:t>OVERDO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4DF3D8-B9F0-4B41-A715-0D10B621E8AD}"/>
              </a:ext>
            </a:extLst>
          </p:cNvPr>
          <p:cNvSpPr txBox="1"/>
          <p:nvPr/>
        </p:nvSpPr>
        <p:spPr>
          <a:xfrm>
            <a:off x="573405" y="5127785"/>
            <a:ext cx="1123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 Medium"/>
              </a:rPr>
              <a:t>Báo cáo &amp; Sản xuất dư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287814-3F09-4879-8555-5021175C0045}"/>
              </a:ext>
            </a:extLst>
          </p:cNvPr>
          <p:cNvSpPr txBox="1"/>
          <p:nvPr/>
        </p:nvSpPr>
        <p:spPr>
          <a:xfrm>
            <a:off x="2491799" y="4678920"/>
            <a:ext cx="429190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DC2626"/>
                </a:solidFill>
                <a:latin typeface="Inter"/>
              </a:rPr>
              <a:t>VÍ DỤ TRONG QUY TRÌNH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95D431-4A02-41C1-BB40-D743019E1B39}"/>
              </a:ext>
            </a:extLst>
          </p:cNvPr>
          <p:cNvSpPr txBox="1"/>
          <p:nvPr/>
        </p:nvSpPr>
        <p:spPr>
          <a:xfrm>
            <a:off x="2326005" y="4869420"/>
            <a:ext cx="4457700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Sản xuất dư số lượng do chậm cập nhật biến động sĩ số;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lập nhiều bộ báo cáo riêng lẻ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trùng lặp nội dung gửi Sở GD&amp;ĐT và Sở Y tế.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1AA891-27AF-4D6C-8BBE-0C55378A4F77}"/>
              </a:ext>
            </a:extLst>
          </p:cNvPr>
          <p:cNvSpPr txBox="1"/>
          <p:nvPr/>
        </p:nvSpPr>
        <p:spPr>
          <a:xfrm>
            <a:off x="7340024" y="4678920"/>
            <a:ext cx="430143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Inter"/>
              </a:rPr>
              <a:t>HƯỚNG KHẮC PHỤC TỐI ƯU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ECB1F5-9564-4385-A4B2-AEB9F57EDC36}"/>
              </a:ext>
            </a:extLst>
          </p:cNvPr>
          <p:cNvSpPr txBox="1"/>
          <p:nvPr/>
        </p:nvSpPr>
        <p:spPr>
          <a:xfrm>
            <a:off x="7174230" y="4869420"/>
            <a:ext cx="44672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34155"/>
                </a:solidFill>
                <a:latin typeface="Inter"/>
              </a:rPr>
              <a:t>Xây dựng cơ chế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cập nhật sĩ số tự động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; </a:t>
            </a:r>
            <a:r>
              <a:rPr sz="937" b="1" i="0" u="none">
                <a:solidFill>
                  <a:srgbClr val="0F172A"/>
                </a:solidFill>
                <a:latin typeface="Inter"/>
              </a:rPr>
              <a:t>hợp nhất báo cáo gửi hai Sở</a:t>
            </a:r>
            <a:r>
              <a:rPr sz="937" b="0" i="0" u="none">
                <a:solidFill>
                  <a:srgbClr val="334155"/>
                </a:solidFill>
                <a:latin typeface="Inter"/>
              </a:rPr>
              <a:t> thành một bộ hồ sơ chung có xác nhận đồng thời.</a:t>
            </a:r>
          </a:p>
        </p:txBody>
      </p:sp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FD15B22B-EEA8-45E3-87C9-AA76B247B9B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6005" y="2338151"/>
            <a:ext cx="108644" cy="104775"/>
          </a:xfrm>
          <a:prstGeom prst="rect">
            <a:avLst/>
          </a:prstGeom>
        </p:spPr>
      </p:pic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586CE0AA-19FA-4B08-B33F-DDB5B4051E6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4230" y="2424471"/>
            <a:ext cx="108644" cy="104775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27AAEF74-9D6C-4EF9-83CA-9A091151A0F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6005" y="3569257"/>
            <a:ext cx="108644" cy="104775"/>
          </a:xfrm>
          <a:prstGeom prst="rect">
            <a:avLst/>
          </a:prstGeom>
        </p:spPr>
      </p:pic>
      <p:pic>
        <p:nvPicPr>
          <p:cNvPr id="67" name="Picture 66" descr="image.png">
            <a:extLst>
              <a:ext uri="{FF2B5EF4-FFF2-40B4-BE49-F238E27FC236}">
                <a16:creationId xmlns:a16="http://schemas.microsoft.com/office/drawing/2014/main" id="{DF59EB30-2EE5-425C-809A-B88D66B9B15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4230" y="3569257"/>
            <a:ext cx="108644" cy="104775"/>
          </a:xfrm>
          <a:prstGeom prst="rect">
            <a:avLst/>
          </a:prstGeom>
        </p:spPr>
      </p:pic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BBB70032-2A79-447C-B453-78D28D64C83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26005" y="4693207"/>
            <a:ext cx="108644" cy="104775"/>
          </a:xfrm>
          <a:prstGeom prst="rect">
            <a:avLst/>
          </a:prstGeom>
        </p:spPr>
      </p:pic>
      <p:pic>
        <p:nvPicPr>
          <p:cNvPr id="69" name="Picture 68" descr="image.png">
            <a:extLst>
              <a:ext uri="{FF2B5EF4-FFF2-40B4-BE49-F238E27FC236}">
                <a16:creationId xmlns:a16="http://schemas.microsoft.com/office/drawing/2014/main" id="{E28B7165-D79A-421E-81B5-F17B35AF686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4230" y="4693207"/>
            <a:ext cx="108644" cy="1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38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1146492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75" name="Picture 74" descr="image.png">
            <a:extLst>
              <a:ext uri="{FF2B5EF4-FFF2-40B4-BE49-F238E27FC236}">
                <a16:creationId xmlns:a16="http://schemas.microsoft.com/office/drawing/2014/main" id="{647C0597-B324-4206-B9B0-B5502F1DE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418927"/>
            <a:ext cx="8572500" cy="5276850"/>
          </a:xfrm>
          <a:prstGeom prst="rect">
            <a:avLst/>
          </a:prstGeom>
        </p:spPr>
      </p:pic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10FF2E4C-8564-4943-8D6E-98D39F0CB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18927"/>
            <a:ext cx="2476500" cy="1009650"/>
          </a:xfrm>
          <a:prstGeom prst="rect">
            <a:avLst/>
          </a:prstGeom>
        </p:spPr>
      </p:pic>
      <p:pic>
        <p:nvPicPr>
          <p:cNvPr id="77" name="Picture 76" descr="image.png">
            <a:extLst>
              <a:ext uri="{FF2B5EF4-FFF2-40B4-BE49-F238E27FC236}">
                <a16:creationId xmlns:a16="http://schemas.microsoft.com/office/drawing/2014/main" id="{F97294A3-9CDD-499B-822A-0B627EFDE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841277"/>
            <a:ext cx="2476500" cy="1009650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DB5517F6-DD2C-43C0-A635-129104853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63627"/>
            <a:ext cx="2476500" cy="1009650"/>
          </a:xfrm>
          <a:prstGeom prst="rect">
            <a:avLst/>
          </a:prstGeom>
        </p:spPr>
      </p:pic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B2B8FE5A-AD9B-4F17-9214-57873373EB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5685978"/>
            <a:ext cx="2476500" cy="1009650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2D07C2CB-FDBA-4E31-9DEE-F129652E0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3275" y="1580852"/>
            <a:ext cx="8172450" cy="1009650"/>
          </a:xfrm>
          <a:prstGeom prst="rect">
            <a:avLst/>
          </a:prstGeom>
        </p:spPr>
      </p:pic>
      <p:pic>
        <p:nvPicPr>
          <p:cNvPr id="81" name="Picture 80" descr="image.png">
            <a:extLst>
              <a:ext uri="{FF2B5EF4-FFF2-40B4-BE49-F238E27FC236}">
                <a16:creationId xmlns:a16="http://schemas.microsoft.com/office/drawing/2014/main" id="{ADCB16EB-71B2-4535-B8FB-869A429A7B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2895302"/>
            <a:ext cx="8172450" cy="1009650"/>
          </a:xfrm>
          <a:prstGeom prst="rect">
            <a:avLst/>
          </a:prstGeom>
        </p:spPr>
      </p:pic>
      <p:pic>
        <p:nvPicPr>
          <p:cNvPr id="82" name="Picture 81" descr="image.png">
            <a:extLst>
              <a:ext uri="{FF2B5EF4-FFF2-40B4-BE49-F238E27FC236}">
                <a16:creationId xmlns:a16="http://schemas.microsoft.com/office/drawing/2014/main" id="{7E39EDD4-0802-4472-AE32-B98E17F88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3275" y="4209752"/>
            <a:ext cx="8172450" cy="1009650"/>
          </a:xfrm>
          <a:prstGeom prst="rect">
            <a:avLst/>
          </a:prstGeom>
        </p:spPr>
      </p:pic>
      <p:pic>
        <p:nvPicPr>
          <p:cNvPr id="83" name="Picture 82" descr="image.png">
            <a:extLst>
              <a:ext uri="{FF2B5EF4-FFF2-40B4-BE49-F238E27FC236}">
                <a16:creationId xmlns:a16="http://schemas.microsoft.com/office/drawing/2014/main" id="{F56B27AC-BCF6-450F-B51A-14C1260192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5524202"/>
            <a:ext cx="8172450" cy="100965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B1483774-6AA7-413B-BC22-E6488E9C2072}"/>
              </a:ext>
            </a:extLst>
          </p:cNvPr>
          <p:cNvSpPr txBox="1"/>
          <p:nvPr/>
        </p:nvSpPr>
        <p:spPr>
          <a:xfrm>
            <a:off x="3719512" y="183758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FED6B2-21AA-4A5E-BA32-4B6FDBF2CE88}"/>
              </a:ext>
            </a:extLst>
          </p:cNvPr>
          <p:cNvSpPr txBox="1"/>
          <p:nvPr/>
        </p:nvSpPr>
        <p:spPr>
          <a:xfrm>
            <a:off x="3552825" y="199950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Điều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phối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với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Sở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GD&amp;ĐT &amp;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Vinamilk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bảo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đảm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tiến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độ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định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mức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cam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kết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434D5-CA8D-4E10-BA5C-6FBD4DF9E00D}"/>
              </a:ext>
            </a:extLst>
          </p:cNvPr>
          <p:cNvSpPr txBox="1"/>
          <p:nvPr/>
        </p:nvSpPr>
        <p:spPr>
          <a:xfrm>
            <a:off x="6445448" y="183758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7AA04D-9043-4219-AAA6-1CB2CC8E890B}"/>
              </a:ext>
            </a:extLst>
          </p:cNvPr>
          <p:cNvSpPr txBox="1"/>
          <p:nvPr/>
        </p:nvSpPr>
        <p:spPr>
          <a:xfrm>
            <a:off x="6278760" y="199950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Danh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sách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trường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sĩ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số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biến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động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giữa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các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đợt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cấp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Plus Jakarta Sans Medium"/>
              </a:rPr>
              <a:t>phát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E6F5B0-65FD-4C4D-8808-6E9A4A170FA7}"/>
              </a:ext>
            </a:extLst>
          </p:cNvPr>
          <p:cNvSpPr txBox="1"/>
          <p:nvPr/>
        </p:nvSpPr>
        <p:spPr>
          <a:xfrm>
            <a:off x="8908851" y="1837580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CD1C81-0366-4973-B52C-96F694A537B3}"/>
              </a:ext>
            </a:extLst>
          </p:cNvPr>
          <p:cNvSpPr txBox="1"/>
          <p:nvPr/>
        </p:nvSpPr>
        <p:spPr>
          <a:xfrm>
            <a:off x="8770739" y="199950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Kênh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cập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nhật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dữ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liệu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trường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học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theo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thời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gian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thực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8EFF6B-7523-42C3-A328-B87B51FC0A8F}"/>
              </a:ext>
            </a:extLst>
          </p:cNvPr>
          <p:cNvSpPr txBox="1"/>
          <p:nvPr/>
        </p:nvSpPr>
        <p:spPr>
          <a:xfrm>
            <a:off x="3719512" y="315203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DA611F-2ED8-4220-82A4-79DD2C1E7B1B}"/>
              </a:ext>
            </a:extLst>
          </p:cNvPr>
          <p:cNvSpPr txBox="1"/>
          <p:nvPr/>
        </p:nvSpPr>
        <p:spPr>
          <a:xfrm>
            <a:off x="3552825" y="331395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Sản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xuất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,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kiểm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định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vận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chuyển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đảm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bảo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chất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lượng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đúng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hạn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D9131F-7CF1-4624-B6EC-E2AEC2F8A9D0}"/>
              </a:ext>
            </a:extLst>
          </p:cNvPr>
          <p:cNvSpPr txBox="1"/>
          <p:nvPr/>
        </p:nvSpPr>
        <p:spPr>
          <a:xfrm>
            <a:off x="6445448" y="315203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E116DA1-BE89-497A-B78A-6452A0D2DC61}"/>
              </a:ext>
            </a:extLst>
          </p:cNvPr>
          <p:cNvSpPr txBox="1"/>
          <p:nvPr/>
        </p:nvSpPr>
        <p:spPr>
          <a:xfrm>
            <a:off x="6278760" y="331395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Thời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tiết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giao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thông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cản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trở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tuyến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vùng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sâu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,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vùng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xa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F51183-E81C-4DED-B65C-2469EF3663A6}"/>
              </a:ext>
            </a:extLst>
          </p:cNvPr>
          <p:cNvSpPr txBox="1"/>
          <p:nvPr/>
        </p:nvSpPr>
        <p:spPr>
          <a:xfrm>
            <a:off x="8908851" y="3152030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BC82CF-7259-4514-876E-782CA9E49DFB}"/>
              </a:ext>
            </a:extLst>
          </p:cNvPr>
          <p:cNvSpPr txBox="1"/>
          <p:nvPr/>
        </p:nvSpPr>
        <p:spPr>
          <a:xfrm>
            <a:off x="8770739" y="331395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Kế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hoạch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dự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phòng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tuyến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đường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phương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tiện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thay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thế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038897A-4B40-46A5-8FFC-8A12755EE776}"/>
              </a:ext>
            </a:extLst>
          </p:cNvPr>
          <p:cNvSpPr txBox="1"/>
          <p:nvPr/>
        </p:nvSpPr>
        <p:spPr>
          <a:xfrm>
            <a:off x="3719512" y="446648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55E699E-BC60-4409-BCB7-2F43AFC60D95}"/>
              </a:ext>
            </a:extLst>
          </p:cNvPr>
          <p:cNvSpPr txBox="1"/>
          <p:nvPr/>
        </p:nvSpPr>
        <p:spPr>
          <a:xfrm>
            <a:off x="3552825" y="462840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Tiếp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nhận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,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bảo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quản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&amp;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tổ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chức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uống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sữa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chuẩn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số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lượng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lịch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học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C3EBE8B-F467-4711-AD2A-98D665E1BFF9}"/>
              </a:ext>
            </a:extLst>
          </p:cNvPr>
          <p:cNvSpPr txBox="1"/>
          <p:nvPr/>
        </p:nvSpPr>
        <p:spPr>
          <a:xfrm>
            <a:off x="6445448" y="446648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51F000-74EF-49A9-A838-D3A11BE85FD5}"/>
              </a:ext>
            </a:extLst>
          </p:cNvPr>
          <p:cNvSpPr txBox="1"/>
          <p:nvPr/>
        </p:nvSpPr>
        <p:spPr>
          <a:xfrm>
            <a:off x="6278760" y="462840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Sự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cố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hư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hỏng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bao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bì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,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lệch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số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lượng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so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với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sĩ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số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thực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tế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9126019-8929-470E-A2E9-D908C40DBBE0}"/>
              </a:ext>
            </a:extLst>
          </p:cNvPr>
          <p:cNvSpPr txBox="1"/>
          <p:nvPr/>
        </p:nvSpPr>
        <p:spPr>
          <a:xfrm>
            <a:off x="8908851" y="4549973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E9DA0DA-B452-4F37-BC21-3A964912E798}"/>
              </a:ext>
            </a:extLst>
          </p:cNvPr>
          <p:cNvSpPr txBox="1"/>
          <p:nvPr/>
        </p:nvSpPr>
        <p:spPr>
          <a:xfrm>
            <a:off x="8770739" y="4711898"/>
            <a:ext cx="2573535" cy="158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Quy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trình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đổi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trả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xử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lý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sự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cố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nhanh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gọn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ADA9B63-6AC7-4C35-BBA5-19CE6ADDB2B5}"/>
              </a:ext>
            </a:extLst>
          </p:cNvPr>
          <p:cNvSpPr txBox="1"/>
          <p:nvPr/>
        </p:nvSpPr>
        <p:spPr>
          <a:xfrm>
            <a:off x="3719512" y="5780930"/>
            <a:ext cx="2406848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Plus Jakarta Sans"/>
              </a:rPr>
              <a:t>VAI TRÒ &amp; MỐI QUAN TÂM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A90CE0E-B91E-4024-AFAE-D949BCAADABF}"/>
              </a:ext>
            </a:extLst>
          </p:cNvPr>
          <p:cNvSpPr txBox="1"/>
          <p:nvPr/>
        </p:nvSpPr>
        <p:spPr>
          <a:xfrm>
            <a:off x="3552825" y="5942855"/>
            <a:ext cx="2573535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Giám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sát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triển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khai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;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đáp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ứng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tiêu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chuẩn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an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toàn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dinh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dưỡng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3A661EF-E6FD-4880-8FB4-EE4EFCDD1292}"/>
              </a:ext>
            </a:extLst>
          </p:cNvPr>
          <p:cNvSpPr txBox="1"/>
          <p:nvPr/>
        </p:nvSpPr>
        <p:spPr>
          <a:xfrm>
            <a:off x="6445448" y="5780930"/>
            <a:ext cx="2172890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Plus Jakarta Sans"/>
              </a:rPr>
              <a:t>VẤN ĐỀ THƯỜNG GẶP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D8873D-E550-4EB5-8F80-CE557AA807BB}"/>
              </a:ext>
            </a:extLst>
          </p:cNvPr>
          <p:cNvSpPr txBox="1"/>
          <p:nvPr/>
        </p:nvSpPr>
        <p:spPr>
          <a:xfrm>
            <a:off x="6278760" y="5942855"/>
            <a:ext cx="2339578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triển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khai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chưa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đồng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bộ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&amp;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kịp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thời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giữa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các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đợt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D12D9CB-C54C-4F9F-98DB-760C76F61C2E}"/>
              </a:ext>
            </a:extLst>
          </p:cNvPr>
          <p:cNvSpPr txBox="1"/>
          <p:nvPr/>
        </p:nvSpPr>
        <p:spPr>
          <a:xfrm>
            <a:off x="8908851" y="5780930"/>
            <a:ext cx="2435423" cy="123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Plus Jakarta Sans"/>
              </a:rPr>
              <a:t>MONG MUỐN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A4D2949-EDE1-45ED-8A45-EE2B0111867A}"/>
              </a:ext>
            </a:extLst>
          </p:cNvPr>
          <p:cNvSpPr txBox="1"/>
          <p:nvPr/>
        </p:nvSpPr>
        <p:spPr>
          <a:xfrm>
            <a:off x="8770739" y="5942855"/>
            <a:ext cx="2573535" cy="1580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Báo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cáo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định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kỳ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minh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bạch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,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dễ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đối</a:t>
            </a:r>
            <a:r>
              <a:rPr sz="975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975" i="0" u="none" dirty="0" err="1">
                <a:solidFill>
                  <a:srgbClr val="0F172A"/>
                </a:solidFill>
                <a:latin typeface="Plus Jakarta Sans"/>
              </a:rPr>
              <a:t>chiếu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dữ</a:t>
            </a:r>
            <a:r>
              <a:rPr sz="975" i="0" u="none" dirty="0">
                <a:solidFill>
                  <a:srgbClr val="334155"/>
                </a:solidFill>
                <a:latin typeface="Plus Jakarta Sans Medium"/>
              </a:rPr>
              <a:t> </a:t>
            </a:r>
            <a:r>
              <a:rPr sz="975" i="0" u="none" dirty="0" err="1">
                <a:solidFill>
                  <a:srgbClr val="334155"/>
                </a:solidFill>
                <a:latin typeface="Plus Jakarta Sans Medium"/>
              </a:rPr>
              <a:t>liệu</a:t>
            </a:r>
            <a:r>
              <a:rPr sz="975" b="0" i="0" u="none" dirty="0">
                <a:solidFill>
                  <a:srgbClr val="334155"/>
                </a:solidFill>
                <a:latin typeface="Plus Jakarta Sans Medium"/>
              </a:rPr>
              <a:t>.</a:t>
            </a:r>
          </a:p>
        </p:txBody>
      </p:sp>
      <p:pic>
        <p:nvPicPr>
          <p:cNvPr id="108" name="Picture 107" descr="image.png">
            <a:extLst>
              <a:ext uri="{FF2B5EF4-FFF2-40B4-BE49-F238E27FC236}">
                <a16:creationId xmlns:a16="http://schemas.microsoft.com/office/drawing/2014/main" id="{3ED79643-28E4-49B9-851F-3AA2EC5AF3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1847105"/>
            <a:ext cx="109537" cy="104775"/>
          </a:xfrm>
          <a:prstGeom prst="rect">
            <a:avLst/>
          </a:prstGeom>
        </p:spPr>
      </p:pic>
      <p:pic>
        <p:nvPicPr>
          <p:cNvPr id="109" name="Picture 108" descr="image.png">
            <a:extLst>
              <a:ext uri="{FF2B5EF4-FFF2-40B4-BE49-F238E27FC236}">
                <a16:creationId xmlns:a16="http://schemas.microsoft.com/office/drawing/2014/main" id="{2BC72BC0-FB7B-4096-B257-07B69154E9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1847105"/>
            <a:ext cx="109537" cy="104775"/>
          </a:xfrm>
          <a:prstGeom prst="rect">
            <a:avLst/>
          </a:prstGeom>
        </p:spPr>
      </p:pic>
      <p:pic>
        <p:nvPicPr>
          <p:cNvPr id="110" name="Picture 109" descr="image.png">
            <a:extLst>
              <a:ext uri="{FF2B5EF4-FFF2-40B4-BE49-F238E27FC236}">
                <a16:creationId xmlns:a16="http://schemas.microsoft.com/office/drawing/2014/main" id="{ADD6D72C-1723-4F24-ADB1-06A097343C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1847105"/>
            <a:ext cx="80962" cy="104775"/>
          </a:xfrm>
          <a:prstGeom prst="rect">
            <a:avLst/>
          </a:prstGeom>
        </p:spPr>
      </p:pic>
      <p:pic>
        <p:nvPicPr>
          <p:cNvPr id="111" name="Picture 110" descr="image.png">
            <a:extLst>
              <a:ext uri="{FF2B5EF4-FFF2-40B4-BE49-F238E27FC236}">
                <a16:creationId xmlns:a16="http://schemas.microsoft.com/office/drawing/2014/main" id="{680A1094-BF43-4B0E-BAB9-BD16900220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3161555"/>
            <a:ext cx="109537" cy="104775"/>
          </a:xfrm>
          <a:prstGeom prst="rect">
            <a:avLst/>
          </a:prstGeom>
        </p:spPr>
      </p:pic>
      <p:pic>
        <p:nvPicPr>
          <p:cNvPr id="112" name="Picture 111" descr="image.png">
            <a:extLst>
              <a:ext uri="{FF2B5EF4-FFF2-40B4-BE49-F238E27FC236}">
                <a16:creationId xmlns:a16="http://schemas.microsoft.com/office/drawing/2014/main" id="{29616C24-F641-4F4D-8C28-44AC20F6CD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3161555"/>
            <a:ext cx="109537" cy="104775"/>
          </a:xfrm>
          <a:prstGeom prst="rect">
            <a:avLst/>
          </a:prstGeom>
        </p:spPr>
      </p:pic>
      <p:pic>
        <p:nvPicPr>
          <p:cNvPr id="113" name="Picture 112" descr="image.png">
            <a:extLst>
              <a:ext uri="{FF2B5EF4-FFF2-40B4-BE49-F238E27FC236}">
                <a16:creationId xmlns:a16="http://schemas.microsoft.com/office/drawing/2014/main" id="{56F9BC4C-5AED-4140-8744-F86B4A4248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3161555"/>
            <a:ext cx="80962" cy="104775"/>
          </a:xfrm>
          <a:prstGeom prst="rect">
            <a:avLst/>
          </a:prstGeom>
        </p:spPr>
      </p:pic>
      <p:pic>
        <p:nvPicPr>
          <p:cNvPr id="114" name="Picture 113" descr="image.png">
            <a:extLst>
              <a:ext uri="{FF2B5EF4-FFF2-40B4-BE49-F238E27FC236}">
                <a16:creationId xmlns:a16="http://schemas.microsoft.com/office/drawing/2014/main" id="{BAB4D9F6-22F9-4A14-A455-1D623F37EA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2825" y="4476005"/>
            <a:ext cx="109537" cy="104775"/>
          </a:xfrm>
          <a:prstGeom prst="rect">
            <a:avLst/>
          </a:prstGeom>
        </p:spPr>
      </p:pic>
      <p:pic>
        <p:nvPicPr>
          <p:cNvPr id="115" name="Picture 114" descr="image.png">
            <a:extLst>
              <a:ext uri="{FF2B5EF4-FFF2-40B4-BE49-F238E27FC236}">
                <a16:creationId xmlns:a16="http://schemas.microsoft.com/office/drawing/2014/main" id="{B49A0307-6AB7-440E-A509-51CF3157C8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8760" y="4476005"/>
            <a:ext cx="109537" cy="104775"/>
          </a:xfrm>
          <a:prstGeom prst="rect">
            <a:avLst/>
          </a:prstGeom>
        </p:spPr>
      </p:pic>
      <p:pic>
        <p:nvPicPr>
          <p:cNvPr id="116" name="Picture 115" descr="image.png">
            <a:extLst>
              <a:ext uri="{FF2B5EF4-FFF2-40B4-BE49-F238E27FC236}">
                <a16:creationId xmlns:a16="http://schemas.microsoft.com/office/drawing/2014/main" id="{94707392-BB5F-4B4B-92C4-F22E10DEDB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70739" y="4559498"/>
            <a:ext cx="80962" cy="104775"/>
          </a:xfrm>
          <a:prstGeom prst="rect">
            <a:avLst/>
          </a:prstGeom>
        </p:spPr>
      </p:pic>
      <p:pic>
        <p:nvPicPr>
          <p:cNvPr id="117" name="Picture 116" descr="image.png">
            <a:extLst>
              <a:ext uri="{FF2B5EF4-FFF2-40B4-BE49-F238E27FC236}">
                <a16:creationId xmlns:a16="http://schemas.microsoft.com/office/drawing/2014/main" id="{F52516A7-3C07-4E27-9978-2F2DC1988A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5790455"/>
            <a:ext cx="109537" cy="104775"/>
          </a:xfrm>
          <a:prstGeom prst="rect">
            <a:avLst/>
          </a:prstGeom>
        </p:spPr>
      </p:pic>
      <p:pic>
        <p:nvPicPr>
          <p:cNvPr id="118" name="Picture 117" descr="image.png">
            <a:extLst>
              <a:ext uri="{FF2B5EF4-FFF2-40B4-BE49-F238E27FC236}">
                <a16:creationId xmlns:a16="http://schemas.microsoft.com/office/drawing/2014/main" id="{7B8C3E23-0582-4B7F-8BCC-3E5888D778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8760" y="5790455"/>
            <a:ext cx="109537" cy="104775"/>
          </a:xfrm>
          <a:prstGeom prst="rect">
            <a:avLst/>
          </a:prstGeom>
        </p:spPr>
      </p:pic>
      <p:pic>
        <p:nvPicPr>
          <p:cNvPr id="119" name="Picture 118" descr="image.png">
            <a:extLst>
              <a:ext uri="{FF2B5EF4-FFF2-40B4-BE49-F238E27FC236}">
                <a16:creationId xmlns:a16="http://schemas.microsoft.com/office/drawing/2014/main" id="{BA3CC9E3-E95E-4A31-8AC3-98944252DE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0739" y="5790455"/>
            <a:ext cx="80962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F3354-D9F3-67C2-439C-6EB0E8BF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FB83CF-1EBF-15E3-AA44-FF6A59E07E15}"/>
              </a:ext>
            </a:extLst>
          </p:cNvPr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PHÂN TÍCH ĐỊNH TÍNH – QUY TRÌNH TÀI TRỢ VÀ CẤP PHÁT SỮA CHO CHƯƠNG TRÌNH SỮA HỌC ĐƯỜNG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52EDDC-D0C5-D62A-51EE-452E8D52E251}"/>
              </a:ext>
            </a:extLst>
          </p:cNvPr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Fishbone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0CA90B-C096-36F1-C896-1BCB09398AB9}"/>
              </a:ext>
            </a:extLst>
          </p:cNvPr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71026C-4A78-41A2-342D-E8B2DECBAACE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104225-A2A0-49C8-A457-949697616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8" y="1307592"/>
            <a:ext cx="10907425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35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PHÂN TÍCH ĐỊNH </a:t>
            </a:r>
            <a:r>
              <a:rPr lang="vi-VN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ƯỢNG - QUY TRÌNH KHÁM SỨC KHỎE ĐỊNH KỲ HẰNG NĂM 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D06C2A-A485-43C1-9233-D80FEE93B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1912"/>
            <a:ext cx="11207692" cy="45153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định lượng về Thời gian (Time Flow Analysis)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chu kỳ (Cycle Time) thực tế tại cơ sở y tế — dựa trên cổng quyết định “Kết quả sàng lọc?”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2120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1 – Bình thường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tiếp nhận hồ sơ khám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688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9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lâm sàng &amp; cận lâm sàng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(song song, lấy nhánh dài nhất)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889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00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hồ sơ sức khỏe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4663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968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9684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phút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52120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73736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2 – Bất thường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28700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 quy trình khám cơ bản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(như Nhánh 1)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2688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889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định khám chuyên sâu bổ sung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28895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3328416"/>
            <a:ext cx="4663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phút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1124712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 chu kỳ trung bình kỳ vọng (ACT)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120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= (0,85 × 85) + (0,15 × 115)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72,25 + 17,25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20640" y="4800600"/>
            <a:ext cx="0" cy="105156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49240" y="4754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89,5</a:t>
            </a:r>
            <a:endParaRPr lang="en-US" sz="54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5577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 / CBCNV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4800600"/>
            <a:ext cx="0" cy="105156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3880" y="478231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thực thi trực tiếp tại cơ sở y tế trung bình đạt khoảng 89,5 phút, tương đương ~1,5 giờ cho mỗi CBCNV tham gia khám sức khỏe.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Khảo sát chu trình khám sức khỏe CBCNV Vinamilk</a:t>
            </a:r>
            <a:endParaRPr lang="en-US" sz="10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23C0538C-F637-429F-8B76-403550A5738F}"/>
              </a:ext>
            </a:extLst>
          </p:cNvPr>
          <p:cNvSpPr/>
          <p:nvPr/>
        </p:nvSpPr>
        <p:spPr>
          <a:xfrm>
            <a:off x="11433387" y="648072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PHÂN TÍCH ĐỊNH </a:t>
            </a:r>
            <a:r>
              <a:rPr lang="vi-VN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ƯỢNG - QUY TRÌNH THU MUA SỮA TỪ HỘ NÔNG DÂN LIÊN KẾT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5A90A-A6AD-4CAF-98B7-249A81A07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6" y="1651241"/>
            <a:ext cx="10442224" cy="447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42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định lượng về Thời gian (Time Flow Analysis)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chu kỳ (Cycle Time) theo nhánh rẽ “Kết quả kiểm tra khối lượng ghi nhận”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2120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Khớp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chất lượng &amp; cân khối lượng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ngày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24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chuyển về nhà máy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624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ngày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16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nhà máy kiểm tra lại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9169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 ngày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09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&amp; thanh toán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209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ngày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547872"/>
            <a:ext cx="4663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666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6667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2,25 ngày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5212080" cy="288036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73736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0" y="1709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Kịch bản Không khớp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287000" y="170992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kịch bản Khớp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 ngày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624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biên bản, đối chiếu tranh chấp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2624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ngày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766560" y="2962656"/>
            <a:ext cx="4663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3081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3,25 ngày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1124712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 chu kỳ trung bình kỳ vọng (ACT)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120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= (0,9 × 2,25) + (0,1 × 3,25)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2,025 + 0,325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20640" y="4800600"/>
            <a:ext cx="0" cy="105156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49240" y="4754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2,35</a:t>
            </a:r>
            <a:endParaRPr lang="en-US" sz="54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5577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/ lô sữa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4800600"/>
            <a:ext cx="0" cy="105156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4782312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chu kỳ trung bình kỳ vọng cho mỗi lô sữa đạt khoảng 2,35 ngày, chủ yếu do 90% các lô có kết quả khớp số liệu ngay từ đầu.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Khảo sát quy trình thu mua sữa – Vinamilk</a:t>
            </a:r>
            <a:endParaRPr lang="en-US" sz="10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F4E5E6D-904E-45C2-8BD0-C2EC1F210256}"/>
              </a:ext>
            </a:extLst>
          </p:cNvPr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 dirty="0">
                <a:solidFill>
                  <a:srgbClr val="3A8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06.KẾT QUẢ, ĐỀ XUẤT CẢI TIẾN &amp; KẾT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cải tiến trọng tâm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dạng hóa khung giờ &amp; địa điểm khám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tỷ lệ tham gia khám sức khỏe từ 92% lên trên 98%.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898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lộ trình vận chuyển (route optimization)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73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ACT tuyến vùng sâu, vùng xa từ 282,9 xuống dưới 250 phút/lô hàng.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dữ liệu song song theo thời gian thực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3251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thời gian chờ (Hold) giữa các nhánh xử lý song song.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5001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biểu mẫu &amp; kênh xác nhận thông tin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376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hoạt động làm lại (NVA) do dữ liệu đầu vào chưa chuẩn hóa.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3A8DC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F2A9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THEO DÕI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2011680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82840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&amp; Đáp (Q&amp;A)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4727</Words>
  <Application>Microsoft Office PowerPoint</Application>
  <PresentationFormat>Widescreen</PresentationFormat>
  <Paragraphs>565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5" baseType="lpstr">
      <vt:lpstr>Aptos</vt:lpstr>
      <vt:lpstr>Arial</vt:lpstr>
      <vt:lpstr>Calibri</vt:lpstr>
      <vt:lpstr>Cambria</vt:lpstr>
      <vt:lpstr>Inter</vt:lpstr>
      <vt:lpstr>Inter ExtraBold</vt:lpstr>
      <vt:lpstr>Inter Medium</vt:lpstr>
      <vt:lpstr>Inter SemiBold</vt:lpstr>
      <vt:lpstr>Plus Jakarta Sans</vt:lpstr>
      <vt:lpstr>Plus Jakarta Sans ExtraBold</vt:lpstr>
      <vt:lpstr>Plus Jakarta Sans Medium</vt:lpstr>
      <vt:lpstr>Plus Jakarta Sans SemiBold</vt:lpstr>
      <vt:lpstr>Poppins SemiBold</vt:lpstr>
      <vt:lpstr>Roboto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Như Uyên</cp:lastModifiedBy>
  <cp:revision>25</cp:revision>
  <dcterms:created xsi:type="dcterms:W3CDTF">2026-09-07T10:05:07Z</dcterms:created>
  <dcterms:modified xsi:type="dcterms:W3CDTF">2026-09-17T03:04:42Z</dcterms:modified>
</cp:coreProperties>
</file>